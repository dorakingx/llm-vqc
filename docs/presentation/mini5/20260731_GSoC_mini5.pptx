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deliberately narrow. Last week I reported that LLM-proposed circuits beat random search. This week I removed one degree of freedom from the search space and the advantage largely went away, which changes what that earlier result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allowed one to five gates. That hands the proposer a free decision that correlates with performance. This week the length is pinned so the decision cannot be made, and two controls put it back so we can measure what it was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on this slide on purpose. Three or five qubits, seven gate types, exactly five gates, one angle per gate, no optimizer, no classical parameters. A reader can verify any proposed circuit against these seven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RMSE is the typical size of the error, lower is better. The split matters: validation drives the search, and the test set is touched once after the winner is chosen, so the reported number never influenced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is distinct scored circuits because that is what every method spends and what dominates cost. Duplicates and invalid proposals are the proposer's own problem; they do not earn extra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medians. Against the fixed hardware-efficient ansatz every search method wins, decisively. Against random search the LLM wins nothing, and random has the better median on three of four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 kept AUROC even though the request was to use plain RMSE everywhere. On T4 the two metrics disagree about who wins, so reporting only one would have asserted something the data does not settle.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defend hardest. The pilot rewarded a single decision - ask for the maximum number of gates - and the LLM makes that decision almost every time while a uniform sampler does not. Pin the length and the advantage goes; restore the length and shrink the budget to the pilot's and the two meet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keep if I could keep only one. The diagnosis was that the LLM refines well but starts badly, so I gave it a good start. The start improved, the final score improved, and the refinement rate collapsed below random. The 17 percent was never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is that I removed a confound and a positive result mostly went away. That is a useful outcome: it tells us the earlier benchmark was rewarding the wrong thing, and it tells us what a fair test has to control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822960" y="1371600"/>
            <a:ext cx="10515600" cy="155448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Arial" pitchFamily="34" charset="0"/>
                <a:ea typeface="Arial" pitchFamily="34" charset="-122"/>
                <a:cs typeface="Arial" pitchFamily="34" charset="-120"/>
              </a:rPr>
              <a:t>Three ways an LLM looked better than it was</a:t>
            </a:r>
            <a:endParaRPr lang="en-US" sz="4000" dirty="0"/>
          </a:p>
        </p:txBody>
      </p:sp>
      <p:sp>
        <p:nvSpPr>
          <p:cNvPr id="3" name="Text 1"/>
          <p:cNvSpPr/>
          <p:nvPr/>
        </p:nvSpPr>
        <p:spPr>
          <a:xfrm>
            <a:off x="822960" y="3063240"/>
            <a:ext cx="10515600" cy="548640"/>
          </a:xfrm>
          <a:prstGeom prst="rect">
            <a:avLst/>
          </a:prstGeom>
          <a:noFill/>
          <a:ln/>
        </p:spPr>
        <p:txBody>
          <a:bodyPr wrap="square" lIns="0" tIns="0" rIns="0" bIns="0" rtlCol="0" anchor="ctr"/>
          <a:lstStyle/>
          <a:p>
            <a:pPr indent="0" marL="0">
              <a:buNone/>
            </a:pPr>
            <a:r>
              <a:rPr lang="en-US" sz="2000" dirty="0">
                <a:solidFill>
                  <a:srgbClr val="CADCFC"/>
                </a:solidFill>
                <a:latin typeface="Arial" pitchFamily="34" charset="0"/>
                <a:ea typeface="Arial" pitchFamily="34" charset="-122"/>
                <a:cs typeface="Arial" pitchFamily="34" charset="-120"/>
              </a:rPr>
              <a:t>Removing one confound at a time from an LLM-guided quantum circuit search</a:t>
            </a:r>
            <a:endParaRPr lang="en-US" sz="2000" dirty="0"/>
          </a:p>
        </p:txBody>
      </p:sp>
      <p:sp>
        <p:nvSpPr>
          <p:cNvPr id="4" name="Shape 2"/>
          <p:cNvSpPr/>
          <p:nvPr/>
        </p:nvSpPr>
        <p:spPr>
          <a:xfrm>
            <a:off x="822960" y="3886200"/>
            <a:ext cx="10515600" cy="914400"/>
          </a:xfrm>
          <a:prstGeom prst="roundRect">
            <a:avLst>
              <a:gd name="adj" fmla="val 10000"/>
            </a:avLst>
          </a:prstGeom>
          <a:solidFill>
            <a:srgbClr val="FFFFFF">
              <a:alpha val="12000"/>
            </a:srgbClr>
          </a:solidFill>
          <a:ln w="12700">
            <a:solidFill>
              <a:srgbClr val="8FA6C4"/>
            </a:solidFill>
            <a:prstDash val="solid"/>
          </a:ln>
        </p:spPr>
      </p:sp>
      <p:sp>
        <p:nvSpPr>
          <p:cNvPr id="5" name="Text 3"/>
          <p:cNvSpPr/>
          <p:nvPr/>
        </p:nvSpPr>
        <p:spPr>
          <a:xfrm>
            <a:off x="1051560" y="3977640"/>
            <a:ext cx="10058400" cy="731520"/>
          </a:xfrm>
          <a:prstGeom prst="rect">
            <a:avLst/>
          </a:prstGeom>
          <a:noFill/>
          <a:ln/>
        </p:spPr>
        <p:txBody>
          <a:bodyPr wrap="square" lIns="0" tIns="0" rIns="0" bIns="0" rtlCol="0" anchor="ctr"/>
          <a:lstStyle/>
          <a:p>
            <a:pPr indent="0" marL="0">
              <a:buNone/>
            </a:pPr>
            <a:r>
              <a:rPr lang="en-US" sz="1800" b="1" dirty="0">
                <a:solidFill>
                  <a:srgbClr val="FFD9A0"/>
                </a:solidFill>
                <a:latin typeface="Arial" pitchFamily="34" charset="0"/>
                <a:ea typeface="Arial" pitchFamily="34" charset="-122"/>
                <a:cs typeface="Arial" pitchFamily="34" charset="-120"/>
              </a:rPr>
              <a:t>Headline: </a:t>
            </a:r>
            <a:pPr indent="0" marL="0">
              <a:buNone/>
            </a:pPr>
            <a:r>
              <a:rPr lang="en-US" sz="1800" dirty="0">
                <a:solidFill>
                  <a:srgbClr val="FFFFFF"/>
                </a:solidFill>
                <a:latin typeface="Arial" pitchFamily="34" charset="0"/>
                <a:ea typeface="Arial" pitchFamily="34" charset="-122"/>
                <a:cs typeface="Arial" pitchFamily="34" charset="-120"/>
              </a:rPr>
              <a:t>each apparent advantage came from something other than design skill - circuit size, then a bad starting point. The LLM beats a textbook ansatz on all four tasks and never beats random search on any (30 seeds).</a:t>
            </a:r>
            <a:endParaRPr lang="en-US" sz="1800" dirty="0"/>
          </a:p>
        </p:txBody>
      </p:sp>
      <p:sp>
        <p:nvSpPr>
          <p:cNvPr id="6" name="Text 4"/>
          <p:cNvSpPr/>
          <p:nvPr/>
        </p:nvSpPr>
        <p:spPr>
          <a:xfrm>
            <a:off x="822960" y="5394960"/>
            <a:ext cx="731520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Tomoya Hatanaka</a:t>
            </a:r>
            <a:endParaRPr lang="en-US" sz="1800" dirty="0"/>
          </a:p>
        </p:txBody>
      </p:sp>
      <p:sp>
        <p:nvSpPr>
          <p:cNvPr id="7" name="Text 5"/>
          <p:cNvSpPr/>
          <p:nvPr/>
        </p:nvSpPr>
        <p:spPr>
          <a:xfrm>
            <a:off x="822960" y="5715000"/>
            <a:ext cx="7315200" cy="320040"/>
          </a:xfrm>
          <a:prstGeom prst="rect">
            <a:avLst/>
          </a:prstGeom>
          <a:noFill/>
          <a:ln/>
        </p:spPr>
        <p:txBody>
          <a:bodyPr wrap="square" lIns="0" tIns="0" rIns="0" bIns="0" rtlCol="0" anchor="ctr"/>
          <a:lstStyle/>
          <a:p>
            <a:pPr indent="0" marL="0">
              <a:buNone/>
            </a:pPr>
            <a:r>
              <a:rPr lang="en-US" sz="1600" dirty="0">
                <a:solidFill>
                  <a:srgbClr val="CADCFC"/>
                </a:solidFill>
                <a:latin typeface="Arial" pitchFamily="34" charset="0"/>
                <a:ea typeface="Arial" pitchFamily="34" charset="-122"/>
                <a:cs typeface="Arial" pitchFamily="34" charset="-120"/>
              </a:rPr>
              <a:t>ML4SCI / Google Summer of Code 2026</a:t>
            </a:r>
            <a:endParaRPr lang="en-US" sz="1600" dirty="0"/>
          </a:p>
        </p:txBody>
      </p:sp>
      <p:sp>
        <p:nvSpPr>
          <p:cNvPr id="8" name="Text 6"/>
          <p:cNvSpPr/>
          <p:nvPr/>
        </p:nvSpPr>
        <p:spPr>
          <a:xfrm>
            <a:off x="822960" y="6035040"/>
            <a:ext cx="91440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July 31, 2026  ·  commit a01d11a  ·  experiment/bench-v2-real-llm-cost-minimal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CHANGED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Last week the LLM could choose how big the circuit was</a:t>
            </a:r>
            <a:endParaRPr lang="en-US" sz="3000" dirty="0"/>
          </a:p>
        </p:txBody>
      </p:sp>
      <p:pic>
        <p:nvPicPr>
          <p:cNvPr id="4" name="Image 0" descr="/Users/hatanakatomoya/Developer/Sim/llm-vqc/.claude/worktrees/github-author-config-faee6e/docs/presentation/mini5/figures/fig_conditions.png">    </p:cNvPr>
          <p:cNvPicPr>
            <a:picLocks noChangeAspect="1"/>
          </p:cNvPicPr>
          <p:nvPr/>
        </p:nvPicPr>
        <p:blipFill>
          <a:blip r:embed="rId1"/>
          <a:stretch>
            <a:fillRect/>
          </a:stretch>
        </p:blipFill>
        <p:spPr>
          <a:xfrm>
            <a:off x="411480" y="1508760"/>
            <a:ext cx="11384280" cy="3246120"/>
          </a:xfrm>
          <a:prstGeom prst="rect">
            <a:avLst/>
          </a:prstGeom>
        </p:spPr>
      </p:pic>
      <p:sp>
        <p:nvSpPr>
          <p:cNvPr id="5" name="Shape 2"/>
          <p:cNvSpPr/>
          <p:nvPr/>
        </p:nvSpPr>
        <p:spPr>
          <a:xfrm>
            <a:off x="548640" y="4983480"/>
            <a:ext cx="11109960" cy="1051560"/>
          </a:xfrm>
          <a:prstGeom prst="roundRect">
            <a:avLst>
              <a:gd name="adj" fmla="val 8696"/>
            </a:avLst>
          </a:prstGeom>
          <a:solidFill>
            <a:srgbClr val="FDF6E8"/>
          </a:solidFill>
          <a:ln w="15240">
            <a:solidFill>
              <a:srgbClr val="B8860B"/>
            </a:solidFill>
            <a:prstDash val="solid"/>
          </a:ln>
        </p:spPr>
      </p:sp>
      <p:sp>
        <p:nvSpPr>
          <p:cNvPr id="6" name="Text 3"/>
          <p:cNvSpPr/>
          <p:nvPr/>
        </p:nvSpPr>
        <p:spPr>
          <a:xfrm>
            <a:off x="822960" y="5102352"/>
            <a:ext cx="10607040" cy="822960"/>
          </a:xfrm>
          <a:prstGeom prst="rect">
            <a:avLst/>
          </a:prstGeom>
          <a:noFill/>
          <a:ln/>
        </p:spPr>
        <p:txBody>
          <a:bodyPr wrap="square" lIns="0" tIns="0" rIns="0" bIns="0" rtlCol="0" anchor="ctr"/>
          <a:lstStyle/>
          <a:p>
            <a:pPr indent="0" marL="0">
              <a:buNone/>
            </a:pPr>
            <a:r>
              <a:rPr lang="en-US" sz="1800" b="1" dirty="0">
                <a:solidFill>
                  <a:srgbClr val="1A1A2E"/>
                </a:solidFill>
                <a:latin typeface="Arial" pitchFamily="34" charset="0"/>
                <a:ea typeface="Arial" pitchFamily="34" charset="-122"/>
                <a:cs typeface="Arial" pitchFamily="34" charset="-120"/>
              </a:rPr>
              <a:t>Longer circuits usually score better. </a:t>
            </a:r>
            <a:pPr indent="0" marL="0">
              <a:buNone/>
            </a:pPr>
            <a:r>
              <a:rPr lang="en-US" sz="1800" dirty="0">
                <a:solidFill>
                  <a:srgbClr val="1A1A2E"/>
                </a:solidFill>
                <a:latin typeface="Arial" pitchFamily="34" charset="0"/>
                <a:ea typeface="Arial" pitchFamily="34" charset="-122"/>
                <a:cs typeface="Arial" pitchFamily="34" charset="-120"/>
              </a:rPr>
              <a:t>So a proposer that always asks for the maximum length wins without designing anything. Fixing the length takes that move away.</a:t>
            </a:r>
            <a:endParaRPr lang="en-US" sz="1800" dirty="0"/>
          </a:p>
        </p:txBody>
      </p:sp>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seed = one paired data + search random seed; a condition is re-run once per seed. Pilot values verified in its EXPERIMENT_CONFIG.json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SEARCH SPACE</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Every rule, stated so you can check any circuit by eye</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Applies to all three conditions</a:t>
            </a:r>
            <a:pPr algn="r" indent="0" marL="0">
              <a:buNone/>
            </a:pPr>
            <a:r>
              <a:rPr lang="en-US" sz="1150" dirty="0">
                <a:solidFill>
                  <a:srgbClr val="55606E"/>
                </a:solidFill>
                <a:latin typeface="Arial" pitchFamily="34" charset="0"/>
                <a:ea typeface="Arial" pitchFamily="34" charset="-122"/>
                <a:cs typeface="Arial" pitchFamily="34" charset="-120"/>
              </a:rPr>
              <a:t>   only gate count and B differ between them</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09960" cy="914400"/>
        </p:xfrm>
        <a:graphic>
          <a:graphicData uri="http://schemas.openxmlformats.org/drawingml/2006/table">
            <a:tbl>
              <a:tblPr/>
              <a:tblGrid>
                <a:gridCol w="2377440"/>
                <a:gridCol w="8732520"/>
              </a:tblGrid>
              <a:tr h="457200">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Constraint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Value</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solidFill>
                      <a:srgbClr val="1E3A5F"/>
                    </a:solidFill>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Tasks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T1 peak position · T2 sinusoid frequency · T3 change-point location · T4 one peak vs two (binary)</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Qubits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3 for T1, T2   ·   5 for T3, T4   (a circuit on n qubits holds 2^n numbers)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Gate count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5 exactly (PRIMARY)   ·   1 to 5 (both controls)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Gate set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H, RX, RY, RZ (one qubit)   ·   CRX, CRY, CRZ (two qubits)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Angles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one number per gate, anywhere in [-pi, pi]   (H has none)</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Budget B</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8 distinct circuits scored per method (4 in Control B)   ·   10 seeds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Training</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none - proposed angles are used exactly as written</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Encoding / readout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amplitude encoding; measure Z on qubit 0</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r h="457200">
                <a:tc>
                  <a:txBody>
                    <a:bodyPr/>
                    <a:lstStyle/>
                    <a:p>
                      <a:pPr indent="0" marL="0">
                        <a:buNone/>
                      </a:pPr>
                      <a:r>
                        <a:rPr lang="en-US" sz="1500" dirty="0">
                          <a:solidFill>
                            <a:srgbClr val="000000"/>
                          </a:solidFill>
                          <a:latin typeface="Arial" pitchFamily="34" charset="0"/>
                          <a:ea typeface="Arial" pitchFamily="34" charset="-122"/>
                          <a:cs typeface="Arial" pitchFamily="34" charset="-120"/>
                        </a:rPr>
                        <a:t>Classical params</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c>
                  <a:txBody>
                    <a:bodyPr/>
                    <a:lstStyle/>
                    <a:p>
                      <a:pPr indent="0" marL="0">
                        <a:buNone/>
                      </a:pPr>
                      <a:r>
                        <a:rPr lang="en-US" sz="1500" dirty="0">
                          <a:solidFill>
                            <a:srgbClr val="000000"/>
                          </a:solidFill>
                          <a:latin typeface="Arial" pitchFamily="34" charset="0"/>
                          <a:ea typeface="Arial" pitchFamily="34" charset="-122"/>
                          <a:cs typeface="Arial" pitchFamily="34" charset="-120"/>
                        </a:rPr>
                        <a:t>zero - nothing outside the circuit can fix a bad circuit</a:t>
                      </a:r>
                      <a:endParaRPr lang="en-US" sz="1500" dirty="0">
                        <a:latin typeface="Arial" charset="0"/>
                        <a:ea typeface="Arial" charset="0"/>
                        <a:cs typeface="Arial" charset="0"/>
                      </a:endParaRPr>
                    </a:p>
                  </a:txBody>
                  <a:tcPr marL="73152" marR="73152" marT="73152" marB="73152" anchor="ctr">
                    <a:lnL w="9525" cap="flat" cmpd="sng" algn="ctr">
                      <a:solidFill>
                        <a:srgbClr val="D8DDE6"/>
                      </a:solidFill>
                      <a:prstDash val="solid"/>
                      <a:round/>
                      <a:headEnd type="none" w="med" len="med"/>
                      <a:tailEnd type="none" w="med" len="med"/>
                    </a:lnL>
                    <a:lnR w="9525" cap="flat" cmpd="sng" algn="ctr">
                      <a:solidFill>
                        <a:srgbClr val="D8DDE6"/>
                      </a:solidFill>
                      <a:prstDash val="solid"/>
                      <a:round/>
                      <a:headEnd type="none" w="med" len="med"/>
                      <a:tailEnd type="none" w="med" len="med"/>
                    </a:lnR>
                    <a:lnT w="9525" cap="flat" cmpd="sng" algn="ctr">
                      <a:solidFill>
                        <a:srgbClr val="D8DDE6"/>
                      </a:solidFill>
                      <a:prstDash val="solid"/>
                      <a:round/>
                      <a:headEnd type="none" w="med" len="med"/>
                      <a:tailEnd type="none" w="med" len="med"/>
                    </a:lnT>
                    <a:lnB w="9525" cap="flat" cmpd="sng" algn="ctr">
                      <a:solidFill>
                        <a:srgbClr val="D8DDE6"/>
                      </a:solidFill>
                      <a:prstDash val="solid"/>
                      <a:round/>
                      <a:headEnd type="none" w="med" len="med"/>
                      <a:tailEnd type="none" w="med" len="med"/>
                    </a:lnB>
                  </a:tcPr>
                </a:tc>
              </a:tr>
            </a:tbl>
          </a:graphicData>
        </a:graphic>
      </p:graphicFrame>
      <p:sp>
        <p:nvSpPr>
          <p:cNvPr id="7" name="Text 4"/>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One operation = one physical gate; a 5-gate circuit compiles to 5 gates. The same grammar check is applied to classical samplers and LLM replies alike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WHAT IS MEASURED</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One number: RMSE, the typical size of the error</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Applies to all three conditions</a:t>
            </a:r>
            <a:pPr algn="r" indent="0" marL="0">
              <a:buNone/>
            </a:pPr>
            <a:r>
              <a:rPr lang="en-US" sz="1150" dirty="0">
                <a:solidFill>
                  <a:srgbClr val="55606E"/>
                </a:solidFill>
                <a:latin typeface="Arial" pitchFamily="34" charset="0"/>
                <a:ea typeface="Arial" pitchFamily="34" charset="-122"/>
                <a:cs typeface="Arial" pitchFamily="34" charset="-120"/>
              </a:rPr>
              <a:t>   same pipeline throughout</a:t>
            </a:r>
            <a:endParaRPr lang="en-US" sz="1150" dirty="0"/>
          </a:p>
        </p:txBody>
      </p:sp>
      <p:pic>
        <p:nvPicPr>
          <p:cNvPr id="6" name="Image 0" descr="/Users/hatanakatomoya/Developer/Sim/llm-vqc/.claude/worktrees/github-author-config-faee6e/docs/presentation/mini5/figures/fig_contract.png">    </p:cNvPr>
          <p:cNvPicPr>
            <a:picLocks noChangeAspect="1"/>
          </p:cNvPicPr>
          <p:nvPr/>
        </p:nvPicPr>
        <p:blipFill>
          <a:blip r:embed="rId1"/>
          <a:stretch>
            <a:fillRect/>
          </a:stretch>
        </p:blipFill>
        <p:spPr>
          <a:xfrm>
            <a:off x="411480" y="1371600"/>
            <a:ext cx="11384280" cy="2624328"/>
          </a:xfrm>
          <a:prstGeom prst="rect">
            <a:avLst/>
          </a:prstGeom>
        </p:spPr>
      </p:pic>
      <p:sp>
        <p:nvSpPr>
          <p:cNvPr id="7" name="Shape 4"/>
          <p:cNvSpPr/>
          <p:nvPr/>
        </p:nvSpPr>
        <p:spPr>
          <a:xfrm>
            <a:off x="548640" y="4206240"/>
            <a:ext cx="3520440" cy="1600200"/>
          </a:xfrm>
          <a:prstGeom prst="roundRect">
            <a:avLst>
              <a:gd name="adj" fmla="val 5714"/>
            </a:avLst>
          </a:prstGeom>
          <a:solidFill>
            <a:srgbClr val="F4F6FA"/>
          </a:solidFill>
          <a:ln w="19050">
            <a:solidFill>
              <a:srgbClr val="1E3A5F"/>
            </a:solidFill>
            <a:prstDash val="solid"/>
          </a:ln>
        </p:spPr>
      </p:sp>
      <p:sp>
        <p:nvSpPr>
          <p:cNvPr id="8" name="Text 5"/>
          <p:cNvSpPr/>
          <p:nvPr/>
        </p:nvSpPr>
        <p:spPr>
          <a:xfrm>
            <a:off x="777240" y="4315968"/>
            <a:ext cx="3108960" cy="320040"/>
          </a:xfrm>
          <a:prstGeom prst="rect">
            <a:avLst/>
          </a:prstGeom>
          <a:noFill/>
          <a:ln/>
        </p:spPr>
        <p:txBody>
          <a:bodyPr wrap="square" lIns="0" tIns="0" rIns="0" bIns="0" rtlCol="0" anchor="ctr"/>
          <a:lstStyle/>
          <a:p>
            <a:pPr indent="0" marL="0">
              <a:buNone/>
            </a:pPr>
            <a:r>
              <a:rPr lang="en-US" sz="1500" b="1" dirty="0">
                <a:solidFill>
                  <a:srgbClr val="1E3A5F"/>
                </a:solidFill>
                <a:latin typeface="Arial" pitchFamily="34" charset="0"/>
                <a:ea typeface="Arial" pitchFamily="34" charset="-122"/>
                <a:cs typeface="Arial" pitchFamily="34" charset="-120"/>
              </a:rPr>
              <a:t>Validation RMSE</a:t>
            </a:r>
            <a:endParaRPr lang="en-US" sz="1500" dirty="0"/>
          </a:p>
        </p:txBody>
      </p:sp>
      <p:sp>
        <p:nvSpPr>
          <p:cNvPr id="9" name="Text 6"/>
          <p:cNvSpPr/>
          <p:nvPr/>
        </p:nvSpPr>
        <p:spPr>
          <a:xfrm>
            <a:off x="777240" y="4681728"/>
            <a:ext cx="310896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drives the search - each method keeps its own best</a:t>
            </a:r>
            <a:endParaRPr lang="en-US" sz="1350" dirty="0"/>
          </a:p>
        </p:txBody>
      </p:sp>
      <p:sp>
        <p:nvSpPr>
          <p:cNvPr id="10" name="Shape 7"/>
          <p:cNvSpPr/>
          <p:nvPr/>
        </p:nvSpPr>
        <p:spPr>
          <a:xfrm>
            <a:off x="4315968" y="4206240"/>
            <a:ext cx="3520440" cy="1600200"/>
          </a:xfrm>
          <a:prstGeom prst="roundRect">
            <a:avLst>
              <a:gd name="adj" fmla="val 5714"/>
            </a:avLst>
          </a:prstGeom>
          <a:solidFill>
            <a:srgbClr val="F4F6FA"/>
          </a:solidFill>
          <a:ln w="19050">
            <a:solidFill>
              <a:srgbClr val="0B7A4B"/>
            </a:solidFill>
            <a:prstDash val="solid"/>
          </a:ln>
        </p:spPr>
      </p:sp>
      <p:sp>
        <p:nvSpPr>
          <p:cNvPr id="11" name="Text 8"/>
          <p:cNvSpPr/>
          <p:nvPr/>
        </p:nvSpPr>
        <p:spPr>
          <a:xfrm>
            <a:off x="4544568" y="4315968"/>
            <a:ext cx="3108960" cy="320040"/>
          </a:xfrm>
          <a:prstGeom prst="rect">
            <a:avLst/>
          </a:prstGeom>
          <a:noFill/>
          <a:ln/>
        </p:spPr>
        <p:txBody>
          <a:bodyPr wrap="square" lIns="0" tIns="0" rIns="0" bIns="0" rtlCol="0" anchor="ctr"/>
          <a:lstStyle/>
          <a:p>
            <a:pPr indent="0" marL="0">
              <a:buNone/>
            </a:pPr>
            <a:r>
              <a:rPr lang="en-US" sz="1500" b="1" dirty="0">
                <a:solidFill>
                  <a:srgbClr val="0B7A4B"/>
                </a:solidFill>
                <a:latin typeface="Arial" pitchFamily="34" charset="0"/>
                <a:ea typeface="Arial" pitchFamily="34" charset="-122"/>
                <a:cs typeface="Arial" pitchFamily="34" charset="-120"/>
              </a:rPr>
              <a:t>Test RMSE</a:t>
            </a:r>
            <a:endParaRPr lang="en-US" sz="1500" dirty="0"/>
          </a:p>
        </p:txBody>
      </p:sp>
      <p:sp>
        <p:nvSpPr>
          <p:cNvPr id="12" name="Text 9"/>
          <p:cNvSpPr/>
          <p:nvPr/>
        </p:nvSpPr>
        <p:spPr>
          <a:xfrm>
            <a:off x="4544568" y="4681728"/>
            <a:ext cx="310896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reported once, after the choice is frozen. Never used to choose.</a:t>
            </a:r>
            <a:endParaRPr lang="en-US" sz="1350" dirty="0"/>
          </a:p>
        </p:txBody>
      </p:sp>
      <p:sp>
        <p:nvSpPr>
          <p:cNvPr id="13" name="Shape 10"/>
          <p:cNvSpPr/>
          <p:nvPr/>
        </p:nvSpPr>
        <p:spPr>
          <a:xfrm>
            <a:off x="8092440" y="4206240"/>
            <a:ext cx="3520440" cy="1600200"/>
          </a:xfrm>
          <a:prstGeom prst="roundRect">
            <a:avLst>
              <a:gd name="adj" fmla="val 5714"/>
            </a:avLst>
          </a:prstGeom>
          <a:solidFill>
            <a:srgbClr val="F4F6FA"/>
          </a:solidFill>
          <a:ln w="19050">
            <a:solidFill>
              <a:srgbClr val="B3261E"/>
            </a:solidFill>
            <a:prstDash val="solid"/>
          </a:ln>
        </p:spPr>
      </p:sp>
      <p:sp>
        <p:nvSpPr>
          <p:cNvPr id="14" name="Text 11"/>
          <p:cNvSpPr/>
          <p:nvPr/>
        </p:nvSpPr>
        <p:spPr>
          <a:xfrm>
            <a:off x="8321040" y="4315968"/>
            <a:ext cx="3108960" cy="320040"/>
          </a:xfrm>
          <a:prstGeom prst="rect">
            <a:avLst/>
          </a:prstGeom>
          <a:noFill/>
          <a:ln/>
        </p:spPr>
        <p:txBody>
          <a:bodyPr wrap="square" lIns="0" tIns="0" rIns="0" bIns="0" rtlCol="0" anchor="ctr"/>
          <a:lstStyle/>
          <a:p>
            <a:pPr indent="0" marL="0">
              <a:buNone/>
            </a:pPr>
            <a:r>
              <a:rPr lang="en-US" sz="1500" b="1" dirty="0">
                <a:solidFill>
                  <a:srgbClr val="B3261E"/>
                </a:solidFill>
                <a:latin typeface="Arial" pitchFamily="34" charset="0"/>
                <a:ea typeface="Arial" pitchFamily="34" charset="-122"/>
                <a:cs typeface="Arial" pitchFamily="34" charset="-120"/>
              </a:rPr>
              <a:t>T4 is yes/no</a:t>
            </a:r>
            <a:endParaRPr lang="en-US" sz="1500" dirty="0"/>
          </a:p>
        </p:txBody>
      </p:sp>
      <p:sp>
        <p:nvSpPr>
          <p:cNvPr id="15" name="Text 12"/>
          <p:cNvSpPr/>
          <p:nvPr/>
        </p:nvSpPr>
        <p:spPr>
          <a:xfrm>
            <a:off x="8321040" y="4681728"/>
            <a:ext cx="3108960" cy="1005840"/>
          </a:xfrm>
          <a:prstGeom prst="rect">
            <a:avLst/>
          </a:prstGeom>
          <a:noFill/>
          <a:ln/>
        </p:spPr>
        <p:txBody>
          <a:bodyPr wrap="square" lIns="0" tIns="0" rIns="0" bIns="0" rtlCol="0" anchor="t"/>
          <a:lstStyle/>
          <a:p>
            <a:pPr indent="0" marL="0">
              <a:buNone/>
            </a:pPr>
            <a:r>
              <a:rPr lang="en-US" sz="1350" dirty="0">
                <a:solidFill>
                  <a:srgbClr val="1A1A2E"/>
                </a:solidFill>
                <a:latin typeface="Arial" pitchFamily="34" charset="0"/>
                <a:ea typeface="Arial" pitchFamily="34" charset="-122"/>
                <a:cs typeface="Arial" pitchFamily="34" charset="-120"/>
              </a:rPr>
              <a:t>so RMSE there is the error on a 0/1 label. AUROC is shown too - slide 7.</a:t>
            </a:r>
            <a:endParaRPr lang="en-US" sz="1350" dirty="0"/>
          </a:p>
        </p:txBody>
      </p:sp>
      <p:sp>
        <p:nvSpPr>
          <p:cNvPr id="16" name="Text 13"/>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RMSE compares arms WITHIN one task only: the four tasks predict different quantities on different scales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DESIGN</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Five methods, one shared budget</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Applies to all three conditions</a:t>
            </a:r>
            <a:pPr algn="r" indent="0" marL="0">
              <a:buNone/>
            </a:pPr>
            <a:r>
              <a:rPr lang="en-US" sz="1150" dirty="0">
                <a:solidFill>
                  <a:srgbClr val="55606E"/>
                </a:solidFill>
                <a:latin typeface="Arial" pitchFamily="34" charset="0"/>
                <a:ea typeface="Arial" pitchFamily="34" charset="-122"/>
                <a:cs typeface="Arial" pitchFamily="34" charset="-120"/>
              </a:rPr>
              <a:t>   arms are identical throughout</a:t>
            </a:r>
            <a:endParaRPr lang="en-US" sz="1150" dirty="0"/>
          </a:p>
        </p:txBody>
      </p:sp>
      <p:pic>
        <p:nvPicPr>
          <p:cNvPr id="6" name="Image 0" descr="/Users/hatanakatomoya/Developer/Sim/llm-vqc/.claude/worktrees/github-author-config-faee6e/docs/presentation/mini5/figures/fig_arms.png">    </p:cNvPr>
          <p:cNvPicPr>
            <a:picLocks noChangeAspect="1"/>
          </p:cNvPicPr>
          <p:nvPr/>
        </p:nvPicPr>
        <p:blipFill>
          <a:blip r:embed="rId1"/>
          <a:stretch>
            <a:fillRect/>
          </a:stretch>
        </p:blipFill>
        <p:spPr>
          <a:xfrm>
            <a:off x="411480" y="1463040"/>
            <a:ext cx="11384280" cy="2980944"/>
          </a:xfrm>
          <a:prstGeom prst="rect">
            <a:avLst/>
          </a:prstGeom>
        </p:spPr>
      </p:pic>
      <p:sp>
        <p:nvSpPr>
          <p:cNvPr id="7" name="Shape 4"/>
          <p:cNvSpPr/>
          <p:nvPr/>
        </p:nvSpPr>
        <p:spPr>
          <a:xfrm>
            <a:off x="548640" y="4709160"/>
            <a:ext cx="11109960" cy="1280160"/>
          </a:xfrm>
          <a:prstGeom prst="roundRect">
            <a:avLst>
              <a:gd name="adj" fmla="val 7143"/>
            </a:avLst>
          </a:prstGeom>
          <a:solidFill>
            <a:srgbClr val="F4F6FA"/>
          </a:solidFill>
          <a:ln w="12700">
            <a:solidFill>
              <a:srgbClr val="D8DDE6"/>
            </a:solidFill>
            <a:prstDash val="solid"/>
          </a:ln>
        </p:spPr>
      </p:sp>
      <p:sp>
        <p:nvSpPr>
          <p:cNvPr id="8" name="Text 5"/>
          <p:cNvSpPr/>
          <p:nvPr/>
        </p:nvSpPr>
        <p:spPr>
          <a:xfrm>
            <a:off x="822960" y="4828032"/>
            <a:ext cx="10607040" cy="1051560"/>
          </a:xfrm>
          <a:prstGeom prst="rect">
            <a:avLst/>
          </a:prstGeom>
          <a:noFill/>
          <a:ln/>
        </p:spPr>
        <p:txBody>
          <a:bodyPr wrap="square" lIns="0" tIns="0" rIns="0" bIns="0" rtlCol="0" anchor="ctr"/>
          <a:lstStyle/>
          <a:p>
            <a:pPr indent="0" marL="0">
              <a:buNone/>
            </a:pPr>
            <a:r>
              <a:rPr lang="en-US" sz="1700" b="1" dirty="0">
                <a:solidFill>
                  <a:srgbClr val="1E3A5F"/>
                </a:solidFill>
                <a:latin typeface="Arial" pitchFamily="34" charset="0"/>
                <a:ea typeface="Arial" pitchFamily="34" charset="-122"/>
                <a:cs typeface="Arial" pitchFamily="34" charset="-120"/>
              </a:rPr>
              <a:t>Open-loop vs closed-loop: </a:t>
            </a:r>
            <a:pPr indent="0" marL="0">
              <a:buNone/>
            </a:pPr>
            <a:r>
              <a:rPr lang="en-US" sz="1700" dirty="0">
                <a:solidFill>
                  <a:srgbClr val="1A1A2E"/>
                </a:solidFill>
                <a:latin typeface="Arial" pitchFamily="34" charset="0"/>
                <a:ea typeface="Arial" pitchFamily="34" charset="-122"/>
                <a:cs typeface="Arial" pitchFamily="34" charset="-120"/>
              </a:rPr>
              <a:t>open-loop never sees how its own circuits scored; closed-loop does, eight times. That is the only difference between them.</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Greedy growth cannot apply at fixed length, so Greedy here is fixed-length hill climbing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RESULT</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The LLM beats the textbook ansatz, never beats random</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16 gates, 5 qubits, B = 8, 30 seeds</a:t>
            </a:r>
            <a:pPr algn="r" indent="0" marL="0">
              <a:buNone/>
            </a:pPr>
            <a:r>
              <a:rPr lang="en-US" sz="1150" dirty="0">
                <a:solidFill>
                  <a:srgbClr val="55606E"/>
                </a:solidFill>
                <a:latin typeface="Arial" pitchFamily="34" charset="0"/>
                <a:ea typeface="Arial" pitchFamily="34" charset="-122"/>
                <a:cs typeface="Arial" pitchFamily="34" charset="-120"/>
              </a:rPr>
              <a:t>   all four tasks</a:t>
            </a:r>
            <a:endParaRPr lang="en-US" sz="1150" dirty="0"/>
          </a:p>
        </p:txBody>
      </p:sp>
      <p:pic>
        <p:nvPicPr>
          <p:cNvPr id="6" name="Image 0" descr="/Users/hatanakatomoya/Developer/Sim/llm-vqc/.claude/worktrees/github-author-config-faee6e/docs/presentation/mini5/figures/fig_v2_main.png">    </p:cNvPr>
          <p:cNvPicPr>
            <a:picLocks noChangeAspect="1"/>
          </p:cNvPicPr>
          <p:nvPr/>
        </p:nvPicPr>
        <p:blipFill>
          <a:blip r:embed="rId1"/>
          <a:stretch>
            <a:fillRect/>
          </a:stretch>
        </p:blipFill>
        <p:spPr>
          <a:xfrm>
            <a:off x="274320" y="1371600"/>
            <a:ext cx="11658600" cy="3337560"/>
          </a:xfrm>
          <a:prstGeom prst="rect">
            <a:avLst/>
          </a:prstGeom>
        </p:spPr>
      </p:pic>
      <p:sp>
        <p:nvSpPr>
          <p:cNvPr id="7" name="Shape 4"/>
          <p:cNvSpPr/>
          <p:nvPr/>
        </p:nvSpPr>
        <p:spPr>
          <a:xfrm>
            <a:off x="548640" y="5029200"/>
            <a:ext cx="11109960" cy="1051560"/>
          </a:xfrm>
          <a:prstGeom prst="roundRect">
            <a:avLst>
              <a:gd name="adj" fmla="val 6957"/>
            </a:avLst>
          </a:prstGeom>
          <a:solidFill>
            <a:srgbClr val="F4F6FA"/>
          </a:solidFill>
          <a:ln w="12700">
            <a:solidFill>
              <a:srgbClr val="D8DDE6"/>
            </a:solidFill>
            <a:prstDash val="solid"/>
          </a:ln>
        </p:spPr>
      </p:sp>
      <p:sp>
        <p:nvSpPr>
          <p:cNvPr id="8" name="Text 5"/>
          <p:cNvSpPr/>
          <p:nvPr/>
        </p:nvSpPr>
        <p:spPr>
          <a:xfrm>
            <a:off x="777240" y="5138928"/>
            <a:ext cx="10607040" cy="822960"/>
          </a:xfrm>
          <a:prstGeom prst="rect">
            <a:avLst/>
          </a:prstGeom>
          <a:noFill/>
          <a:ln/>
        </p:spPr>
        <p:txBody>
          <a:bodyPr wrap="square" lIns="0" tIns="0" rIns="0" bIns="0" rtlCol="0" anchor="ctr"/>
          <a:lstStyle/>
          <a:p>
            <a:pPr indent="0" marL="0">
              <a:buNone/>
            </a:pPr>
            <a:r>
              <a:rPr lang="en-US" sz="1650" b="1" dirty="0">
                <a:solidFill>
                  <a:srgbClr val="0B7A4B"/>
                </a:solidFill>
                <a:latin typeface="Arial" pitchFamily="34" charset="0"/>
                <a:ea typeface="Arial" pitchFamily="34" charset="-122"/>
                <a:cs typeface="Arial" pitchFamily="34" charset="-120"/>
              </a:rPr>
              <a:t>vs the fixed ansatz: significant on all 4 tasks. </a:t>
            </a:r>
            <a:pPr indent="0" marL="0">
              <a:buNone/>
            </a:pPr>
            <a:r>
              <a:rPr lang="en-US" sz="1650" b="1" dirty="0">
                <a:solidFill>
                  <a:srgbClr val="B3261E"/>
                </a:solidFill>
                <a:latin typeface="Arial" pitchFamily="34" charset="0"/>
                <a:ea typeface="Arial" pitchFamily="34" charset="-122"/>
                <a:cs typeface="Arial" pitchFamily="34" charset="-120"/>
              </a:rPr>
              <a:t>  vs random: no difference detected on any. </a:t>
            </a:r>
            <a:pPr indent="0" marL="0">
              <a:buNone/>
            </a:pPr>
            <a:r>
              <a:rPr lang="en-US" sz="1650" dirty="0">
                <a:solidFill>
                  <a:srgbClr val="1A1A2E"/>
                </a:solidFill>
                <a:latin typeface="Arial" pitchFamily="34" charset="0"/>
                <a:ea typeface="Arial" pitchFamily="34" charset="-122"/>
                <a:cs typeface="Arial" pitchFamily="34" charset="-120"/>
              </a:rPr>
              <a:t>Random holds the better median on T2, T3 and T4 (T3 0.180 vs 0.212); the LLM leads only on T1 (0.110 vs 0.119), and not significantly.</a:t>
            </a:r>
            <a:endParaRPr lang="en-US" sz="165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Wilcoxon signed-rank on 30 paired seeds; Holm over the 12 pre-declared primary contrasts · data/ctx_analysis.json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METRIC CHECK</a:t>
            </a:r>
            <a:endParaRPr lang="en-US" sz="1300" dirty="0"/>
          </a:p>
        </p:txBody>
      </p:sp>
      <p:sp>
        <p:nvSpPr>
          <p:cNvPr id="3" name="Text 1"/>
          <p:cNvSpPr/>
          <p:nvPr/>
        </p:nvSpPr>
        <p:spPr>
          <a:xfrm>
            <a:off x="502920" y="548640"/>
            <a:ext cx="11185855" cy="658368"/>
          </a:xfrm>
          <a:prstGeom prst="rect">
            <a:avLst/>
          </a:prstGeom>
          <a:noFill/>
          <a:ln/>
        </p:spPr>
        <p:txBody>
          <a:bodyPr wrap="square" lIns="0" tIns="0" rIns="0" bIns="0" rtlCol="0" anchor="ctr"/>
          <a:lstStyle/>
          <a:p>
            <a:pPr indent="0" marL="0">
              <a:buNone/>
            </a:pPr>
            <a:r>
              <a:rPr lang="en-US" sz="3000" b="1" dirty="0">
                <a:solidFill>
                  <a:srgbClr val="1E3A5F"/>
                </a:solidFill>
                <a:latin typeface="Arial" pitchFamily="34" charset="0"/>
                <a:ea typeface="Arial" pitchFamily="34" charset="-122"/>
                <a:cs typeface="Arial" pitchFamily="34" charset="-120"/>
              </a:rPr>
              <a:t>On T4 the metric, not the method, picks the winner</a:t>
            </a:r>
            <a:endParaRPr lang="en-US" sz="30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PRIMARY: exactly 5 gates, B = 8, 10 seeds</a:t>
            </a:r>
            <a:pPr algn="r" indent="0" marL="0">
              <a:buNone/>
            </a:pPr>
            <a:r>
              <a:rPr lang="en-US" sz="1150" dirty="0">
                <a:solidFill>
                  <a:srgbClr val="55606E"/>
                </a:solidFill>
                <a:latin typeface="Arial" pitchFamily="34" charset="0"/>
                <a:ea typeface="Arial" pitchFamily="34" charset="-122"/>
                <a:cs typeface="Arial" pitchFamily="34" charset="-120"/>
              </a:rPr>
              <a:t>   T4 only (peak count, 5 qubits)</a:t>
            </a:r>
            <a:endParaRPr lang="en-US" sz="1150" dirty="0"/>
          </a:p>
        </p:txBody>
      </p:sp>
      <p:pic>
        <p:nvPicPr>
          <p:cNvPr id="6" name="Image 0" descr="/Users/hatanakatomoya/Developer/Sim/llm-vqc/.claude/worktrees/github-author-config-faee6e/docs/presentation/mini5/figures/fig_t4_check.png">    </p:cNvPr>
          <p:cNvPicPr>
            <a:picLocks noChangeAspect="1"/>
          </p:cNvPicPr>
          <p:nvPr/>
        </p:nvPicPr>
        <p:blipFill>
          <a:blip r:embed="rId1"/>
          <a:stretch>
            <a:fillRect/>
          </a:stretch>
        </p:blipFill>
        <p:spPr>
          <a:xfrm>
            <a:off x="731520" y="1417320"/>
            <a:ext cx="6675120" cy="3017520"/>
          </a:xfrm>
          <a:prstGeom prst="rect">
            <a:avLst/>
          </a:prstGeom>
        </p:spPr>
      </p:pic>
      <p:sp>
        <p:nvSpPr>
          <p:cNvPr id="7" name="Text 4"/>
          <p:cNvSpPr/>
          <p:nvPr/>
        </p:nvSpPr>
        <p:spPr>
          <a:xfrm>
            <a:off x="7680960" y="1600200"/>
            <a:ext cx="4023360" cy="2926080"/>
          </a:xfrm>
          <a:prstGeom prst="rect">
            <a:avLst/>
          </a:prstGeom>
          <a:noFill/>
          <a:ln/>
        </p:spPr>
        <p:txBody>
          <a:bodyPr wrap="square" lIns="0" tIns="0" rIns="0" bIns="0" rtlCol="0" anchor="t"/>
          <a:lstStyle/>
          <a:p>
            <a:pPr indent="0" marL="0">
              <a:buNone/>
            </a:pPr>
            <a:r>
              <a:rPr lang="en-US" sz="1700" b="1" dirty="0">
                <a:solidFill>
                  <a:srgbClr val="1E3A5F"/>
                </a:solidFill>
                <a:latin typeface="Arial" pitchFamily="34" charset="0"/>
                <a:ea typeface="Arial" pitchFamily="34" charset="-122"/>
                <a:cs typeface="Arial" pitchFamily="34" charset="-120"/>
              </a:rPr>
              <a:t>AUROC
</a:t>
            </a:r>
            <a:pPr indent="0" marL="0">
              <a:buNone/>
            </a:pPr>
            <a:r>
              <a:rPr lang="en-US" sz="1500" dirty="0">
                <a:solidFill>
                  <a:srgbClr val="1A1A2E"/>
                </a:solidFill>
                <a:latin typeface="Arial" pitchFamily="34" charset="0"/>
                <a:ea typeface="Arial" pitchFamily="34" charset="-122"/>
                <a:cs typeface="Arial" pitchFamily="34" charset="-120"/>
              </a:rPr>
              <a:t>= how often the model ranks a two-peak signal above a one-peak one. 1.0 perfect, 0.5 coin flip.
</a:t>
            </a:r>
            <a:pPr indent="0" marL="0">
              <a:buNone/>
            </a:pPr>
            <a:r>
              <a:rPr lang="en-US" sz="1700" b="1" dirty="0">
                <a:solidFill>
                  <a:srgbClr val="1E3A5F"/>
                </a:solidFill>
                <a:latin typeface="Arial" pitchFamily="34" charset="0"/>
                <a:ea typeface="Arial" pitchFamily="34" charset="-122"/>
                <a:cs typeface="Arial" pitchFamily="34" charset="-120"/>
              </a:rPr>
              <a:t>Why they disagree
</a:t>
            </a:r>
            <a:pPr indent="0" marL="0">
              <a:buNone/>
            </a:pPr>
            <a:r>
              <a:rPr lang="en-US" sz="1500" dirty="0">
                <a:solidFill>
                  <a:srgbClr val="1A1A2E"/>
                </a:solidFill>
                <a:latin typeface="Arial" pitchFamily="34" charset="0"/>
                <a:ea typeface="Arial" pitchFamily="34" charset="-122"/>
                <a:cs typeface="Arial" pitchFamily="34" charset="-120"/>
              </a:rPr>
              <a:t>RMSE also punishes outputting 0.45 / 0.55 instead of 0 / 1. AUROC only cares about the order.</a:t>
            </a:r>
            <a:endParaRPr lang="en-US" sz="1700" dirty="0"/>
          </a:p>
        </p:txBody>
      </p:sp>
      <p:sp>
        <p:nvSpPr>
          <p:cNvPr id="8" name="Shape 5"/>
          <p:cNvSpPr/>
          <p:nvPr/>
        </p:nvSpPr>
        <p:spPr>
          <a:xfrm>
            <a:off x="548640" y="4754880"/>
            <a:ext cx="11109960" cy="1280160"/>
          </a:xfrm>
          <a:prstGeom prst="roundRect">
            <a:avLst>
              <a:gd name="adj" fmla="val 7143"/>
            </a:avLst>
          </a:prstGeom>
          <a:solidFill>
            <a:srgbClr val="FDF6E8"/>
          </a:solidFill>
          <a:ln w="15240">
            <a:solidFill>
              <a:srgbClr val="B8860B"/>
            </a:solidFill>
            <a:prstDash val="solid"/>
          </a:ln>
        </p:spPr>
      </p:sp>
      <p:sp>
        <p:nvSpPr>
          <p:cNvPr id="9" name="Text 6"/>
          <p:cNvSpPr/>
          <p:nvPr/>
        </p:nvSpPr>
        <p:spPr>
          <a:xfrm>
            <a:off x="777240" y="4864608"/>
            <a:ext cx="10607040" cy="109728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Neither reading is strong: </a:t>
            </a:r>
            <a:pPr indent="0" marL="0">
              <a:buNone/>
            </a:pPr>
            <a:r>
              <a:rPr lang="en-US" sz="1700" dirty="0">
                <a:solidFill>
                  <a:srgbClr val="1A1A2E"/>
                </a:solidFill>
                <a:latin typeface="Arial" pitchFamily="34" charset="0"/>
                <a:ea typeface="Arial" pitchFamily="34" charset="-122"/>
                <a:cs typeface="Arial" pitchFamily="34" charset="-120"/>
              </a:rPr>
              <a:t>AUROC spans 0.59 to 0.62 against 0.5 for chance. Five gates without training barely solve T4 at all.</a:t>
            </a:r>
            <a:endParaRPr lang="en-US" sz="1700" dirty="0"/>
          </a:p>
        </p:txBody>
      </p:sp>
      <p:sp>
        <p:nvSpPr>
          <p:cNvPr id="10" name="Text 7"/>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AUROC computed from the identical predictions used for the RMSE, on the same single test evaluation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ATTRIBUTION</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Last week's advantage was a size decision, not a design one</a:t>
            </a:r>
            <a:endParaRPr lang="en-US" sz="24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ALL THREE CONDITIONS side by side</a:t>
            </a:r>
            <a:pPr algn="r" indent="0" marL="0">
              <a:buNone/>
            </a:pPr>
            <a:r>
              <a:rPr lang="en-US" sz="1150" dirty="0">
                <a:solidFill>
                  <a:srgbClr val="55606E"/>
                </a:solidFill>
                <a:latin typeface="Arial" pitchFamily="34" charset="0"/>
                <a:ea typeface="Arial" pitchFamily="34" charset="-122"/>
                <a:cs typeface="Arial" pitchFamily="34" charset="-120"/>
              </a:rPr>
              <a:t>   T1 only (Gaussian peak, 3 qubits)</a:t>
            </a:r>
            <a:endParaRPr lang="en-US" sz="1150" dirty="0"/>
          </a:p>
        </p:txBody>
      </p:sp>
      <p:pic>
        <p:nvPicPr>
          <p:cNvPr id="6" name="Image 0" descr="/Users/hatanakatomoya/Developer/Sim/llm-vqc/.claude/worktrees/github-author-config-faee6e/docs/presentation/mini5/figures/fig_size_confound.png">    </p:cNvPr>
          <p:cNvPicPr>
            <a:picLocks noChangeAspect="1"/>
          </p:cNvPicPr>
          <p:nvPr/>
        </p:nvPicPr>
        <p:blipFill>
          <a:blip r:embed="rId1"/>
          <a:stretch>
            <a:fillRect/>
          </a:stretch>
        </p:blipFill>
        <p:spPr>
          <a:xfrm>
            <a:off x="274320" y="1371600"/>
            <a:ext cx="11658600" cy="3474720"/>
          </a:xfrm>
          <a:prstGeom prst="rect">
            <a:avLst/>
          </a:prstGeom>
        </p:spPr>
      </p:pic>
      <p:sp>
        <p:nvSpPr>
          <p:cNvPr id="7" name="Shape 4"/>
          <p:cNvSpPr/>
          <p:nvPr/>
        </p:nvSpPr>
        <p:spPr>
          <a:xfrm>
            <a:off x="548640" y="5074920"/>
            <a:ext cx="11109960" cy="1097280"/>
          </a:xfrm>
          <a:prstGeom prst="roundRect">
            <a:avLst>
              <a:gd name="adj" fmla="val 6667"/>
            </a:avLst>
          </a:prstGeom>
          <a:solidFill>
            <a:srgbClr val="F4F6FA"/>
          </a:solidFill>
          <a:ln w="12700">
            <a:solidFill>
              <a:srgbClr val="D8DDE6"/>
            </a:solidFill>
            <a:prstDash val="solid"/>
          </a:ln>
        </p:spPr>
      </p:sp>
      <p:sp>
        <p:nvSpPr>
          <p:cNvPr id="8" name="Text 5"/>
          <p:cNvSpPr/>
          <p:nvPr/>
        </p:nvSpPr>
        <p:spPr>
          <a:xfrm>
            <a:off x="777240" y="5166360"/>
            <a:ext cx="10607040" cy="914400"/>
          </a:xfrm>
          <a:prstGeom prst="rect">
            <a:avLst/>
          </a:prstGeom>
          <a:noFill/>
          <a:ln/>
        </p:spPr>
        <p:txBody>
          <a:bodyPr wrap="square" lIns="0" tIns="0" rIns="0" bIns="0" rtlCol="0" anchor="ctr"/>
          <a:lstStyle/>
          <a:p>
            <a:pPr indent="0" marL="0">
              <a:buNone/>
            </a:pPr>
            <a:r>
              <a:rPr lang="en-US" sz="1700" b="1" dirty="0">
                <a:solidFill>
                  <a:srgbClr val="1A1A2E"/>
                </a:solidFill>
                <a:latin typeface="Arial" pitchFamily="34" charset="0"/>
                <a:ea typeface="Arial" pitchFamily="34" charset="-122"/>
                <a:cs typeface="Arial" pitchFamily="34" charset="-120"/>
              </a:rPr>
              <a:t>Free the length and only Random gets worse </a:t>
            </a:r>
            <a:pPr indent="0" marL="0">
              <a:buNone/>
            </a:pPr>
            <a:r>
              <a:rPr lang="en-US" sz="1700" dirty="0">
                <a:solidFill>
                  <a:srgbClr val="1A1A2E"/>
                </a:solidFill>
                <a:latin typeface="Arial" pitchFamily="34" charset="0"/>
                <a:ea typeface="Arial" pitchFamily="34" charset="-122"/>
                <a:cs typeface="Arial" pitchFamily="34" charset="-120"/>
              </a:rPr>
              <a:t>(0.139 → 0.167); the LLM does not move (0.170 → 0.170), because it was already asking for 5. At the pilot's setting they meet.</a:t>
            </a:r>
            <a:endParaRPr lang="en-US" sz="17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All three conditions ran all four tasks with 10 seeds; T1 is shown here because it is the family the pilot used · data/condition_comparison.json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85855" cy="274320"/>
          </a:xfrm>
          <a:prstGeom prst="rect">
            <a:avLst/>
          </a:prstGeom>
          <a:noFill/>
          <a:ln/>
        </p:spPr>
        <p:txBody>
          <a:bodyPr wrap="square" lIns="0" tIns="0" rIns="0" bIns="0" rtlCol="0" anchor="ctr"/>
          <a:lstStyle/>
          <a:p>
            <a:pPr indent="0" marL="0">
              <a:buNone/>
            </a:pPr>
            <a:r>
              <a:rPr lang="en-US" sz="1300" b="1" spc="150" kern="0" dirty="0">
                <a:solidFill>
                  <a:srgbClr val="B3261E"/>
                </a:solidFill>
                <a:latin typeface="Arial" pitchFamily="34" charset="0"/>
                <a:ea typeface="Arial" pitchFamily="34" charset="-122"/>
                <a:cs typeface="Arial" pitchFamily="34" charset="-120"/>
              </a:rPr>
              <a:t>A HYPOTHESIS, TESTED AND REFUTED</a:t>
            </a:r>
            <a:endParaRPr lang="en-US" sz="1300" dirty="0"/>
          </a:p>
        </p:txBody>
      </p:sp>
      <p:sp>
        <p:nvSpPr>
          <p:cNvPr id="3" name="Text 1"/>
          <p:cNvSpPr/>
          <p:nvPr/>
        </p:nvSpPr>
        <p:spPr>
          <a:xfrm>
            <a:off x="502920" y="548640"/>
            <a:ext cx="11185855" cy="822960"/>
          </a:xfrm>
          <a:prstGeom prst="rect">
            <a:avLst/>
          </a:prstGeom>
          <a:noFill/>
          <a:ln/>
        </p:spPr>
        <p:txBody>
          <a:bodyPr wrap="square" lIns="0" tIns="0" rIns="0" bIns="0" rtlCol="0" anchor="ctr"/>
          <a:lstStyle/>
          <a:p>
            <a:pPr indent="0" marL="0">
              <a:buNone/>
            </a:pPr>
            <a:r>
              <a:rPr lang="en-US" sz="2400" b="1" dirty="0">
                <a:solidFill>
                  <a:srgbClr val="1E3A5F"/>
                </a:solidFill>
                <a:latin typeface="Arial" pitchFamily="34" charset="0"/>
                <a:ea typeface="Arial" pitchFamily="34" charset="-122"/>
                <a:cs typeface="Arial" pitchFamily="34" charset="-120"/>
              </a:rPr>
              <a:t>The LLM's "refinement skill" was the room a bad start leaves</a:t>
            </a:r>
            <a:endParaRPr lang="en-US" sz="2400" dirty="0"/>
          </a:p>
        </p:txBody>
      </p:sp>
      <p:sp>
        <p:nvSpPr>
          <p:cNvPr id="4" name="Shape 2"/>
          <p:cNvSpPr/>
          <p:nvPr/>
        </p:nvSpPr>
        <p:spPr>
          <a:xfrm>
            <a:off x="5699455" y="256032"/>
            <a:ext cx="5989320" cy="402336"/>
          </a:xfrm>
          <a:prstGeom prst="roundRect">
            <a:avLst>
              <a:gd name="adj" fmla="val 15909"/>
            </a:avLst>
          </a:prstGeom>
          <a:solidFill>
            <a:srgbClr val="F4F6FA"/>
          </a:solidFill>
          <a:ln w="12700">
            <a:solidFill>
              <a:srgbClr val="D8DDE6"/>
            </a:solidFill>
            <a:prstDash val="solid"/>
          </a:ln>
        </p:spPr>
      </p:sp>
      <p:sp>
        <p:nvSpPr>
          <p:cNvPr id="5" name="Text 3"/>
          <p:cNvSpPr/>
          <p:nvPr/>
        </p:nvSpPr>
        <p:spPr>
          <a:xfrm>
            <a:off x="5836615" y="274320"/>
            <a:ext cx="5715000" cy="365760"/>
          </a:xfrm>
          <a:prstGeom prst="rect">
            <a:avLst/>
          </a:prstGeom>
          <a:noFill/>
          <a:ln/>
        </p:spPr>
        <p:txBody>
          <a:bodyPr wrap="square" lIns="0" tIns="0" rIns="0" bIns="0" rtlCol="0" anchor="ctr"/>
          <a:lstStyle/>
          <a:p>
            <a:pPr algn="r" indent="0" marL="0">
              <a:buNone/>
            </a:pPr>
            <a:r>
              <a:rPr lang="en-US" sz="1150" b="1" dirty="0">
                <a:solidFill>
                  <a:srgbClr val="1E3A5F"/>
                </a:solidFill>
                <a:latin typeface="Arial" pitchFamily="34" charset="0"/>
                <a:ea typeface="Arial" pitchFamily="34" charset="-122"/>
                <a:cs typeface="Arial" pitchFamily="34" charset="-120"/>
              </a:rPr>
              <a:t>16 gates, B = 8, 30 seeds</a:t>
            </a:r>
            <a:pPr algn="r" indent="0" marL="0">
              <a:buNone/>
            </a:pPr>
            <a:r>
              <a:rPr lang="en-US" sz="1150" dirty="0">
                <a:solidFill>
                  <a:srgbClr val="55606E"/>
                </a:solidFill>
                <a:latin typeface="Arial" pitchFamily="34" charset="0"/>
                <a:ea typeface="Arial" pitchFamily="34" charset="-122"/>
                <a:cs typeface="Arial" pitchFamily="34" charset="-120"/>
              </a:rPr>
              <a:t>   median over all four tasks</a:t>
            </a:r>
            <a:endParaRPr lang="en-US" sz="1150" dirty="0"/>
          </a:p>
        </p:txBody>
      </p:sp>
      <p:pic>
        <p:nvPicPr>
          <p:cNvPr id="6" name="Image 0" descr="/Users/hatanakatomoya/Developer/Sim/llm-vqc/.claude/worktrees/github-author-config-faee6e/docs/presentation/mini5/figures/fig_v2_mechanism.png">    </p:cNvPr>
          <p:cNvPicPr>
            <a:picLocks noChangeAspect="1"/>
          </p:cNvPicPr>
          <p:nvPr/>
        </p:nvPicPr>
        <p:blipFill>
          <a:blip r:embed="rId1"/>
          <a:stretch>
            <a:fillRect/>
          </a:stretch>
        </p:blipFill>
        <p:spPr>
          <a:xfrm>
            <a:off x="685800" y="1417320"/>
            <a:ext cx="10789920" cy="3931920"/>
          </a:xfrm>
          <a:prstGeom prst="rect">
            <a:avLst/>
          </a:prstGeom>
        </p:spPr>
      </p:pic>
      <p:sp>
        <p:nvSpPr>
          <p:cNvPr id="7" name="Shape 4"/>
          <p:cNvSpPr/>
          <p:nvPr/>
        </p:nvSpPr>
        <p:spPr>
          <a:xfrm>
            <a:off x="548640" y="5486400"/>
            <a:ext cx="11109960" cy="841248"/>
          </a:xfrm>
          <a:prstGeom prst="roundRect">
            <a:avLst>
              <a:gd name="adj" fmla="val 8696"/>
            </a:avLst>
          </a:prstGeom>
          <a:solidFill>
            <a:srgbClr val="FDF6E8"/>
          </a:solidFill>
          <a:ln w="13970">
            <a:solidFill>
              <a:srgbClr val="B8860B"/>
            </a:solidFill>
            <a:prstDash val="solid"/>
          </a:ln>
        </p:spPr>
      </p:sp>
      <p:sp>
        <p:nvSpPr>
          <p:cNvPr id="8" name="Text 5"/>
          <p:cNvSpPr/>
          <p:nvPr/>
        </p:nvSpPr>
        <p:spPr>
          <a:xfrm>
            <a:off x="777240" y="5577840"/>
            <a:ext cx="10607040" cy="685800"/>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I built the hybrid arm expecting it to win. </a:t>
            </a:r>
            <a:pPr indent="0" marL="0">
              <a:buNone/>
            </a:pPr>
            <a:r>
              <a:rPr lang="en-US" sz="1600" dirty="0">
                <a:solidFill>
                  <a:srgbClr val="1A1A2E"/>
                </a:solidFill>
                <a:latin typeface="Arial" pitchFamily="34" charset="0"/>
                <a:ea typeface="Arial" pitchFamily="34" charset="-122"/>
                <a:cs typeface="Arial" pitchFamily="34" charset="-120"/>
              </a:rPr>
              <a:t>It reached the best final score of any arm and still could not beat random - because the ability it was built to exploit was not there.</a:t>
            </a:r>
            <a:endParaRPr lang="en-US" sz="1600" dirty="0"/>
          </a:p>
        </p:txBody>
      </p:sp>
      <p:sp>
        <p:nvSpPr>
          <p:cNvPr id="9" name="Text 6"/>
          <p:cNvSpPr/>
          <p:nvPr/>
        </p:nvSpPr>
        <p:spPr>
          <a:xfrm>
            <a:off x="502920" y="6473952"/>
            <a:ext cx="11185855" cy="274320"/>
          </a:xfrm>
          <a:prstGeom prst="rect">
            <a:avLst/>
          </a:prstGeom>
          <a:noFill/>
          <a:ln/>
        </p:spPr>
        <p:txBody>
          <a:bodyPr wrap="square" lIns="0" tIns="0" rIns="0" bIns="0" rtlCol="0" anchor="ctr"/>
          <a:lstStyle/>
          <a:p>
            <a:pPr indent="0" marL="0">
              <a:buNone/>
            </a:pPr>
            <a:r>
              <a:rPr lang="en-US" sz="1100" dirty="0">
                <a:solidFill>
                  <a:srgbClr val="55606E"/>
                </a:solidFill>
                <a:latin typeface="Arial" pitchFamily="34" charset="0"/>
                <a:ea typeface="Arial" pitchFamily="34" charset="-122"/>
                <a:cs typeface="Arial" pitchFamily="34" charset="-120"/>
              </a:rPr>
              <a:t>Hybrid = random draws candidates 1-2, the LLM proposes 3-8 having seen their validation scores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I can and cannot claim</a:t>
            </a:r>
            <a:endParaRPr lang="en-US" sz="3000" dirty="0"/>
          </a:p>
        </p:txBody>
      </p:sp>
      <p:sp>
        <p:nvSpPr>
          <p:cNvPr id="3" name="Shape 1"/>
          <p:cNvSpPr/>
          <p:nvPr/>
        </p:nvSpPr>
        <p:spPr>
          <a:xfrm>
            <a:off x="64008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4" name="Text 2"/>
          <p:cNvSpPr/>
          <p:nvPr/>
        </p:nvSpPr>
        <p:spPr>
          <a:xfrm>
            <a:off x="868680" y="1298448"/>
            <a:ext cx="4937760" cy="365760"/>
          </a:xfrm>
          <a:prstGeom prst="rect">
            <a:avLst/>
          </a:prstGeom>
          <a:noFill/>
          <a:ln/>
        </p:spPr>
        <p:txBody>
          <a:bodyPr wrap="square" lIns="0" tIns="0" rIns="0" bIns="0" rtlCol="0" anchor="ctr"/>
          <a:lstStyle/>
          <a:p>
            <a:pPr indent="0" marL="0">
              <a:buNone/>
            </a:pPr>
            <a:r>
              <a:rPr lang="en-US" sz="1700" b="1" dirty="0">
                <a:solidFill>
                  <a:srgbClr val="9FE3C0"/>
                </a:solidFill>
                <a:latin typeface="Arial" pitchFamily="34" charset="0"/>
                <a:ea typeface="Arial" pitchFamily="34" charset="-122"/>
                <a:cs typeface="Arial" pitchFamily="34" charset="-120"/>
              </a:rPr>
              <a:t>Supported</a:t>
            </a:r>
            <a:endParaRPr lang="en-US" sz="1700" dirty="0"/>
          </a:p>
        </p:txBody>
      </p:sp>
      <p:sp>
        <p:nvSpPr>
          <p:cNvPr id="5" name="Text 3"/>
          <p:cNvSpPr/>
          <p:nvPr/>
        </p:nvSpPr>
        <p:spPr>
          <a:xfrm>
            <a:off x="93268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The LLM beats a textbook ansatz on all 4 tasks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It never beats random search - 30 seeds, 12 pre-declared contrasts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Given free length it picks the maximum ~70% of the time</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Its apparent refinement skill vanishes given a good start</a:t>
            </a:r>
            <a:endParaRPr lang="en-US" sz="1450" dirty="0"/>
          </a:p>
        </p:txBody>
      </p:sp>
      <p:sp>
        <p:nvSpPr>
          <p:cNvPr id="6" name="Shape 4"/>
          <p:cNvSpPr/>
          <p:nvPr/>
        </p:nvSpPr>
        <p:spPr>
          <a:xfrm>
            <a:off x="6263640" y="1188720"/>
            <a:ext cx="5349240" cy="3566160"/>
          </a:xfrm>
          <a:prstGeom prst="roundRect">
            <a:avLst>
              <a:gd name="adj" fmla="val 2564"/>
            </a:avLst>
          </a:prstGeom>
          <a:solidFill>
            <a:srgbClr val="FFFFFF">
              <a:alpha val="10000"/>
            </a:srgbClr>
          </a:solidFill>
          <a:ln w="12700">
            <a:solidFill>
              <a:srgbClr val="8FA6C4"/>
            </a:solidFill>
            <a:prstDash val="solid"/>
          </a:ln>
        </p:spPr>
      </p:sp>
      <p:sp>
        <p:nvSpPr>
          <p:cNvPr id="7" name="Text 5"/>
          <p:cNvSpPr/>
          <p:nvPr/>
        </p:nvSpPr>
        <p:spPr>
          <a:xfrm>
            <a:off x="6492240" y="1298448"/>
            <a:ext cx="4937760" cy="365760"/>
          </a:xfrm>
          <a:prstGeom prst="rect">
            <a:avLst/>
          </a:prstGeom>
          <a:noFill/>
          <a:ln/>
        </p:spPr>
        <p:txBody>
          <a:bodyPr wrap="square" lIns="0" tIns="0" rIns="0" bIns="0" rtlCol="0" anchor="ctr"/>
          <a:lstStyle/>
          <a:p>
            <a:pPr indent="0" marL="0">
              <a:buNone/>
            </a:pPr>
            <a:r>
              <a:rPr lang="en-US" sz="1700" b="1" dirty="0">
                <a:solidFill>
                  <a:srgbClr val="FFC4B8"/>
                </a:solidFill>
                <a:latin typeface="Arial" pitchFamily="34" charset="0"/>
                <a:ea typeface="Arial" pitchFamily="34" charset="-122"/>
                <a:cs typeface="Arial" pitchFamily="34" charset="-120"/>
              </a:rPr>
              <a:t>NOT supported</a:t>
            </a:r>
            <a:endParaRPr lang="en-US" sz="1700" dirty="0"/>
          </a:p>
        </p:txBody>
      </p:sp>
      <p:sp>
        <p:nvSpPr>
          <p:cNvPr id="8" name="Text 6"/>
          <p:cNvSpPr/>
          <p:nvPr/>
        </p:nvSpPr>
        <p:spPr>
          <a:xfrm>
            <a:off x="6556248" y="1783080"/>
            <a:ext cx="4846320" cy="2834640"/>
          </a:xfrm>
          <a:prstGeom prst="rect">
            <a:avLst/>
          </a:prstGeom>
          <a:noFill/>
          <a:ln/>
        </p:spPr>
        <p:txBody>
          <a:bodyPr wrap="square" lIns="0" tIns="0" rIns="0" bIns="0" rtlCol="0" anchor="t"/>
          <a:lstStyle/>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"LLMs cannot design circuits" - one small model, B = 8</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"Task context does not help" - never A/B tested at equal seeds</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Anything about hardware - this is exact simulation</a:t>
            </a:r>
            <a:endParaRPr lang="en-US" sz="1450" dirty="0"/>
          </a:p>
          <a:p>
            <a:pPr marL="342900" indent="-342900">
              <a:lnSpc>
                <a:spcPct val="112000"/>
              </a:lnSpc>
              <a:spcAft>
                <a:spcPts val="900"/>
              </a:spcAft>
              <a:buSzPct val="100000"/>
              <a:buChar char="•"/>
            </a:pPr>
            <a:r>
              <a:rPr lang="en-US" sz="1450" dirty="0">
                <a:solidFill>
                  <a:srgbClr val="E8EEF7"/>
                </a:solidFill>
                <a:latin typeface="Arial" pitchFamily="34" charset="0"/>
                <a:ea typeface="Arial" pitchFamily="34" charset="-122"/>
                <a:cs typeface="Arial" pitchFamily="34" charset="-120"/>
              </a:rPr>
              <a:t>Comparing RMSE across different tasks</a:t>
            </a:r>
            <a:endParaRPr lang="en-US" sz="1450" dirty="0"/>
          </a:p>
        </p:txBody>
      </p:sp>
      <p:sp>
        <p:nvSpPr>
          <p:cNvPr id="9" name="Shape 7"/>
          <p:cNvSpPr/>
          <p:nvPr/>
        </p:nvSpPr>
        <p:spPr>
          <a:xfrm>
            <a:off x="640080" y="4983480"/>
            <a:ext cx="10972800" cy="1051560"/>
          </a:xfrm>
          <a:prstGeom prst="roundRect">
            <a:avLst>
              <a:gd name="adj" fmla="val 8696"/>
            </a:avLst>
          </a:prstGeom>
          <a:solidFill>
            <a:srgbClr val="FFFFFF"/>
          </a:solidFill>
          <a:ln w="20320">
            <a:solidFill>
              <a:srgbClr val="B3261E"/>
            </a:solidFill>
            <a:prstDash val="solid"/>
          </a:ln>
        </p:spPr>
      </p:sp>
      <p:sp>
        <p:nvSpPr>
          <p:cNvPr id="10" name="Text 8"/>
          <p:cNvSpPr/>
          <p:nvPr/>
        </p:nvSpPr>
        <p:spPr>
          <a:xfrm>
            <a:off x="868680" y="5093208"/>
            <a:ext cx="10515600" cy="868680"/>
          </a:xfrm>
          <a:prstGeom prst="rect">
            <a:avLst/>
          </a:prstGeom>
          <a:noFill/>
          <a:ln/>
        </p:spPr>
        <p:txBody>
          <a:bodyPr wrap="square" lIns="0" tIns="0" rIns="0" bIns="0" rtlCol="0" anchor="ctr"/>
          <a:lstStyle/>
          <a:p>
            <a:pPr indent="0" marL="0">
              <a:buNone/>
            </a:pPr>
            <a:r>
              <a:rPr lang="en-US" sz="1800" b="1" dirty="0">
                <a:solidFill>
                  <a:srgbClr val="B3261E"/>
                </a:solidFill>
                <a:latin typeface="Arial" pitchFamily="34" charset="0"/>
                <a:ea typeface="Arial" pitchFamily="34" charset="-122"/>
                <a:cs typeface="Arial" pitchFamily="34" charset="-120"/>
              </a:rPr>
              <a:t>Next: </a:t>
            </a:r>
            <a:pPr indent="0" marL="0">
              <a:buNone/>
            </a:pPr>
            <a:r>
              <a:rPr lang="en-US" sz="1800" dirty="0">
                <a:solidFill>
                  <a:srgbClr val="1A1A2E"/>
                </a:solidFill>
                <a:latin typeface="Arial" pitchFamily="34" charset="0"/>
                <a:ea typeface="Arial" pitchFamily="34" charset="-122"/>
                <a:cs typeface="Arial" pitchFamily="34" charset="-120"/>
              </a:rPr>
              <a:t>give the LLM a decision that is actually hard, and check any advantage the same way.</a:t>
            </a:r>
            <a:endParaRPr lang="en-US" sz="1800" dirty="0"/>
          </a:p>
        </p:txBody>
      </p:sp>
      <p:sp>
        <p:nvSpPr>
          <p:cNvPr id="11" name="Text 9"/>
          <p:cNvSpPr/>
          <p:nvPr/>
        </p:nvSpPr>
        <p:spPr>
          <a:xfrm>
            <a:off x="640080" y="6263640"/>
            <a:ext cx="10972800" cy="274320"/>
          </a:xfrm>
          <a:prstGeom prst="rect">
            <a:avLst/>
          </a:prstGeom>
          <a:noFill/>
          <a:ln/>
        </p:spPr>
        <p:txBody>
          <a:bodyPr wrap="square" lIns="0" tIns="0" rIns="0" bIns="0" rtlCol="0" anchor="ctr"/>
          <a:lstStyle/>
          <a:p>
            <a:pPr indent="0" marL="0">
              <a:buNone/>
            </a:pPr>
            <a:r>
              <a:rPr lang="en-US" sz="1200" dirty="0">
                <a:solidFill>
                  <a:srgbClr val="9FB3CC"/>
                </a:solidFill>
                <a:latin typeface="Arial" pitchFamily="34" charset="0"/>
                <a:ea typeface="Arial" pitchFamily="34" charset="-122"/>
                <a:cs typeface="Arial" pitchFamily="34" charset="-120"/>
              </a:rPr>
              <a:t>600 cells across 3 conditions · 2.9 min for the main run · gpt-5-nano-2025-08-07 · $0.23 total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2026-08-03T14:56:34Z</dcterms:created>
  <dcterms:modified xsi:type="dcterms:W3CDTF">2026-08-03T14:56:34Z</dcterms:modified>
</cp:coreProperties>
</file>