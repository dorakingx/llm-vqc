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deliberately narrow. Last week I reported that LLM-proposed circuits beat random search. This week I removed one degree of freedom from the search space and the advantage largely went away, which changes what that earlier result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allowed one to five gates. That hands the proposer a free decision that correlates with performance. This week the length is pinned so the decision cannot be made, and two controls put it back so we can measure what it was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synthetic tasks so I control difficulty and know the answer exactly. Each signal is 32 numbers, which is exactly what five qubits hold, so the whole signal goes in with no padding and no truncation.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operation is one physical gate, so sixteen means sixteen. The angle rule matters: the method chooses a range and the harness draws inside it, because the model cannot sample a continuum. Validation picks the winner and the test split is read once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is distinct scored circuits because that is what every method spends and what dominates cost. Duplicates and invalid proposals are the proposer's own problem; they do not earn extra 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medians. Against the fixed hardware-efficient ansatz every search method wins, decisively. Against random search the LLM wins nothing, and random has the better median on three of four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T4 is the one task where the metric can pick the winner, so both are on the slide. Here they agree that nothing works: RMSE near 0.5 and AUROC barely above a coin flip.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defend hardest. The pilot rewarded a single decision - ask for the maximum number of gates - and the LLM makes that decision almost every time while a uniform sampler does not. Pin the length and the advantage goes; restore the length and shrink the budget to the pilot's and the two meet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keep if I could keep only one. The diagnosis was that the LLM refines well but starts badly, so I gave it a good start. The start improved, the final score improved, and the refinement rate collapsed below random. The 17 percent was never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summary is that I removed a confound and a positive result mostly went away. That is a useful outcome: it tells us the earlier benchmark was rewarding the wrong thing, and it tells us what a fair test has to control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822960" y="1371600"/>
            <a:ext cx="10515600" cy="155448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Arial" pitchFamily="34" charset="0"/>
                <a:ea typeface="Arial" pitchFamily="34" charset="-122"/>
                <a:cs typeface="Arial" pitchFamily="34" charset="-120"/>
              </a:rPr>
              <a:t>Three ways an LLM looked better than it was</a:t>
            </a:r>
            <a:endParaRPr lang="en-US" sz="4000" dirty="0"/>
          </a:p>
        </p:txBody>
      </p:sp>
      <p:sp>
        <p:nvSpPr>
          <p:cNvPr id="3" name="Text 1"/>
          <p:cNvSpPr/>
          <p:nvPr/>
        </p:nvSpPr>
        <p:spPr>
          <a:xfrm>
            <a:off x="822960" y="3063240"/>
            <a:ext cx="10515600" cy="548640"/>
          </a:xfrm>
          <a:prstGeom prst="rect">
            <a:avLst/>
          </a:prstGeom>
          <a:noFill/>
          <a:ln/>
        </p:spPr>
        <p:txBody>
          <a:bodyPr wrap="square" lIns="0" tIns="0" rIns="0" bIns="0" rtlCol="0" anchor="ctr"/>
          <a:lstStyle/>
          <a:p>
            <a:pPr indent="0" marL="0">
              <a:buNone/>
            </a:pPr>
            <a:r>
              <a:rPr lang="en-US" sz="2000" dirty="0">
                <a:solidFill>
                  <a:srgbClr val="CADCFC"/>
                </a:solidFill>
                <a:latin typeface="Arial" pitchFamily="34" charset="0"/>
                <a:ea typeface="Arial" pitchFamily="34" charset="-122"/>
                <a:cs typeface="Arial" pitchFamily="34" charset="-120"/>
              </a:rPr>
              <a:t>Removing one confound at a time from an LLM-guided quantum circuit search</a:t>
            </a:r>
            <a:endParaRPr lang="en-US" sz="2000" dirty="0"/>
          </a:p>
        </p:txBody>
      </p:sp>
      <p:sp>
        <p:nvSpPr>
          <p:cNvPr id="4" name="Shape 2"/>
          <p:cNvSpPr/>
          <p:nvPr/>
        </p:nvSpPr>
        <p:spPr>
          <a:xfrm>
            <a:off x="822960" y="3886200"/>
            <a:ext cx="10515600" cy="914400"/>
          </a:xfrm>
          <a:prstGeom prst="roundRect">
            <a:avLst>
              <a:gd name="adj" fmla="val 10000"/>
            </a:avLst>
          </a:prstGeom>
          <a:solidFill>
            <a:srgbClr val="FFFFFF">
              <a:alpha val="12000"/>
            </a:srgbClr>
          </a:solidFill>
          <a:ln w="12700">
            <a:solidFill>
              <a:srgbClr val="8FA6C4"/>
            </a:solidFill>
            <a:prstDash val="solid"/>
          </a:ln>
        </p:spPr>
      </p:sp>
      <p:sp>
        <p:nvSpPr>
          <p:cNvPr id="5" name="Text 3"/>
          <p:cNvSpPr/>
          <p:nvPr/>
        </p:nvSpPr>
        <p:spPr>
          <a:xfrm>
            <a:off x="1051560" y="3977640"/>
            <a:ext cx="10058400" cy="731520"/>
          </a:xfrm>
          <a:prstGeom prst="rect">
            <a:avLst/>
          </a:prstGeom>
          <a:noFill/>
          <a:ln/>
        </p:spPr>
        <p:txBody>
          <a:bodyPr wrap="square" lIns="0" tIns="0" rIns="0" bIns="0" rtlCol="0" anchor="ctr"/>
          <a:lstStyle/>
          <a:p>
            <a:pPr indent="0" marL="0">
              <a:buNone/>
            </a:pPr>
            <a:r>
              <a:rPr lang="en-US" sz="1800" b="1" dirty="0">
                <a:solidFill>
                  <a:srgbClr val="FFD9A0"/>
                </a:solidFill>
                <a:latin typeface="Arial" pitchFamily="34" charset="0"/>
                <a:ea typeface="Arial" pitchFamily="34" charset="-122"/>
                <a:cs typeface="Arial" pitchFamily="34" charset="-120"/>
              </a:rPr>
              <a:t>Headline: </a:t>
            </a:r>
            <a:pPr indent="0" marL="0">
              <a:buNone/>
            </a:pPr>
            <a:r>
              <a:rPr lang="en-US" sz="1800" dirty="0">
                <a:solidFill>
                  <a:srgbClr val="FFFFFF"/>
                </a:solidFill>
                <a:latin typeface="Arial" pitchFamily="34" charset="0"/>
                <a:ea typeface="Arial" pitchFamily="34" charset="-122"/>
                <a:cs typeface="Arial" pitchFamily="34" charset="-120"/>
              </a:rPr>
              <a:t>each apparent advantage came from something other than design skill - circuit size, then a bad starting point. The LLM beats a textbook ansatz on all four tasks and never beats random search on any (30 seeds).</a:t>
            </a:r>
            <a:endParaRPr lang="en-US" sz="1800" dirty="0"/>
          </a:p>
        </p:txBody>
      </p:sp>
      <p:sp>
        <p:nvSpPr>
          <p:cNvPr id="6" name="Text 4"/>
          <p:cNvSpPr/>
          <p:nvPr/>
        </p:nvSpPr>
        <p:spPr>
          <a:xfrm>
            <a:off x="822960" y="5394960"/>
            <a:ext cx="73152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Tomoya Hatanaka</a:t>
            </a:r>
            <a:endParaRPr lang="en-US" sz="1800" dirty="0"/>
          </a:p>
        </p:txBody>
      </p:sp>
      <p:sp>
        <p:nvSpPr>
          <p:cNvPr id="7" name="Text 5"/>
          <p:cNvSpPr/>
          <p:nvPr/>
        </p:nvSpPr>
        <p:spPr>
          <a:xfrm>
            <a:off x="822960" y="5715000"/>
            <a:ext cx="7315200" cy="320040"/>
          </a:xfrm>
          <a:prstGeom prst="rect">
            <a:avLst/>
          </a:prstGeom>
          <a:noFill/>
          <a:ln/>
        </p:spPr>
        <p:txBody>
          <a:bodyPr wrap="square" lIns="0" tIns="0" rIns="0" bIns="0" rtlCol="0" anchor="ctr"/>
          <a:lstStyle/>
          <a:p>
            <a:pPr indent="0" marL="0">
              <a:buNone/>
            </a:pPr>
            <a:r>
              <a:rPr lang="en-US" sz="1600" dirty="0">
                <a:solidFill>
                  <a:srgbClr val="CADCFC"/>
                </a:solidFill>
                <a:latin typeface="Arial" pitchFamily="34" charset="0"/>
                <a:ea typeface="Arial" pitchFamily="34" charset="-122"/>
                <a:cs typeface="Arial" pitchFamily="34" charset="-120"/>
              </a:rPr>
              <a:t>ML4SCI / Google Summer of Code 2026</a:t>
            </a:r>
            <a:endParaRPr lang="en-US" sz="1600" dirty="0"/>
          </a:p>
        </p:txBody>
      </p:sp>
      <p:sp>
        <p:nvSpPr>
          <p:cNvPr id="8" name="Text 6"/>
          <p:cNvSpPr/>
          <p:nvPr/>
        </p:nvSpPr>
        <p:spPr>
          <a:xfrm>
            <a:off x="822960" y="6035040"/>
            <a:ext cx="9144000" cy="274320"/>
          </a:xfrm>
          <a:prstGeom prst="rect">
            <a:avLst/>
          </a:prstGeom>
          <a:noFill/>
          <a:ln/>
        </p:spPr>
        <p:txBody>
          <a:bodyPr wrap="square" lIns="0" tIns="0" rIns="0" bIns="0" rtlCol="0" anchor="ctr"/>
          <a:lstStyle/>
          <a:p>
            <a:pPr indent="0" marL="0">
              <a:buNone/>
            </a:pPr>
            <a:r>
              <a:rPr lang="en-US" sz="1200" dirty="0">
                <a:solidFill>
                  <a:srgbClr val="9FB3CC"/>
                </a:solidFill>
                <a:latin typeface="Arial" pitchFamily="34" charset="0"/>
                <a:ea typeface="Arial" pitchFamily="34" charset="-122"/>
                <a:cs typeface="Arial" pitchFamily="34" charset="-120"/>
              </a:rPr>
              <a:t>July 31, 2026  ·  commit 3f36d8c  ·  experiment/bench-v2-real-llm-cost-minimal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WHAT CHANGED</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Last week the LLM could choose how big the circuit was</a:t>
            </a:r>
            <a:endParaRPr lang="en-US" sz="3000" dirty="0"/>
          </a:p>
        </p:txBody>
      </p:sp>
      <p:pic>
        <p:nvPicPr>
          <p:cNvPr id="4" name="Image 0" descr="/Users/hatanakatomoya/Developer/Sim/llm-vqc/.claude/worktrees/github-author-config-faee6e/docs/presentation/mini5/figures/fig_conditions.png">    </p:cNvPr>
          <p:cNvPicPr>
            <a:picLocks noChangeAspect="1"/>
          </p:cNvPicPr>
          <p:nvPr/>
        </p:nvPicPr>
        <p:blipFill>
          <a:blip r:embed="rId1"/>
          <a:stretch>
            <a:fillRect/>
          </a:stretch>
        </p:blipFill>
        <p:spPr>
          <a:xfrm>
            <a:off x="411480" y="1508760"/>
            <a:ext cx="11384280" cy="3246120"/>
          </a:xfrm>
          <a:prstGeom prst="rect">
            <a:avLst/>
          </a:prstGeom>
        </p:spPr>
      </p:pic>
      <p:sp>
        <p:nvSpPr>
          <p:cNvPr id="5" name="Shape 2"/>
          <p:cNvSpPr/>
          <p:nvPr/>
        </p:nvSpPr>
        <p:spPr>
          <a:xfrm>
            <a:off x="548640" y="4983480"/>
            <a:ext cx="11109960" cy="1051560"/>
          </a:xfrm>
          <a:prstGeom prst="roundRect">
            <a:avLst>
              <a:gd name="adj" fmla="val 8696"/>
            </a:avLst>
          </a:prstGeom>
          <a:solidFill>
            <a:srgbClr val="FDF6E8"/>
          </a:solidFill>
          <a:ln w="15240">
            <a:solidFill>
              <a:srgbClr val="B8860B"/>
            </a:solidFill>
            <a:prstDash val="solid"/>
          </a:ln>
        </p:spPr>
      </p:sp>
      <p:sp>
        <p:nvSpPr>
          <p:cNvPr id="6" name="Text 3"/>
          <p:cNvSpPr/>
          <p:nvPr/>
        </p:nvSpPr>
        <p:spPr>
          <a:xfrm>
            <a:off x="822960" y="5102352"/>
            <a:ext cx="10607040" cy="822960"/>
          </a:xfrm>
          <a:prstGeom prst="rect">
            <a:avLst/>
          </a:prstGeom>
          <a:noFill/>
          <a:ln/>
        </p:spPr>
        <p:txBody>
          <a:bodyPr wrap="square" lIns="0" tIns="0" rIns="0" bIns="0" rtlCol="0" anchor="ctr"/>
          <a:lstStyle/>
          <a:p>
            <a:pPr indent="0" marL="0">
              <a:buNone/>
            </a:pPr>
            <a:r>
              <a:rPr lang="en-US" sz="1800" b="1" dirty="0">
                <a:solidFill>
                  <a:srgbClr val="1A1A2E"/>
                </a:solidFill>
                <a:latin typeface="Arial" pitchFamily="34" charset="0"/>
                <a:ea typeface="Arial" pitchFamily="34" charset="-122"/>
                <a:cs typeface="Arial" pitchFamily="34" charset="-120"/>
              </a:rPr>
              <a:t>Longer circuits usually score better. </a:t>
            </a:r>
            <a:pPr indent="0" marL="0">
              <a:buNone/>
            </a:pPr>
            <a:r>
              <a:rPr lang="en-US" sz="1800" dirty="0">
                <a:solidFill>
                  <a:srgbClr val="1A1A2E"/>
                </a:solidFill>
                <a:latin typeface="Arial" pitchFamily="34" charset="0"/>
                <a:ea typeface="Arial" pitchFamily="34" charset="-122"/>
                <a:cs typeface="Arial" pitchFamily="34" charset="-120"/>
              </a:rPr>
              <a:t>A proposer that always asks for the maximum length wins without designing anything. Fixing the length removes that move; 16 gates then makes the circuit visible to the readout.</a:t>
            </a:r>
            <a:endParaRPr lang="en-US" sz="1800" dirty="0"/>
          </a:p>
        </p:txBody>
      </p:sp>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seed = one paired data + search random seed; a condition is re-run once per seed. Pilot values verified in its EXPERIMENT_CONFIG.json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THE FOUR TASKS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Four questions about a 32-number signal</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5 qubits on every task</a:t>
            </a:r>
            <a:pPr algn="r" indent="0" marL="0">
              <a:buNone/>
            </a:pPr>
            <a:r>
              <a:rPr lang="en-US" sz="1150" dirty="0">
                <a:solidFill>
                  <a:srgbClr val="55606E"/>
                </a:solidFill>
                <a:latin typeface="Arial" pitchFamily="34" charset="0"/>
                <a:ea typeface="Arial" pitchFamily="34" charset="-122"/>
                <a:cs typeface="Arial" pitchFamily="34" charset="-120"/>
              </a:rPr>
              <a:t>   32 numbers in, one number out</a:t>
            </a:r>
            <a:endParaRPr lang="en-US" sz="1150" dirty="0"/>
          </a:p>
        </p:txBody>
      </p:sp>
      <p:pic>
        <p:nvPicPr>
          <p:cNvPr id="6" name="Image 0" descr="/Users/hatanakatomoya/Developer/Sim/llm-vqc/.claude/worktrees/github-author-config-faee6e/docs/presentation/mini5/figures/fig_tasks_v2.png">    </p:cNvPr>
          <p:cNvPicPr>
            <a:picLocks noChangeAspect="1"/>
          </p:cNvPicPr>
          <p:nvPr/>
        </p:nvPicPr>
        <p:blipFill>
          <a:blip r:embed="rId1"/>
          <a:stretch>
            <a:fillRect/>
          </a:stretch>
        </p:blipFill>
        <p:spPr>
          <a:xfrm>
            <a:off x="320040" y="1417320"/>
            <a:ext cx="11567160" cy="2542032"/>
          </a:xfrm>
          <a:prstGeom prst="rect">
            <a:avLst/>
          </a:prstGeom>
        </p:spPr>
      </p:pic>
      <p:sp>
        <p:nvSpPr>
          <p:cNvPr id="7" name="Shape 4"/>
          <p:cNvSpPr/>
          <p:nvPr/>
        </p:nvSpPr>
        <p:spPr>
          <a:xfrm>
            <a:off x="548640" y="4206240"/>
            <a:ext cx="3520440" cy="1600200"/>
          </a:xfrm>
          <a:prstGeom prst="roundRect">
            <a:avLst>
              <a:gd name="adj" fmla="val 5714"/>
            </a:avLst>
          </a:prstGeom>
          <a:solidFill>
            <a:srgbClr val="F4F6FA"/>
          </a:solidFill>
          <a:ln w="19050">
            <a:solidFill>
              <a:srgbClr val="1E3A5F"/>
            </a:solidFill>
            <a:prstDash val="solid"/>
          </a:ln>
        </p:spPr>
      </p:sp>
      <p:sp>
        <p:nvSpPr>
          <p:cNvPr id="8" name="Text 5"/>
          <p:cNvSpPr/>
          <p:nvPr/>
        </p:nvSpPr>
        <p:spPr>
          <a:xfrm>
            <a:off x="777240" y="4315968"/>
            <a:ext cx="3063240" cy="320040"/>
          </a:xfrm>
          <a:prstGeom prst="rect">
            <a:avLst/>
          </a:prstGeom>
          <a:noFill/>
          <a:ln/>
        </p:spPr>
        <p:txBody>
          <a:bodyPr wrap="square" lIns="0" tIns="0" rIns="0" bIns="0" rtlCol="0" anchor="ctr"/>
          <a:lstStyle/>
          <a:p>
            <a:pPr indent="0" marL="0">
              <a:buNone/>
            </a:pPr>
            <a:r>
              <a:rPr lang="en-US" sz="1500" b="1" dirty="0">
                <a:solidFill>
                  <a:srgbClr val="1E3A5F"/>
                </a:solidFill>
                <a:latin typeface="Arial" pitchFamily="34" charset="0"/>
                <a:ea typeface="Arial" pitchFamily="34" charset="-122"/>
                <a:cs typeface="Arial" pitchFamily="34" charset="-120"/>
              </a:rPr>
              <a:t>All four are synthetic</a:t>
            </a:r>
            <a:endParaRPr lang="en-US" sz="1500" dirty="0"/>
          </a:p>
        </p:txBody>
      </p:sp>
      <p:sp>
        <p:nvSpPr>
          <p:cNvPr id="9" name="Text 6"/>
          <p:cNvSpPr/>
          <p:nvPr/>
        </p:nvSpPr>
        <p:spPr>
          <a:xfrm>
            <a:off x="777240" y="4681728"/>
            <a:ext cx="3063240" cy="1005840"/>
          </a:xfrm>
          <a:prstGeom prst="rect">
            <a:avLst/>
          </a:prstGeom>
          <a:noFill/>
          <a:ln/>
        </p:spPr>
        <p:txBody>
          <a:bodyPr wrap="square" lIns="0" tIns="0" rIns="0" bIns="0" rtlCol="0" anchor="t"/>
          <a:lstStyle/>
          <a:p>
            <a:pPr indent="0" marL="0">
              <a:buNone/>
            </a:pPr>
            <a:r>
              <a:rPr lang="en-US" sz="1350" dirty="0">
                <a:solidFill>
                  <a:srgbClr val="1A1A2E"/>
                </a:solidFill>
                <a:latin typeface="Arial" pitchFamily="34" charset="0"/>
                <a:ea typeface="Arial" pitchFamily="34" charset="-122"/>
                <a:cs typeface="Arial" pitchFamily="34" charset="-120"/>
              </a:rPr>
              <a:t>so difficulty and leakage are controlled, and the answer is known exactly</a:t>
            </a:r>
            <a:endParaRPr lang="en-US" sz="1350" dirty="0"/>
          </a:p>
        </p:txBody>
      </p:sp>
      <p:sp>
        <p:nvSpPr>
          <p:cNvPr id="10" name="Shape 7"/>
          <p:cNvSpPr/>
          <p:nvPr/>
        </p:nvSpPr>
        <p:spPr>
          <a:xfrm>
            <a:off x="4315968" y="4206240"/>
            <a:ext cx="3520440" cy="1600200"/>
          </a:xfrm>
          <a:prstGeom prst="roundRect">
            <a:avLst>
              <a:gd name="adj" fmla="val 5714"/>
            </a:avLst>
          </a:prstGeom>
          <a:solidFill>
            <a:srgbClr val="F4F6FA"/>
          </a:solidFill>
          <a:ln w="19050">
            <a:solidFill>
              <a:srgbClr val="0B7A4B"/>
            </a:solidFill>
            <a:prstDash val="solid"/>
          </a:ln>
        </p:spPr>
      </p:sp>
      <p:sp>
        <p:nvSpPr>
          <p:cNvPr id="11" name="Text 8"/>
          <p:cNvSpPr/>
          <p:nvPr/>
        </p:nvSpPr>
        <p:spPr>
          <a:xfrm>
            <a:off x="4544568" y="4315968"/>
            <a:ext cx="3063240" cy="320040"/>
          </a:xfrm>
          <a:prstGeom prst="rect">
            <a:avLst/>
          </a:prstGeom>
          <a:noFill/>
          <a:ln/>
        </p:spPr>
        <p:txBody>
          <a:bodyPr wrap="square" lIns="0" tIns="0" rIns="0" bIns="0" rtlCol="0" anchor="ctr"/>
          <a:lstStyle/>
          <a:p>
            <a:pPr indent="0" marL="0">
              <a:buNone/>
            </a:pPr>
            <a:r>
              <a:rPr lang="en-US" sz="1500" b="1" dirty="0">
                <a:solidFill>
                  <a:srgbClr val="0B7A4B"/>
                </a:solidFill>
                <a:latin typeface="Arial" pitchFamily="34" charset="0"/>
                <a:ea typeface="Arial" pitchFamily="34" charset="-122"/>
                <a:cs typeface="Arial" pitchFamily="34" charset="-120"/>
              </a:rPr>
              <a:t>T1-T3 are regression</a:t>
            </a:r>
            <a:endParaRPr lang="en-US" sz="1500" dirty="0"/>
          </a:p>
        </p:txBody>
      </p:sp>
      <p:sp>
        <p:nvSpPr>
          <p:cNvPr id="12" name="Text 9"/>
          <p:cNvSpPr/>
          <p:nvPr/>
        </p:nvSpPr>
        <p:spPr>
          <a:xfrm>
            <a:off x="4544568" y="4681728"/>
            <a:ext cx="3063240" cy="1005840"/>
          </a:xfrm>
          <a:prstGeom prst="rect">
            <a:avLst/>
          </a:prstGeom>
          <a:noFill/>
          <a:ln/>
        </p:spPr>
        <p:txBody>
          <a:bodyPr wrap="square" lIns="0" tIns="0" rIns="0" bIns="0" rtlCol="0" anchor="t"/>
          <a:lstStyle/>
          <a:p>
            <a:pPr indent="0" marL="0">
              <a:buNone/>
            </a:pPr>
            <a:r>
              <a:rPr lang="en-US" sz="1350" dirty="0">
                <a:solidFill>
                  <a:srgbClr val="1A1A2E"/>
                </a:solidFill>
                <a:latin typeface="Arial" pitchFamily="34" charset="0"/>
                <a:ea typeface="Arial" pitchFamily="34" charset="-122"/>
                <a:cs typeface="Arial" pitchFamily="34" charset="-120"/>
              </a:rPr>
              <a:t>the target is a position or a rate, so RMSE is the natural score</a:t>
            </a:r>
            <a:endParaRPr lang="en-US" sz="1350" dirty="0"/>
          </a:p>
        </p:txBody>
      </p:sp>
      <p:sp>
        <p:nvSpPr>
          <p:cNvPr id="13" name="Shape 10"/>
          <p:cNvSpPr/>
          <p:nvPr/>
        </p:nvSpPr>
        <p:spPr>
          <a:xfrm>
            <a:off x="8092440" y="4206240"/>
            <a:ext cx="3547872" cy="1600200"/>
          </a:xfrm>
          <a:prstGeom prst="roundRect">
            <a:avLst>
              <a:gd name="adj" fmla="val 5714"/>
            </a:avLst>
          </a:prstGeom>
          <a:solidFill>
            <a:srgbClr val="F4F6FA"/>
          </a:solidFill>
          <a:ln w="19050">
            <a:solidFill>
              <a:srgbClr val="B3261E"/>
            </a:solidFill>
            <a:prstDash val="solid"/>
          </a:ln>
        </p:spPr>
      </p:sp>
      <p:sp>
        <p:nvSpPr>
          <p:cNvPr id="14" name="Text 11"/>
          <p:cNvSpPr/>
          <p:nvPr/>
        </p:nvSpPr>
        <p:spPr>
          <a:xfrm>
            <a:off x="8321040" y="4315968"/>
            <a:ext cx="3090672" cy="320040"/>
          </a:xfrm>
          <a:prstGeom prst="rect">
            <a:avLst/>
          </a:prstGeom>
          <a:noFill/>
          <a:ln/>
        </p:spPr>
        <p:txBody>
          <a:bodyPr wrap="square" lIns="0" tIns="0" rIns="0" bIns="0" rtlCol="0" anchor="ctr"/>
          <a:lstStyle/>
          <a:p>
            <a:pPr indent="0" marL="0">
              <a:buNone/>
            </a:pPr>
            <a:r>
              <a:rPr lang="en-US" sz="1500" b="1" dirty="0">
                <a:solidFill>
                  <a:srgbClr val="B3261E"/>
                </a:solidFill>
                <a:latin typeface="Arial" pitchFamily="34" charset="0"/>
                <a:ea typeface="Arial" pitchFamily="34" charset="-122"/>
                <a:cs typeface="Arial" pitchFamily="34" charset="-120"/>
              </a:rPr>
              <a:t>T4 is a yes/no question</a:t>
            </a:r>
            <a:endParaRPr lang="en-US" sz="1500" dirty="0"/>
          </a:p>
        </p:txBody>
      </p:sp>
      <p:sp>
        <p:nvSpPr>
          <p:cNvPr id="15" name="Text 12"/>
          <p:cNvSpPr/>
          <p:nvPr/>
        </p:nvSpPr>
        <p:spPr>
          <a:xfrm>
            <a:off x="8321040" y="4681728"/>
            <a:ext cx="3090672" cy="1005840"/>
          </a:xfrm>
          <a:prstGeom prst="rect">
            <a:avLst/>
          </a:prstGeom>
          <a:noFill/>
          <a:ln/>
        </p:spPr>
        <p:txBody>
          <a:bodyPr wrap="square" lIns="0" tIns="0" rIns="0" bIns="0" rtlCol="0" anchor="t"/>
          <a:lstStyle/>
          <a:p>
            <a:pPr indent="0" marL="0">
              <a:buNone/>
            </a:pPr>
            <a:r>
              <a:rPr lang="en-US" sz="1350" dirty="0">
                <a:solidFill>
                  <a:srgbClr val="1A1A2E"/>
                </a:solidFill>
                <a:latin typeface="Arial" pitchFamily="34" charset="0"/>
                <a:ea typeface="Arial" pitchFamily="34" charset="-122"/>
                <a:cs typeface="Arial" pitchFamily="34" charset="-120"/>
              </a:rPr>
              <a:t>RMSE there is the error against a 0/1 label; AUROC is recorded too</a:t>
            </a:r>
            <a:endParaRPr lang="en-US" sz="1350" dirty="0"/>
          </a:p>
        </p:txBody>
      </p:sp>
      <p:sp>
        <p:nvSpPr>
          <p:cNvPr id="16" name="Text 13"/>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Generated by llm_vqc/tasks/signal_suite · 256 train / 256 validation / 2048 test, regenerated per seed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THE RULES</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One pipeline, and every constraint on it</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The run reported on slides 6 and 9</a:t>
            </a:r>
            <a:pPr algn="r" indent="0" marL="0">
              <a:buNone/>
            </a:pPr>
            <a:r>
              <a:rPr lang="en-US" sz="1150" dirty="0">
                <a:solidFill>
                  <a:srgbClr val="55606E"/>
                </a:solidFill>
                <a:latin typeface="Arial" pitchFamily="34" charset="0"/>
                <a:ea typeface="Arial" pitchFamily="34" charset="-122"/>
                <a:cs typeface="Arial" pitchFamily="34" charset="-120"/>
              </a:rPr>
              <a:t>   16 gates, 5 qubits, B = 8, 30 seeds</a:t>
            </a:r>
            <a:endParaRPr lang="en-US" sz="1150" dirty="0"/>
          </a:p>
        </p:txBody>
      </p:sp>
      <p:pic>
        <p:nvPicPr>
          <p:cNvPr id="6" name="Image 0" descr="/Users/hatanakatomoya/Developer/Sim/llm-vqc/.claude/worktrees/github-author-config-faee6e/docs/presentation/mini5/figures/fig_contract.png">    </p:cNvPr>
          <p:cNvPicPr>
            <a:picLocks noChangeAspect="1"/>
          </p:cNvPicPr>
          <p:nvPr/>
        </p:nvPicPr>
        <p:blipFill>
          <a:blip r:embed="rId1"/>
          <a:stretch>
            <a:fillRect/>
          </a:stretch>
        </p:blipFill>
        <p:spPr>
          <a:xfrm>
            <a:off x="457200" y="1371600"/>
            <a:ext cx="11292840" cy="260604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11109960" cy="914400"/>
        </p:xfrm>
        <a:graphic>
          <a:graphicData uri="http://schemas.openxmlformats.org/drawingml/2006/table">
            <a:tbl>
              <a:tblPr/>
              <a:tblGrid>
                <a:gridCol w="2194560"/>
                <a:gridCol w="8915400"/>
              </a:tblGrid>
              <a:tr h="365760">
                <a:tc>
                  <a:txBody>
                    <a:bodyPr/>
                    <a:lstStyle/>
                    <a:p>
                      <a:pPr indent="0" marL="0">
                        <a:buNone/>
                      </a:pPr>
                      <a:r>
                        <a:rPr lang="en-US" sz="1350" b="1" dirty="0">
                          <a:solidFill>
                            <a:srgbClr val="FFFFFF"/>
                          </a:solidFill>
                          <a:latin typeface="Arial" pitchFamily="34" charset="0"/>
                          <a:ea typeface="Arial" pitchFamily="34" charset="-122"/>
                          <a:cs typeface="Arial" pitchFamily="34" charset="-120"/>
                        </a:rPr>
                        <a:t>Constraint</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Value</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r>
              <a:tr h="365760">
                <a:tc>
                  <a:txBody>
                    <a:bodyPr/>
                    <a:lstStyle/>
                    <a:p>
                      <a:pPr indent="0" marL="0">
                        <a:buNone/>
                      </a:pPr>
                      <a:r>
                        <a:rPr lang="en-US" sz="1350" dirty="0">
                          <a:solidFill>
                            <a:srgbClr val="000000"/>
                          </a:solidFill>
                          <a:latin typeface="Arial" pitchFamily="34" charset="0"/>
                          <a:ea typeface="Arial" pitchFamily="34" charset="-122"/>
                          <a:cs typeface="Arial" pitchFamily="34" charset="-120"/>
                        </a:rPr>
                        <a:t>Gate count</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350" dirty="0">
                          <a:solidFill>
                            <a:srgbClr val="000000"/>
                          </a:solidFill>
                          <a:latin typeface="Arial" pitchFamily="34" charset="0"/>
                          <a:ea typeface="Arial" pitchFamily="34" charset="-122"/>
                          <a:cs typeface="Arial" pitchFamily="34" charset="-120"/>
                        </a:rPr>
                        <a:t>16 exactly - enough that the measured qubit can see the circuit (slide 7)</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365760">
                <a:tc>
                  <a:txBody>
                    <a:bodyPr/>
                    <a:lstStyle/>
                    <a:p>
                      <a:pPr indent="0" marL="0">
                        <a:buNone/>
                      </a:pPr>
                      <a:r>
                        <a:rPr lang="en-US" sz="1350" dirty="0">
                          <a:solidFill>
                            <a:srgbClr val="000000"/>
                          </a:solidFill>
                          <a:latin typeface="Arial" pitchFamily="34" charset="0"/>
                          <a:ea typeface="Arial" pitchFamily="34" charset="-122"/>
                          <a:cs typeface="Arial" pitchFamily="34" charset="-120"/>
                        </a:rPr>
                        <a:t>Gate set</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350" dirty="0">
                          <a:solidFill>
                            <a:srgbClr val="000000"/>
                          </a:solidFill>
                          <a:latin typeface="Arial" pitchFamily="34" charset="0"/>
                          <a:ea typeface="Arial" pitchFamily="34" charset="-122"/>
                          <a:cs typeface="Arial" pitchFamily="34" charset="-120"/>
                        </a:rPr>
                        <a:t>H, RX, RY, RZ (one qubit)   ·   CRX, CRY, CRZ (two qubits)</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365760">
                <a:tc>
                  <a:txBody>
                    <a:bodyPr/>
                    <a:lstStyle/>
                    <a:p>
                      <a:pPr indent="0" marL="0">
                        <a:buNone/>
                      </a:pPr>
                      <a:r>
                        <a:rPr lang="en-US" sz="1350" dirty="0">
                          <a:solidFill>
                            <a:srgbClr val="000000"/>
                          </a:solidFill>
                          <a:latin typeface="Arial" pitchFamily="34" charset="0"/>
                          <a:ea typeface="Arial" pitchFamily="34" charset="-122"/>
                          <a:cs typeface="Arial" pitchFamily="34" charset="-120"/>
                        </a:rPr>
                        <a:t>Angles</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350" dirty="0">
                          <a:solidFill>
                            <a:srgbClr val="000000"/>
                          </a:solidFill>
                          <a:latin typeface="Arial" pitchFamily="34" charset="0"/>
                          <a:ea typeface="Arial" pitchFamily="34" charset="-122"/>
                          <a:cs typeface="Arial" pitchFamily="34" charset="-120"/>
                        </a:rPr>
                        <a:t>the method picks one of 8 RANGES over [-pi, pi]; the harness draws inside it</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365760">
                <a:tc>
                  <a:txBody>
                    <a:bodyPr/>
                    <a:lstStyle/>
                    <a:p>
                      <a:pPr indent="0" marL="0">
                        <a:buNone/>
                      </a:pPr>
                      <a:r>
                        <a:rPr lang="en-US" sz="1350" dirty="0">
                          <a:solidFill>
                            <a:srgbClr val="000000"/>
                          </a:solidFill>
                          <a:latin typeface="Arial" pitchFamily="34" charset="0"/>
                          <a:ea typeface="Arial" pitchFamily="34" charset="-122"/>
                          <a:cs typeface="Arial" pitchFamily="34" charset="-120"/>
                        </a:rPr>
                        <a:t>Budget B</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350" dirty="0">
                          <a:solidFill>
                            <a:srgbClr val="000000"/>
                          </a:solidFill>
                          <a:latin typeface="Arial" pitchFamily="34" charset="0"/>
                          <a:ea typeface="Arial" pitchFamily="34" charset="-122"/>
                          <a:cs typeface="Arial" pitchFamily="34" charset="-120"/>
                        </a:rPr>
                        <a:t>8 distinct circuits scored per method   ·   30 seeds</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365760">
                <a:tc>
                  <a:txBody>
                    <a:bodyPr/>
                    <a:lstStyle/>
                    <a:p>
                      <a:pPr indent="0" marL="0">
                        <a:buNone/>
                      </a:pPr>
                      <a:r>
                        <a:rPr lang="en-US" sz="1350" dirty="0">
                          <a:solidFill>
                            <a:srgbClr val="000000"/>
                          </a:solidFill>
                          <a:latin typeface="Arial" pitchFamily="34" charset="0"/>
                          <a:ea typeface="Arial" pitchFamily="34" charset="-122"/>
                          <a:cs typeface="Arial" pitchFamily="34" charset="-120"/>
                        </a:rPr>
                        <a:t>Scoring</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350" dirty="0">
                          <a:solidFill>
                            <a:srgbClr val="000000"/>
                          </a:solidFill>
                          <a:latin typeface="Arial" pitchFamily="34" charset="0"/>
                          <a:ea typeface="Arial" pitchFamily="34" charset="-122"/>
                          <a:cs typeface="Arial" pitchFamily="34" charset="-120"/>
                        </a:rPr>
                        <a:t>validation RMSE picks the winner; test RMSE is read once, after that choice</a:t>
                      </a:r>
                      <a:endParaRPr lang="en-US" sz="1350" dirty="0">
                        <a:latin typeface="Arial" charset="0"/>
                        <a:ea typeface="Arial" charset="0"/>
                        <a:cs typeface="Arial" charset="0"/>
                      </a:endParaRPr>
                    </a:p>
                  </a:txBody>
                  <a:tcPr marL="64008" marR="64008" marT="64008" marB="64008"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bl>
          </a:graphicData>
        </a:graphic>
      </p:graphicFrame>
      <p:sp>
        <p:nvSpPr>
          <p:cNvPr id="8"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RMSE compares arms WITHIN one task only - the four tasks predict different quantities on different scales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DESIGN</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Six methods, one shared budget</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Six arms, identical pipeline</a:t>
            </a:r>
            <a:pPr algn="r" indent="0" marL="0">
              <a:buNone/>
            </a:pPr>
            <a:r>
              <a:rPr lang="en-US" sz="1150" dirty="0">
                <a:solidFill>
                  <a:srgbClr val="55606E"/>
                </a:solidFill>
                <a:latin typeface="Arial" pitchFamily="34" charset="0"/>
                <a:ea typeface="Arial" pitchFamily="34" charset="-122"/>
                <a:cs typeface="Arial" pitchFamily="34" charset="-120"/>
              </a:rPr>
              <a:t>   16 gates, 5 qubits, B = 8 each</a:t>
            </a:r>
            <a:endParaRPr lang="en-US" sz="1150" dirty="0"/>
          </a:p>
        </p:txBody>
      </p:sp>
      <p:pic>
        <p:nvPicPr>
          <p:cNvPr id="6" name="Image 0" descr="/Users/hatanakatomoya/Developer/Sim/llm-vqc/.claude/worktrees/github-author-config-faee6e/docs/presentation/mini5/figures/fig_arms.png">    </p:cNvPr>
          <p:cNvPicPr>
            <a:picLocks noChangeAspect="1"/>
          </p:cNvPicPr>
          <p:nvPr/>
        </p:nvPicPr>
        <p:blipFill>
          <a:blip r:embed="rId1"/>
          <a:stretch>
            <a:fillRect/>
          </a:stretch>
        </p:blipFill>
        <p:spPr>
          <a:xfrm>
            <a:off x="411480" y="1463040"/>
            <a:ext cx="11384280" cy="2980944"/>
          </a:xfrm>
          <a:prstGeom prst="rect">
            <a:avLst/>
          </a:prstGeom>
        </p:spPr>
      </p:pic>
      <p:sp>
        <p:nvSpPr>
          <p:cNvPr id="7" name="Shape 4"/>
          <p:cNvSpPr/>
          <p:nvPr/>
        </p:nvSpPr>
        <p:spPr>
          <a:xfrm>
            <a:off x="548640" y="4709160"/>
            <a:ext cx="11109960" cy="1280160"/>
          </a:xfrm>
          <a:prstGeom prst="roundRect">
            <a:avLst>
              <a:gd name="adj" fmla="val 7143"/>
            </a:avLst>
          </a:prstGeom>
          <a:solidFill>
            <a:srgbClr val="F4F6FA"/>
          </a:solidFill>
          <a:ln w="12700">
            <a:solidFill>
              <a:srgbClr val="D8DDE6"/>
            </a:solidFill>
            <a:prstDash val="solid"/>
          </a:ln>
        </p:spPr>
      </p:sp>
      <p:sp>
        <p:nvSpPr>
          <p:cNvPr id="8" name="Text 5"/>
          <p:cNvSpPr/>
          <p:nvPr/>
        </p:nvSpPr>
        <p:spPr>
          <a:xfrm>
            <a:off x="822960" y="4828032"/>
            <a:ext cx="10607040" cy="1051560"/>
          </a:xfrm>
          <a:prstGeom prst="rect">
            <a:avLst/>
          </a:prstGeom>
          <a:noFill/>
          <a:ln/>
        </p:spPr>
        <p:txBody>
          <a:bodyPr wrap="square" lIns="0" tIns="0" rIns="0" bIns="0" rtlCol="0" anchor="ctr"/>
          <a:lstStyle/>
          <a:p>
            <a:pPr indent="0" marL="0">
              <a:buNone/>
            </a:pPr>
            <a:r>
              <a:rPr lang="en-US" sz="1700" b="1" dirty="0">
                <a:solidFill>
                  <a:srgbClr val="1E3A5F"/>
                </a:solidFill>
                <a:latin typeface="Arial" pitchFamily="34" charset="0"/>
                <a:ea typeface="Arial" pitchFamily="34" charset="-122"/>
                <a:cs typeface="Arial" pitchFamily="34" charset="-120"/>
              </a:rPr>
              <a:t>All three LLM arms are told what the task is. </a:t>
            </a:r>
            <a:pPr indent="0" marL="0">
              <a:buNone/>
            </a:pPr>
            <a:r>
              <a:rPr lang="en-US" sz="1700" dirty="0">
                <a:solidFill>
                  <a:srgbClr val="1A1A2E"/>
                </a:solidFill>
                <a:latin typeface="Arial" pitchFamily="34" charset="0"/>
                <a:ea typeface="Arial" pitchFamily="34" charset="-122"/>
                <a:cs typeface="Arial" pitchFamily="34" charset="-120"/>
              </a:rPr>
              <a:t>Open-loop never sees how its circuits scored, closed-loop does, and the hybrid lets random pick the first two before the LLM takes over.</a:t>
            </a:r>
            <a:endParaRPr lang="en-US" sz="17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The fixed ansatz is size-matched at 16 gates, so it cannot be beaten or helped by circuit size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RESULT</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The LLM beats the textbook ansatz, never beats random</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16 gates, 5 qubits, B = 8, 30 seeds</a:t>
            </a:r>
            <a:pPr algn="r" indent="0" marL="0">
              <a:buNone/>
            </a:pPr>
            <a:r>
              <a:rPr lang="en-US" sz="1150" dirty="0">
                <a:solidFill>
                  <a:srgbClr val="55606E"/>
                </a:solidFill>
                <a:latin typeface="Arial" pitchFamily="34" charset="0"/>
                <a:ea typeface="Arial" pitchFamily="34" charset="-122"/>
                <a:cs typeface="Arial" pitchFamily="34" charset="-120"/>
              </a:rPr>
              <a:t>   all four tasks</a:t>
            </a:r>
            <a:endParaRPr lang="en-US" sz="1150" dirty="0"/>
          </a:p>
        </p:txBody>
      </p:sp>
      <p:pic>
        <p:nvPicPr>
          <p:cNvPr id="6" name="Image 0" descr="/Users/hatanakatomoya/Developer/Sim/llm-vqc/.claude/worktrees/github-author-config-faee6e/docs/presentation/mini5/figures/fig_v2_main.png">    </p:cNvPr>
          <p:cNvPicPr>
            <a:picLocks noChangeAspect="1"/>
          </p:cNvPicPr>
          <p:nvPr/>
        </p:nvPicPr>
        <p:blipFill>
          <a:blip r:embed="rId1"/>
          <a:stretch>
            <a:fillRect/>
          </a:stretch>
        </p:blipFill>
        <p:spPr>
          <a:xfrm>
            <a:off x="274320" y="1371600"/>
            <a:ext cx="11658600" cy="3337560"/>
          </a:xfrm>
          <a:prstGeom prst="rect">
            <a:avLst/>
          </a:prstGeom>
        </p:spPr>
      </p:pic>
      <p:sp>
        <p:nvSpPr>
          <p:cNvPr id="7" name="Shape 4"/>
          <p:cNvSpPr/>
          <p:nvPr/>
        </p:nvSpPr>
        <p:spPr>
          <a:xfrm>
            <a:off x="548640" y="5029200"/>
            <a:ext cx="11109960" cy="1051560"/>
          </a:xfrm>
          <a:prstGeom prst="roundRect">
            <a:avLst>
              <a:gd name="adj" fmla="val 6957"/>
            </a:avLst>
          </a:prstGeom>
          <a:solidFill>
            <a:srgbClr val="F4F6FA"/>
          </a:solidFill>
          <a:ln w="12700">
            <a:solidFill>
              <a:srgbClr val="D8DDE6"/>
            </a:solidFill>
            <a:prstDash val="solid"/>
          </a:ln>
        </p:spPr>
      </p:sp>
      <p:sp>
        <p:nvSpPr>
          <p:cNvPr id="8" name="Text 5"/>
          <p:cNvSpPr/>
          <p:nvPr/>
        </p:nvSpPr>
        <p:spPr>
          <a:xfrm>
            <a:off x="777240" y="5138928"/>
            <a:ext cx="10607040" cy="822960"/>
          </a:xfrm>
          <a:prstGeom prst="rect">
            <a:avLst/>
          </a:prstGeom>
          <a:noFill/>
          <a:ln/>
        </p:spPr>
        <p:txBody>
          <a:bodyPr wrap="square" lIns="0" tIns="0" rIns="0" bIns="0" rtlCol="0" anchor="ctr"/>
          <a:lstStyle/>
          <a:p>
            <a:pPr indent="0" marL="0">
              <a:buNone/>
            </a:pPr>
            <a:r>
              <a:rPr lang="en-US" sz="1650" b="1" dirty="0">
                <a:solidFill>
                  <a:srgbClr val="0B7A4B"/>
                </a:solidFill>
                <a:latin typeface="Arial" pitchFamily="34" charset="0"/>
                <a:ea typeface="Arial" pitchFamily="34" charset="-122"/>
                <a:cs typeface="Arial" pitchFamily="34" charset="-120"/>
              </a:rPr>
              <a:t>vs the fixed ansatz: significant on all 4 tasks. </a:t>
            </a:r>
            <a:pPr indent="0" marL="0">
              <a:buNone/>
            </a:pPr>
            <a:r>
              <a:rPr lang="en-US" sz="1650" b="1" dirty="0">
                <a:solidFill>
                  <a:srgbClr val="B3261E"/>
                </a:solidFill>
                <a:latin typeface="Arial" pitchFamily="34" charset="0"/>
                <a:ea typeface="Arial" pitchFamily="34" charset="-122"/>
                <a:cs typeface="Arial" pitchFamily="34" charset="-120"/>
              </a:rPr>
              <a:t>  vs random: no difference detected on any. </a:t>
            </a:r>
            <a:pPr indent="0" marL="0">
              <a:buNone/>
            </a:pPr>
            <a:r>
              <a:rPr lang="en-US" sz="1650" dirty="0">
                <a:solidFill>
                  <a:srgbClr val="1A1A2E"/>
                </a:solidFill>
                <a:latin typeface="Arial" pitchFamily="34" charset="0"/>
                <a:ea typeface="Arial" pitchFamily="34" charset="-122"/>
                <a:cs typeface="Arial" pitchFamily="34" charset="-120"/>
              </a:rPr>
              <a:t>Random holds the better median on T2, T3 and T4 (T3 0.180 vs 0.212); the LLM leads only on T1 (0.110 vs 0.119), and not significantly.</a:t>
            </a:r>
            <a:endParaRPr lang="en-US" sz="165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Wilcoxon signed-rank on 30 paired seeds; Holm over the 12 pre-declared primary contrasts · data/ctx_analysis.json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METRIC CHECK</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 T4 the two scores tell different stories</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16 gates, 5 qubits, B = 8, 30 seeds</a:t>
            </a:r>
            <a:pPr algn="r" indent="0" marL="0">
              <a:buNone/>
            </a:pPr>
            <a:r>
              <a:rPr lang="en-US" sz="1150" dirty="0">
                <a:solidFill>
                  <a:srgbClr val="55606E"/>
                </a:solidFill>
                <a:latin typeface="Arial" pitchFamily="34" charset="0"/>
                <a:ea typeface="Arial" pitchFamily="34" charset="-122"/>
                <a:cs typeface="Arial" pitchFamily="34" charset="-120"/>
              </a:rPr>
              <a:t>   T4 only (one bump or two)</a:t>
            </a:r>
            <a:endParaRPr lang="en-US" sz="1150" dirty="0"/>
          </a:p>
        </p:txBody>
      </p:sp>
      <p:pic>
        <p:nvPicPr>
          <p:cNvPr id="6" name="Image 0" descr="/Users/hatanakatomoya/Developer/Sim/llm-vqc/.claude/worktrees/github-author-config-faee6e/docs/presentation/mini5/figures/fig_v2_t4.png">    </p:cNvPr>
          <p:cNvPicPr>
            <a:picLocks noChangeAspect="1"/>
          </p:cNvPicPr>
          <p:nvPr/>
        </p:nvPicPr>
        <p:blipFill>
          <a:blip r:embed="rId1"/>
          <a:stretch>
            <a:fillRect/>
          </a:stretch>
        </p:blipFill>
        <p:spPr>
          <a:xfrm>
            <a:off x="822960" y="1417320"/>
            <a:ext cx="7589520" cy="3291840"/>
          </a:xfrm>
          <a:prstGeom prst="rect">
            <a:avLst/>
          </a:prstGeom>
        </p:spPr>
      </p:pic>
      <p:sp>
        <p:nvSpPr>
          <p:cNvPr id="7" name="Text 4"/>
          <p:cNvSpPr/>
          <p:nvPr/>
        </p:nvSpPr>
        <p:spPr>
          <a:xfrm>
            <a:off x="8641080" y="1600200"/>
            <a:ext cx="3108960" cy="3017520"/>
          </a:xfrm>
          <a:prstGeom prst="rect">
            <a:avLst/>
          </a:prstGeom>
          <a:noFill/>
          <a:ln/>
        </p:spPr>
        <p:txBody>
          <a:bodyPr wrap="square" lIns="0" tIns="0" rIns="0" bIns="0" rtlCol="0" anchor="t"/>
          <a:lstStyle/>
          <a:p>
            <a:pPr indent="0" marL="0">
              <a:buNone/>
            </a:pPr>
            <a:r>
              <a:rPr lang="en-US" sz="1700" b="1" dirty="0">
                <a:solidFill>
                  <a:srgbClr val="1E3A5F"/>
                </a:solidFill>
                <a:latin typeface="Arial" pitchFamily="34" charset="0"/>
                <a:ea typeface="Arial" pitchFamily="34" charset="-122"/>
                <a:cs typeface="Arial" pitchFamily="34" charset="-120"/>
              </a:rPr>
              <a:t>AUROC
</a:t>
            </a:r>
            <a:pPr indent="0" marL="0">
              <a:buNone/>
            </a:pPr>
            <a:r>
              <a:rPr lang="en-US" sz="1500" dirty="0">
                <a:solidFill>
                  <a:srgbClr val="1A1A2E"/>
                </a:solidFill>
                <a:latin typeface="Arial" pitchFamily="34" charset="0"/>
                <a:ea typeface="Arial" pitchFamily="34" charset="-122"/>
                <a:cs typeface="Arial" pitchFamily="34" charset="-120"/>
              </a:rPr>
              <a:t>= how often the model ranks a two-bump signal above a one-bump one. 1.0 perfect, 0.5 a coin flip.
</a:t>
            </a:r>
            <a:pPr indent="0" marL="0">
              <a:buNone/>
            </a:pPr>
            <a:r>
              <a:rPr lang="en-US" sz="1700" b="1" dirty="0">
                <a:solidFill>
                  <a:srgbClr val="1E3A5F"/>
                </a:solidFill>
                <a:latin typeface="Arial" pitchFamily="34" charset="0"/>
                <a:ea typeface="Arial" pitchFamily="34" charset="-122"/>
                <a:cs typeface="Arial" pitchFamily="34" charset="-120"/>
              </a:rPr>
              <a:t>Why report both
</a:t>
            </a:r>
            <a:pPr indent="0" marL="0">
              <a:buNone/>
            </a:pPr>
            <a:r>
              <a:rPr lang="en-US" sz="1500" dirty="0">
                <a:solidFill>
                  <a:srgbClr val="1A1A2E"/>
                </a:solidFill>
                <a:latin typeface="Arial" pitchFamily="34" charset="0"/>
                <a:ea typeface="Arial" pitchFamily="34" charset="-122"/>
                <a:cs typeface="Arial" pitchFamily="34" charset="-120"/>
              </a:rPr>
              <a:t>RMSE also punishes outputting 0.45 / 0.55 instead of 0 / 1. AUROC only cares about the order, so one alone can assert the wrong winner.</a:t>
            </a:r>
            <a:endParaRPr lang="en-US" sz="1700" dirty="0"/>
          </a:p>
        </p:txBody>
      </p:sp>
      <p:sp>
        <p:nvSpPr>
          <p:cNvPr id="8" name="Shape 5"/>
          <p:cNvSpPr/>
          <p:nvPr/>
        </p:nvSpPr>
        <p:spPr>
          <a:xfrm>
            <a:off x="548640" y="5029200"/>
            <a:ext cx="11109960" cy="1051560"/>
          </a:xfrm>
          <a:prstGeom prst="roundRect">
            <a:avLst>
              <a:gd name="adj" fmla="val 8696"/>
            </a:avLst>
          </a:prstGeom>
          <a:solidFill>
            <a:srgbClr val="FDF6E8"/>
          </a:solidFill>
          <a:ln w="15240">
            <a:solidFill>
              <a:srgbClr val="B8860B"/>
            </a:solidFill>
            <a:prstDash val="solid"/>
          </a:ln>
        </p:spPr>
      </p:sp>
      <p:sp>
        <p:nvSpPr>
          <p:cNvPr id="9" name="Text 6"/>
          <p:cNvSpPr/>
          <p:nvPr/>
        </p:nvSpPr>
        <p:spPr>
          <a:xfrm>
            <a:off x="777240" y="5138928"/>
            <a:ext cx="10607040" cy="822960"/>
          </a:xfrm>
          <a:prstGeom prst="rect">
            <a:avLst/>
          </a:prstGeom>
          <a:noFill/>
          <a:ln/>
        </p:spPr>
        <p:txBody>
          <a:bodyPr wrap="square" lIns="0" tIns="0" rIns="0" bIns="0" rtlCol="0" anchor="ctr"/>
          <a:lstStyle/>
          <a:p>
            <a:pPr indent="0" marL="0">
              <a:buNone/>
            </a:pPr>
            <a:r>
              <a:rPr lang="en-US" sz="1700" b="1" dirty="0">
                <a:solidFill>
                  <a:srgbClr val="1A1A2E"/>
                </a:solidFill>
                <a:latin typeface="Arial" pitchFamily="34" charset="0"/>
                <a:ea typeface="Arial" pitchFamily="34" charset="-122"/>
                <a:cs typeface="Arial" pitchFamily="34" charset="-120"/>
              </a:rPr>
              <a:t>Neither reading is strong. </a:t>
            </a:r>
            <a:pPr indent="0" marL="0">
              <a:buNone/>
            </a:pPr>
            <a:r>
              <a:rPr lang="en-US" sz="1700" dirty="0">
                <a:solidFill>
                  <a:srgbClr val="1A1A2E"/>
                </a:solidFill>
                <a:latin typeface="Arial" pitchFamily="34" charset="0"/>
                <a:ea typeface="Arial" pitchFamily="34" charset="-122"/>
                <a:cs typeface="Arial" pitchFamily="34" charset="-120"/>
              </a:rPr>
              <a:t>Every method sits near 0.50 RMSE and barely above chance on AUROC. Sixteen gates without training do not solve T4, and no arm separates from the others.</a:t>
            </a:r>
            <a:endParaRPr lang="en-US" sz="1700" dirty="0"/>
          </a:p>
        </p:txBody>
      </p:sp>
      <p:sp>
        <p:nvSpPr>
          <p:cNvPr id="10" name="Text 7"/>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AUROC computed from the identical predictions used for the RMSE, on the same single test evaluation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ATTRIBUTION (EARLIER RUN)</a:t>
            </a:r>
            <a:endParaRPr lang="en-US" sz="1300" dirty="0"/>
          </a:p>
        </p:txBody>
      </p:sp>
      <p:sp>
        <p:nvSpPr>
          <p:cNvPr id="3" name="Text 1"/>
          <p:cNvSpPr/>
          <p:nvPr/>
        </p:nvSpPr>
        <p:spPr>
          <a:xfrm>
            <a:off x="502920" y="548640"/>
            <a:ext cx="11185855" cy="822960"/>
          </a:xfrm>
          <a:prstGeom prst="rect">
            <a:avLst/>
          </a:prstGeom>
          <a:noFill/>
          <a:ln/>
        </p:spPr>
        <p:txBody>
          <a:bodyPr wrap="square" lIns="0" tIns="0" rIns="0" bIns="0" rtlCol="0" anchor="ctr"/>
          <a:lstStyle/>
          <a:p>
            <a:pPr indent="0" marL="0">
              <a:buNone/>
            </a:pPr>
            <a:r>
              <a:rPr lang="en-US" sz="2400" b="1" dirty="0">
                <a:solidFill>
                  <a:srgbClr val="1E3A5F"/>
                </a:solidFill>
                <a:latin typeface="Arial" pitchFamily="34" charset="0"/>
                <a:ea typeface="Arial" pitchFamily="34" charset="-122"/>
                <a:cs typeface="Arial" pitchFamily="34" charset="-120"/>
              </a:rPr>
              <a:t>Last week's advantage was a size decision, not a design one</a:t>
            </a:r>
            <a:endParaRPr lang="en-US" sz="24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A SEPARATE, EARLIER RUN</a:t>
            </a:r>
            <a:pPr algn="r" indent="0" marL="0">
              <a:buNone/>
            </a:pPr>
            <a:r>
              <a:rPr lang="en-US" sz="1150" dirty="0">
                <a:solidFill>
                  <a:srgbClr val="55606E"/>
                </a:solidFill>
                <a:latin typeface="Arial" pitchFamily="34" charset="0"/>
                <a:ea typeface="Arial" pitchFamily="34" charset="-122"/>
                <a:cs typeface="Arial" pitchFamily="34" charset="-120"/>
              </a:rPr>
              <a:t>   5 gates, 3 qubits, 10 seeds - not the run on slides 6, 7, 9</a:t>
            </a:r>
            <a:endParaRPr lang="en-US" sz="1150" dirty="0"/>
          </a:p>
        </p:txBody>
      </p:sp>
      <p:pic>
        <p:nvPicPr>
          <p:cNvPr id="6" name="Image 0" descr="/Users/hatanakatomoya/Developer/Sim/llm-vqc/.claude/worktrees/github-author-config-faee6e/docs/presentation/mini5/figures/fig_size_confound.png">    </p:cNvPr>
          <p:cNvPicPr>
            <a:picLocks noChangeAspect="1"/>
          </p:cNvPicPr>
          <p:nvPr/>
        </p:nvPicPr>
        <p:blipFill>
          <a:blip r:embed="rId1"/>
          <a:stretch>
            <a:fillRect/>
          </a:stretch>
        </p:blipFill>
        <p:spPr>
          <a:xfrm>
            <a:off x="274320" y="1371600"/>
            <a:ext cx="11658600" cy="3474720"/>
          </a:xfrm>
          <a:prstGeom prst="rect">
            <a:avLst/>
          </a:prstGeom>
        </p:spPr>
      </p:pic>
      <p:sp>
        <p:nvSpPr>
          <p:cNvPr id="7" name="Shape 4"/>
          <p:cNvSpPr/>
          <p:nvPr/>
        </p:nvSpPr>
        <p:spPr>
          <a:xfrm>
            <a:off x="548640" y="5074920"/>
            <a:ext cx="11109960" cy="1097280"/>
          </a:xfrm>
          <a:prstGeom prst="roundRect">
            <a:avLst>
              <a:gd name="adj" fmla="val 6667"/>
            </a:avLst>
          </a:prstGeom>
          <a:solidFill>
            <a:srgbClr val="F4F6FA"/>
          </a:solidFill>
          <a:ln w="12700">
            <a:solidFill>
              <a:srgbClr val="D8DDE6"/>
            </a:solidFill>
            <a:prstDash val="solid"/>
          </a:ln>
        </p:spPr>
      </p:sp>
      <p:sp>
        <p:nvSpPr>
          <p:cNvPr id="8" name="Text 5"/>
          <p:cNvSpPr/>
          <p:nvPr/>
        </p:nvSpPr>
        <p:spPr>
          <a:xfrm>
            <a:off x="777240" y="5166360"/>
            <a:ext cx="10607040" cy="914400"/>
          </a:xfrm>
          <a:prstGeom prst="rect">
            <a:avLst/>
          </a:prstGeom>
          <a:noFill/>
          <a:ln/>
        </p:spPr>
        <p:txBody>
          <a:bodyPr wrap="square" lIns="0" tIns="0" rIns="0" bIns="0" rtlCol="0" anchor="ctr"/>
          <a:lstStyle/>
          <a:p>
            <a:pPr indent="0" marL="0">
              <a:buNone/>
            </a:pPr>
            <a:r>
              <a:rPr lang="en-US" sz="1700" b="1" dirty="0">
                <a:solidFill>
                  <a:srgbClr val="1A1A2E"/>
                </a:solidFill>
                <a:latin typeface="Arial" pitchFamily="34" charset="0"/>
                <a:ea typeface="Arial" pitchFamily="34" charset="-122"/>
                <a:cs typeface="Arial" pitchFamily="34" charset="-120"/>
              </a:rPr>
              <a:t>Free the length and only Random gets worse </a:t>
            </a:r>
            <a:pPr indent="0" marL="0">
              <a:buNone/>
            </a:pPr>
            <a:r>
              <a:rPr lang="en-US" sz="1700" dirty="0">
                <a:solidFill>
                  <a:srgbClr val="1A1A2E"/>
                </a:solidFill>
                <a:latin typeface="Arial" pitchFamily="34" charset="0"/>
                <a:ea typeface="Arial" pitchFamily="34" charset="-122"/>
                <a:cs typeface="Arial" pitchFamily="34" charset="-120"/>
              </a:rPr>
              <a:t>(0.139 → 0.167); the LLM does not move (0.170 → 0.170), because it was already asking for 5. At the pilot's setting they meet.</a:t>
            </a:r>
            <a:endParaRPr lang="en-US" sz="17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This attribution needed the pilot's own 5-gate space, so it has its own runs: all four tasks, 10 seeds, T1 plotted because the pilot used that family · data/condition_comparison.json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A HYPOTHESIS, TESTED AND REFUTED</a:t>
            </a:r>
            <a:endParaRPr lang="en-US" sz="1300" dirty="0"/>
          </a:p>
        </p:txBody>
      </p:sp>
      <p:sp>
        <p:nvSpPr>
          <p:cNvPr id="3" name="Text 1"/>
          <p:cNvSpPr/>
          <p:nvPr/>
        </p:nvSpPr>
        <p:spPr>
          <a:xfrm>
            <a:off x="502920" y="548640"/>
            <a:ext cx="11185855" cy="822960"/>
          </a:xfrm>
          <a:prstGeom prst="rect">
            <a:avLst/>
          </a:prstGeom>
          <a:noFill/>
          <a:ln/>
        </p:spPr>
        <p:txBody>
          <a:bodyPr wrap="square" lIns="0" tIns="0" rIns="0" bIns="0" rtlCol="0" anchor="ctr"/>
          <a:lstStyle/>
          <a:p>
            <a:pPr indent="0" marL="0">
              <a:buNone/>
            </a:pPr>
            <a:r>
              <a:rPr lang="en-US" sz="2400" b="1" dirty="0">
                <a:solidFill>
                  <a:srgbClr val="1E3A5F"/>
                </a:solidFill>
                <a:latin typeface="Arial" pitchFamily="34" charset="0"/>
                <a:ea typeface="Arial" pitchFamily="34" charset="-122"/>
                <a:cs typeface="Arial" pitchFamily="34" charset="-120"/>
              </a:rPr>
              <a:t>The LLM's "refinement skill" was the room a bad start leaves</a:t>
            </a:r>
            <a:endParaRPr lang="en-US" sz="24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16 gates, B = 8, 30 seeds</a:t>
            </a:r>
            <a:pPr algn="r" indent="0" marL="0">
              <a:buNone/>
            </a:pPr>
            <a:r>
              <a:rPr lang="en-US" sz="1150" dirty="0">
                <a:solidFill>
                  <a:srgbClr val="55606E"/>
                </a:solidFill>
                <a:latin typeface="Arial" pitchFamily="34" charset="0"/>
                <a:ea typeface="Arial" pitchFamily="34" charset="-122"/>
                <a:cs typeface="Arial" pitchFamily="34" charset="-120"/>
              </a:rPr>
              <a:t>   median over all four tasks</a:t>
            </a:r>
            <a:endParaRPr lang="en-US" sz="1150" dirty="0"/>
          </a:p>
        </p:txBody>
      </p:sp>
      <p:pic>
        <p:nvPicPr>
          <p:cNvPr id="6" name="Image 0" descr="/Users/hatanakatomoya/Developer/Sim/llm-vqc/.claude/worktrees/github-author-config-faee6e/docs/presentation/mini5/figures/fig_v2_mechanism.png">    </p:cNvPr>
          <p:cNvPicPr>
            <a:picLocks noChangeAspect="1"/>
          </p:cNvPicPr>
          <p:nvPr/>
        </p:nvPicPr>
        <p:blipFill>
          <a:blip r:embed="rId1"/>
          <a:stretch>
            <a:fillRect/>
          </a:stretch>
        </p:blipFill>
        <p:spPr>
          <a:xfrm>
            <a:off x="685800" y="1417320"/>
            <a:ext cx="10789920" cy="3931920"/>
          </a:xfrm>
          <a:prstGeom prst="rect">
            <a:avLst/>
          </a:prstGeom>
        </p:spPr>
      </p:pic>
      <p:sp>
        <p:nvSpPr>
          <p:cNvPr id="7" name="Shape 4"/>
          <p:cNvSpPr/>
          <p:nvPr/>
        </p:nvSpPr>
        <p:spPr>
          <a:xfrm>
            <a:off x="548640" y="5486400"/>
            <a:ext cx="11109960" cy="841248"/>
          </a:xfrm>
          <a:prstGeom prst="roundRect">
            <a:avLst>
              <a:gd name="adj" fmla="val 8696"/>
            </a:avLst>
          </a:prstGeom>
          <a:solidFill>
            <a:srgbClr val="FDF6E8"/>
          </a:solidFill>
          <a:ln w="13970">
            <a:solidFill>
              <a:srgbClr val="B8860B"/>
            </a:solidFill>
            <a:prstDash val="solid"/>
          </a:ln>
        </p:spPr>
      </p:sp>
      <p:sp>
        <p:nvSpPr>
          <p:cNvPr id="8" name="Text 5"/>
          <p:cNvSpPr/>
          <p:nvPr/>
        </p:nvSpPr>
        <p:spPr>
          <a:xfrm>
            <a:off x="777240" y="5577840"/>
            <a:ext cx="10607040" cy="685800"/>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I built the hybrid arm expecting it to win. </a:t>
            </a:r>
            <a:pPr indent="0" marL="0">
              <a:buNone/>
            </a:pPr>
            <a:r>
              <a:rPr lang="en-US" sz="1600" dirty="0">
                <a:solidFill>
                  <a:srgbClr val="1A1A2E"/>
                </a:solidFill>
                <a:latin typeface="Arial" pitchFamily="34" charset="0"/>
                <a:ea typeface="Arial" pitchFamily="34" charset="-122"/>
                <a:cs typeface="Arial" pitchFamily="34" charset="-120"/>
              </a:rPr>
              <a:t>It reached the best final score of any arm and still could not beat random - because the ability it was built to exploit was not there.</a:t>
            </a:r>
            <a:endParaRPr lang="en-US" sz="16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Hybrid = random draws candidates 1-2, the LLM proposes 3-8 having seen their validation scores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I can and cannot claim</a:t>
            </a:r>
            <a:endParaRPr lang="en-US" sz="3000" dirty="0"/>
          </a:p>
        </p:txBody>
      </p:sp>
      <p:sp>
        <p:nvSpPr>
          <p:cNvPr id="3" name="Shape 1"/>
          <p:cNvSpPr/>
          <p:nvPr/>
        </p:nvSpPr>
        <p:spPr>
          <a:xfrm>
            <a:off x="640080" y="1188720"/>
            <a:ext cx="5349240" cy="3566160"/>
          </a:xfrm>
          <a:prstGeom prst="roundRect">
            <a:avLst>
              <a:gd name="adj" fmla="val 2564"/>
            </a:avLst>
          </a:prstGeom>
          <a:solidFill>
            <a:srgbClr val="FFFFFF">
              <a:alpha val="10000"/>
            </a:srgbClr>
          </a:solidFill>
          <a:ln w="12700">
            <a:solidFill>
              <a:srgbClr val="8FA6C4"/>
            </a:solidFill>
            <a:prstDash val="solid"/>
          </a:ln>
        </p:spPr>
      </p:sp>
      <p:sp>
        <p:nvSpPr>
          <p:cNvPr id="4" name="Text 2"/>
          <p:cNvSpPr/>
          <p:nvPr/>
        </p:nvSpPr>
        <p:spPr>
          <a:xfrm>
            <a:off x="868680" y="1298448"/>
            <a:ext cx="4937760" cy="365760"/>
          </a:xfrm>
          <a:prstGeom prst="rect">
            <a:avLst/>
          </a:prstGeom>
          <a:noFill/>
          <a:ln/>
        </p:spPr>
        <p:txBody>
          <a:bodyPr wrap="square" lIns="0" tIns="0" rIns="0" bIns="0" rtlCol="0" anchor="ctr"/>
          <a:lstStyle/>
          <a:p>
            <a:pPr indent="0" marL="0">
              <a:buNone/>
            </a:pPr>
            <a:r>
              <a:rPr lang="en-US" sz="1700" b="1" dirty="0">
                <a:solidFill>
                  <a:srgbClr val="9FE3C0"/>
                </a:solidFill>
                <a:latin typeface="Arial" pitchFamily="34" charset="0"/>
                <a:ea typeface="Arial" pitchFamily="34" charset="-122"/>
                <a:cs typeface="Arial" pitchFamily="34" charset="-120"/>
              </a:rPr>
              <a:t>Supported</a:t>
            </a:r>
            <a:endParaRPr lang="en-US" sz="1700" dirty="0"/>
          </a:p>
        </p:txBody>
      </p:sp>
      <p:sp>
        <p:nvSpPr>
          <p:cNvPr id="5" name="Text 3"/>
          <p:cNvSpPr/>
          <p:nvPr/>
        </p:nvSpPr>
        <p:spPr>
          <a:xfrm>
            <a:off x="932688" y="1783080"/>
            <a:ext cx="4846320" cy="283464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The LLM beats a textbook ansatz on all 4 tasks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It never beats random search - 30 seeds, 12 pre-declared contrasts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Given free length it picks the maximum ~70% of the time</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Its apparent refinement skill vanishes given a good start</a:t>
            </a:r>
            <a:endParaRPr lang="en-US" sz="1450" dirty="0"/>
          </a:p>
        </p:txBody>
      </p:sp>
      <p:sp>
        <p:nvSpPr>
          <p:cNvPr id="6" name="Shape 4"/>
          <p:cNvSpPr/>
          <p:nvPr/>
        </p:nvSpPr>
        <p:spPr>
          <a:xfrm>
            <a:off x="6263640" y="1188720"/>
            <a:ext cx="5349240" cy="3566160"/>
          </a:xfrm>
          <a:prstGeom prst="roundRect">
            <a:avLst>
              <a:gd name="adj" fmla="val 2564"/>
            </a:avLst>
          </a:prstGeom>
          <a:solidFill>
            <a:srgbClr val="FFFFFF">
              <a:alpha val="10000"/>
            </a:srgbClr>
          </a:solidFill>
          <a:ln w="12700">
            <a:solidFill>
              <a:srgbClr val="8FA6C4"/>
            </a:solidFill>
            <a:prstDash val="solid"/>
          </a:ln>
        </p:spPr>
      </p:sp>
      <p:sp>
        <p:nvSpPr>
          <p:cNvPr id="7" name="Text 5"/>
          <p:cNvSpPr/>
          <p:nvPr/>
        </p:nvSpPr>
        <p:spPr>
          <a:xfrm>
            <a:off x="6492240" y="1298448"/>
            <a:ext cx="4937760" cy="365760"/>
          </a:xfrm>
          <a:prstGeom prst="rect">
            <a:avLst/>
          </a:prstGeom>
          <a:noFill/>
          <a:ln/>
        </p:spPr>
        <p:txBody>
          <a:bodyPr wrap="square" lIns="0" tIns="0" rIns="0" bIns="0" rtlCol="0" anchor="ctr"/>
          <a:lstStyle/>
          <a:p>
            <a:pPr indent="0" marL="0">
              <a:buNone/>
            </a:pPr>
            <a:r>
              <a:rPr lang="en-US" sz="1700" b="1" dirty="0">
                <a:solidFill>
                  <a:srgbClr val="FFC4B8"/>
                </a:solidFill>
                <a:latin typeface="Arial" pitchFamily="34" charset="0"/>
                <a:ea typeface="Arial" pitchFamily="34" charset="-122"/>
                <a:cs typeface="Arial" pitchFamily="34" charset="-120"/>
              </a:rPr>
              <a:t>NOT supported</a:t>
            </a:r>
            <a:endParaRPr lang="en-US" sz="1700" dirty="0"/>
          </a:p>
        </p:txBody>
      </p:sp>
      <p:sp>
        <p:nvSpPr>
          <p:cNvPr id="8" name="Text 6"/>
          <p:cNvSpPr/>
          <p:nvPr/>
        </p:nvSpPr>
        <p:spPr>
          <a:xfrm>
            <a:off x="6556248" y="1783080"/>
            <a:ext cx="4846320" cy="283464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"LLMs cannot design circuits" - one small model, B = 8</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"Task context does not help" - never A/B tested at equal seeds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Anything about hardware - this is exact simulation</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Comparing RMSE across different tasks</a:t>
            </a:r>
            <a:endParaRPr lang="en-US" sz="1450" dirty="0"/>
          </a:p>
        </p:txBody>
      </p:sp>
      <p:sp>
        <p:nvSpPr>
          <p:cNvPr id="9" name="Shape 7"/>
          <p:cNvSpPr/>
          <p:nvPr/>
        </p:nvSpPr>
        <p:spPr>
          <a:xfrm>
            <a:off x="640080" y="4983480"/>
            <a:ext cx="10972800" cy="1051560"/>
          </a:xfrm>
          <a:prstGeom prst="roundRect">
            <a:avLst>
              <a:gd name="adj" fmla="val 8696"/>
            </a:avLst>
          </a:prstGeom>
          <a:solidFill>
            <a:srgbClr val="FFFFFF"/>
          </a:solidFill>
          <a:ln w="20320">
            <a:solidFill>
              <a:srgbClr val="B3261E"/>
            </a:solidFill>
            <a:prstDash val="solid"/>
          </a:ln>
        </p:spPr>
      </p:sp>
      <p:sp>
        <p:nvSpPr>
          <p:cNvPr id="10" name="Text 8"/>
          <p:cNvSpPr/>
          <p:nvPr/>
        </p:nvSpPr>
        <p:spPr>
          <a:xfrm>
            <a:off x="868680" y="5093208"/>
            <a:ext cx="10515600" cy="868680"/>
          </a:xfrm>
          <a:prstGeom prst="rect">
            <a:avLst/>
          </a:prstGeom>
          <a:noFill/>
          <a:ln/>
        </p:spPr>
        <p:txBody>
          <a:bodyPr wrap="square" lIns="0" tIns="0" rIns="0" bIns="0" rtlCol="0" anchor="ctr"/>
          <a:lstStyle/>
          <a:p>
            <a:pPr indent="0" marL="0">
              <a:buNone/>
            </a:pPr>
            <a:r>
              <a:rPr lang="en-US" sz="1800" b="1" dirty="0">
                <a:solidFill>
                  <a:srgbClr val="B3261E"/>
                </a:solidFill>
                <a:latin typeface="Arial" pitchFamily="34" charset="0"/>
                <a:ea typeface="Arial" pitchFamily="34" charset="-122"/>
                <a:cs typeface="Arial" pitchFamily="34" charset="-120"/>
              </a:rPr>
              <a:t>Next: </a:t>
            </a:r>
            <a:pPr indent="0" marL="0">
              <a:buNone/>
            </a:pPr>
            <a:r>
              <a:rPr lang="en-US" sz="1800" dirty="0">
                <a:solidFill>
                  <a:srgbClr val="1A1A2E"/>
                </a:solidFill>
                <a:latin typeface="Arial" pitchFamily="34" charset="0"/>
                <a:ea typeface="Arial" pitchFamily="34" charset="-122"/>
                <a:cs typeface="Arial" pitchFamily="34" charset="-120"/>
              </a:rPr>
              <a:t>give the LLM a decision that is actually hard, and check any advantage the same way.</a:t>
            </a:r>
            <a:endParaRPr lang="en-US" sz="1800" dirty="0"/>
          </a:p>
        </p:txBody>
      </p:sp>
      <p:sp>
        <p:nvSpPr>
          <p:cNvPr id="11" name="Text 9"/>
          <p:cNvSpPr/>
          <p:nvPr/>
        </p:nvSpPr>
        <p:spPr>
          <a:xfrm>
            <a:off x="640080" y="6263640"/>
            <a:ext cx="10972800" cy="274320"/>
          </a:xfrm>
          <a:prstGeom prst="rect">
            <a:avLst/>
          </a:prstGeom>
          <a:noFill/>
          <a:ln/>
        </p:spPr>
        <p:txBody>
          <a:bodyPr wrap="square" lIns="0" tIns="0" rIns="0" bIns="0" rtlCol="0" anchor="ctr"/>
          <a:lstStyle/>
          <a:p>
            <a:pPr indent="0" marL="0">
              <a:buNone/>
            </a:pPr>
            <a:r>
              <a:rPr lang="en-US" sz="1200" dirty="0">
                <a:solidFill>
                  <a:srgbClr val="9FB3CC"/>
                </a:solidFill>
                <a:latin typeface="Arial" pitchFamily="34" charset="0"/>
                <a:ea typeface="Arial" pitchFamily="34" charset="-122"/>
                <a:cs typeface="Arial" pitchFamily="34" charset="-120"/>
              </a:rPr>
              <a:t>600 cells across 3 conditions · 2.9 min for the main run · gpt-5-nano-2025-08-07 · $0.23 total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2026-08-03T21:50:01Z</dcterms:created>
  <dcterms:modified xsi:type="dcterms:W3CDTF">2026-08-03T21:50:01Z</dcterms:modified>
</cp:coreProperties>
</file>