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is deliberately narrow. Last week I reported that LLM-proposed circuits beat random search. This week I removed one degree of freedom from the search space and the advantage largely went away, which changes what that earlier result 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pilot allowed one to five gates. That sounds harmless, but it hands the proposer a free decision that correlates with performance. This week I pinned the length so that decision cannot be made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on this slide on purpose. Three or five qubits, seven gate types, exactly five gates, one angle per gate, no optimizer, no classical parameters. A reader can verify any proposed circuit against these seven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dropped the phrase protected-test RMSE from last week because it was confusing. The discipline behind it is unchanged: the test split is evaluated once, after selection. What changed is only the label.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budget is unique evaluated candidates because that is the quantity every method spends and the one that dominates cost. Duplicates and invalid proposals are the proposer's own problem; they do not earn extra 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medians, not the individual dots. Random is best on T1, T3 and T4. The LLM arms win on T2 and only there. I am reporting this as measured; it is a negative result for the LLM hypothesis at this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why I kept AUROC even though the request was to use plain RMSE everywhere. On T4 the two metrics disagree about who wins, so reporting only one would have asserted something the data does not settle.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I would defend hardest. The pilot rewarded a single decision - ask for the maximum number of gates - and the LLM makes that decision almost every time while a uniform sampler does not. Pin the length and the advantage goes; restore the length and shrink the budget to the pilot's and the two meet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being explicit: the first version of this experiment handicapped closed-loop through a prompt defect. I fixed it and re-ran rather than reporting the handicapped numbers. Even after the fix, feedback did not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 summary is that I removed a confound and a positive result mostly went away. That is a useful outcome: it tells us the earlier benchmark was rewarding the wrong thing, and it tells us what a fair test has to control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5F"/>
        </a:solidFill>
      </p:bgPr>
    </p:bg>
    <p:spTree>
      <p:nvGrpSpPr>
        <p:cNvPr id="1" name=""/>
        <p:cNvGrpSpPr/>
        <p:nvPr/>
      </p:nvGrpSpPr>
      <p:grpSpPr>
        <a:xfrm>
          <a:off x="0" y="0"/>
          <a:ext cx="0" cy="0"/>
          <a:chOff x="0" y="0"/>
          <a:chExt cx="0" cy="0"/>
        </a:xfrm>
      </p:grpSpPr>
      <p:sp>
        <p:nvSpPr>
          <p:cNvPr id="2" name="Text 0"/>
          <p:cNvSpPr/>
          <p:nvPr/>
        </p:nvSpPr>
        <p:spPr>
          <a:xfrm>
            <a:off x="822960" y="1371600"/>
            <a:ext cx="10515600" cy="155448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Arial" pitchFamily="34" charset="0"/>
                <a:ea typeface="Arial" pitchFamily="34" charset="-122"/>
                <a:cs typeface="Arial" pitchFamily="34" charset="-120"/>
              </a:rPr>
              <a:t>Does an LLM design better quantum circuits,</a:t>
            </a:r>
            <a:endParaRPr lang="en-US" sz="4000" dirty="0"/>
          </a:p>
          <a:p>
            <a:pPr indent="0" marL="0">
              <a:lnSpc>
                <a:spcPct val="105000"/>
              </a:lnSpc>
              <a:buNone/>
            </a:pPr>
            <a:r>
              <a:rPr lang="en-US" sz="4000" b="1" dirty="0">
                <a:solidFill>
                  <a:srgbClr val="FFFFFF"/>
                </a:solidFill>
                <a:latin typeface="Arial" pitchFamily="34" charset="0"/>
                <a:ea typeface="Arial" pitchFamily="34" charset="-122"/>
                <a:cs typeface="Arial" pitchFamily="34" charset="-120"/>
              </a:rPr>
              <a:t>or just bigger ones?</a:t>
            </a:r>
            <a:endParaRPr lang="en-US" sz="4000" dirty="0"/>
          </a:p>
        </p:txBody>
      </p:sp>
      <p:sp>
        <p:nvSpPr>
          <p:cNvPr id="3" name="Text 1"/>
          <p:cNvSpPr/>
          <p:nvPr/>
        </p:nvSpPr>
        <p:spPr>
          <a:xfrm>
            <a:off x="822960" y="3063240"/>
            <a:ext cx="10515600" cy="548640"/>
          </a:xfrm>
          <a:prstGeom prst="rect">
            <a:avLst/>
          </a:prstGeom>
          <a:noFill/>
          <a:ln/>
        </p:spPr>
        <p:txBody>
          <a:bodyPr wrap="square" lIns="0" tIns="0" rIns="0" bIns="0" rtlCol="0" anchor="ctr"/>
          <a:lstStyle/>
          <a:p>
            <a:pPr indent="0" marL="0">
              <a:buNone/>
            </a:pPr>
            <a:r>
              <a:rPr lang="en-US" sz="2000" dirty="0">
                <a:solidFill>
                  <a:srgbClr val="CADCFC"/>
                </a:solidFill>
                <a:latin typeface="Arial" pitchFamily="34" charset="0"/>
                <a:ea typeface="Arial" pitchFamily="34" charset="-122"/>
                <a:cs typeface="Arial" pitchFamily="34" charset="-120"/>
              </a:rPr>
              <a:t>A five-gate, fixed-length comparison of LLM-guided and classical circuit search</a:t>
            </a:r>
            <a:endParaRPr lang="en-US" sz="2000" dirty="0"/>
          </a:p>
        </p:txBody>
      </p:sp>
      <p:sp>
        <p:nvSpPr>
          <p:cNvPr id="4" name="Shape 2"/>
          <p:cNvSpPr/>
          <p:nvPr/>
        </p:nvSpPr>
        <p:spPr>
          <a:xfrm>
            <a:off x="822960" y="3886200"/>
            <a:ext cx="10515600" cy="914400"/>
          </a:xfrm>
          <a:prstGeom prst="roundRect">
            <a:avLst>
              <a:gd name="adj" fmla="val 10000"/>
            </a:avLst>
          </a:prstGeom>
          <a:solidFill>
            <a:srgbClr val="FFFFFF">
              <a:alpha val="12000"/>
            </a:srgbClr>
          </a:solidFill>
          <a:ln w="12700">
            <a:solidFill>
              <a:srgbClr val="8FA6C4"/>
            </a:solidFill>
            <a:prstDash val="solid"/>
          </a:ln>
        </p:spPr>
      </p:sp>
      <p:sp>
        <p:nvSpPr>
          <p:cNvPr id="5" name="Text 3"/>
          <p:cNvSpPr/>
          <p:nvPr/>
        </p:nvSpPr>
        <p:spPr>
          <a:xfrm>
            <a:off x="1051560" y="3977640"/>
            <a:ext cx="10058400" cy="731520"/>
          </a:xfrm>
          <a:prstGeom prst="rect">
            <a:avLst/>
          </a:prstGeom>
          <a:noFill/>
          <a:ln/>
        </p:spPr>
        <p:txBody>
          <a:bodyPr wrap="square" lIns="0" tIns="0" rIns="0" bIns="0" rtlCol="0" anchor="ctr"/>
          <a:lstStyle/>
          <a:p>
            <a:pPr indent="0" marL="0">
              <a:buNone/>
            </a:pPr>
            <a:r>
              <a:rPr lang="en-US" sz="1800" b="1" dirty="0">
                <a:solidFill>
                  <a:srgbClr val="FFD9A0"/>
                </a:solidFill>
                <a:latin typeface="Arial" pitchFamily="34" charset="0"/>
                <a:ea typeface="Arial" pitchFamily="34" charset="-122"/>
                <a:cs typeface="Arial" pitchFamily="34" charset="-120"/>
              </a:rPr>
              <a:t>Headline: </a:t>
            </a:r>
            <a:pPr indent="0" marL="0">
              <a:buNone/>
            </a:pPr>
            <a:r>
              <a:rPr lang="en-US" sz="1800" dirty="0">
                <a:solidFill>
                  <a:srgbClr val="FFFFFF"/>
                </a:solidFill>
                <a:latin typeface="Arial" pitchFamily="34" charset="0"/>
                <a:ea typeface="Arial" pitchFamily="34" charset="-122"/>
                <a:cs typeface="Arial" pitchFamily="34" charset="-120"/>
              </a:rPr>
              <a:t>last week's LLM advantage was mostly a circuit-size decision. Remove that one degree of freedom and it disappears on three of four tasks.</a:t>
            </a:r>
            <a:endParaRPr lang="en-US" sz="1800" dirty="0"/>
          </a:p>
        </p:txBody>
      </p:sp>
      <p:sp>
        <p:nvSpPr>
          <p:cNvPr id="6" name="Text 4"/>
          <p:cNvSpPr/>
          <p:nvPr/>
        </p:nvSpPr>
        <p:spPr>
          <a:xfrm>
            <a:off x="822960" y="5394960"/>
            <a:ext cx="7315200" cy="3200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Tomoya Hatanaka</a:t>
            </a:r>
            <a:endParaRPr lang="en-US" sz="1800" dirty="0"/>
          </a:p>
        </p:txBody>
      </p:sp>
      <p:sp>
        <p:nvSpPr>
          <p:cNvPr id="7" name="Text 5"/>
          <p:cNvSpPr/>
          <p:nvPr/>
        </p:nvSpPr>
        <p:spPr>
          <a:xfrm>
            <a:off x="822960" y="5715000"/>
            <a:ext cx="7315200" cy="320040"/>
          </a:xfrm>
          <a:prstGeom prst="rect">
            <a:avLst/>
          </a:prstGeom>
          <a:noFill/>
          <a:ln/>
        </p:spPr>
        <p:txBody>
          <a:bodyPr wrap="square" lIns="0" tIns="0" rIns="0" bIns="0" rtlCol="0" anchor="ctr"/>
          <a:lstStyle/>
          <a:p>
            <a:pPr indent="0" marL="0">
              <a:buNone/>
            </a:pPr>
            <a:r>
              <a:rPr lang="en-US" sz="1600" dirty="0">
                <a:solidFill>
                  <a:srgbClr val="CADCFC"/>
                </a:solidFill>
                <a:latin typeface="Arial" pitchFamily="34" charset="0"/>
                <a:ea typeface="Arial" pitchFamily="34" charset="-122"/>
                <a:cs typeface="Arial" pitchFamily="34" charset="-120"/>
              </a:rPr>
              <a:t>ML4SCI / Google Summer of Code 2026</a:t>
            </a:r>
            <a:endParaRPr lang="en-US" sz="1600" dirty="0"/>
          </a:p>
        </p:txBody>
      </p:sp>
      <p:sp>
        <p:nvSpPr>
          <p:cNvPr id="8" name="Text 6"/>
          <p:cNvSpPr/>
          <p:nvPr/>
        </p:nvSpPr>
        <p:spPr>
          <a:xfrm>
            <a:off x="822960" y="6035040"/>
            <a:ext cx="9144000" cy="274320"/>
          </a:xfrm>
          <a:prstGeom prst="rect">
            <a:avLst/>
          </a:prstGeom>
          <a:noFill/>
          <a:ln/>
        </p:spPr>
        <p:txBody>
          <a:bodyPr wrap="square" lIns="0" tIns="0" rIns="0" bIns="0" rtlCol="0" anchor="ctr"/>
          <a:lstStyle/>
          <a:p>
            <a:pPr indent="0" marL="0">
              <a:buNone/>
            </a:pPr>
            <a:r>
              <a:rPr lang="en-US" sz="1200" dirty="0">
                <a:solidFill>
                  <a:srgbClr val="9FB3CC"/>
                </a:solidFill>
                <a:latin typeface="Arial" pitchFamily="34" charset="0"/>
                <a:ea typeface="Arial" pitchFamily="34" charset="-122"/>
                <a:cs typeface="Arial" pitchFamily="34" charset="-120"/>
              </a:rPr>
              <a:t>July 31, 2026  ·  commit 0c7dff9  ·  experiment/bench-v2-real-llm-cost-minimal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85855" cy="274320"/>
          </a:xfrm>
          <a:prstGeom prst="rect">
            <a:avLst/>
          </a:prstGeom>
          <a:noFill/>
          <a:ln/>
        </p:spPr>
        <p:txBody>
          <a:bodyPr wrap="square" lIns="0" tIns="0" rIns="0" bIns="0" rtlCol="0" anchor="ctr"/>
          <a:lstStyle/>
          <a:p>
            <a:pPr indent="0" marL="0">
              <a:buNone/>
            </a:pPr>
            <a:r>
              <a:rPr lang="en-US" sz="1300" b="1" spc="150" kern="0" dirty="0">
                <a:solidFill>
                  <a:srgbClr val="B3261E"/>
                </a:solidFill>
                <a:latin typeface="Arial" pitchFamily="34" charset="0"/>
                <a:ea typeface="Arial" pitchFamily="34" charset="-122"/>
                <a:cs typeface="Arial" pitchFamily="34" charset="-120"/>
              </a:rPr>
              <a:t>WHAT CHANGED</a:t>
            </a:r>
            <a:endParaRPr lang="en-US" sz="1300" dirty="0"/>
          </a:p>
        </p:txBody>
      </p:sp>
      <p:sp>
        <p:nvSpPr>
          <p:cNvPr id="3" name="Text 1"/>
          <p:cNvSpPr/>
          <p:nvPr/>
        </p:nvSpPr>
        <p:spPr>
          <a:xfrm>
            <a:off x="502920" y="548640"/>
            <a:ext cx="11185855" cy="658368"/>
          </a:xfrm>
          <a:prstGeom prst="rect">
            <a:avLst/>
          </a:prstGeom>
          <a:noFill/>
          <a:ln/>
        </p:spPr>
        <p:txBody>
          <a:bodyPr wrap="square" lIns="0" tIns="0" rIns="0" bIns="0" rtlCol="0" anchor="ctr"/>
          <a:lstStyle/>
          <a:p>
            <a:pPr indent="0" marL="0">
              <a:buNone/>
            </a:pPr>
            <a:r>
              <a:rPr lang="en-US" sz="3000" b="1" dirty="0">
                <a:solidFill>
                  <a:srgbClr val="1E3A5F"/>
                </a:solidFill>
                <a:latin typeface="Arial" pitchFamily="34" charset="0"/>
                <a:ea typeface="Arial" pitchFamily="34" charset="-122"/>
                <a:cs typeface="Arial" pitchFamily="34" charset="-120"/>
              </a:rPr>
              <a:t>Last week's search let the LLM choose the circuit size</a:t>
            </a:r>
            <a:endParaRPr lang="en-US" sz="3000" dirty="0"/>
          </a:p>
        </p:txBody>
      </p:sp>
      <p:sp>
        <p:nvSpPr>
          <p:cNvPr id="4" name="Shape 2"/>
          <p:cNvSpPr/>
          <p:nvPr/>
        </p:nvSpPr>
        <p:spPr>
          <a:xfrm>
            <a:off x="548640" y="1463040"/>
            <a:ext cx="5486400" cy="2788920"/>
          </a:xfrm>
          <a:prstGeom prst="roundRect">
            <a:avLst>
              <a:gd name="adj" fmla="val 3279"/>
            </a:avLst>
          </a:prstGeom>
          <a:solidFill>
            <a:srgbClr val="F4F6FA"/>
          </a:solidFill>
          <a:ln w="17780">
            <a:solidFill>
              <a:srgbClr val="55606E"/>
            </a:solidFill>
            <a:prstDash val="solid"/>
          </a:ln>
        </p:spPr>
      </p:sp>
      <p:sp>
        <p:nvSpPr>
          <p:cNvPr id="5" name="Text 3"/>
          <p:cNvSpPr/>
          <p:nvPr/>
        </p:nvSpPr>
        <p:spPr>
          <a:xfrm>
            <a:off x="777240" y="1572768"/>
            <a:ext cx="5029200" cy="365760"/>
          </a:xfrm>
          <a:prstGeom prst="rect">
            <a:avLst/>
          </a:prstGeom>
          <a:noFill/>
          <a:ln/>
        </p:spPr>
        <p:txBody>
          <a:bodyPr wrap="square" lIns="0" tIns="0" rIns="0" bIns="0" rtlCol="0" anchor="ctr"/>
          <a:lstStyle/>
          <a:p>
            <a:pPr indent="0" marL="0">
              <a:buNone/>
            </a:pPr>
            <a:r>
              <a:rPr lang="en-US" sz="1700" b="1" dirty="0">
                <a:solidFill>
                  <a:srgbClr val="55606E"/>
                </a:solidFill>
                <a:latin typeface="Arial" pitchFamily="34" charset="0"/>
                <a:ea typeface="Arial" pitchFamily="34" charset="-122"/>
                <a:cs typeface="Arial" pitchFamily="34" charset="-120"/>
              </a:rPr>
              <a:t>Last week (2026-07-24 pilot)</a:t>
            </a:r>
            <a:endParaRPr lang="en-US" sz="1700" dirty="0"/>
          </a:p>
        </p:txBody>
      </p:sp>
      <p:sp>
        <p:nvSpPr>
          <p:cNvPr id="6" name="Text 4"/>
          <p:cNvSpPr/>
          <p:nvPr/>
        </p:nvSpPr>
        <p:spPr>
          <a:xfrm>
            <a:off x="841248" y="2057400"/>
            <a:ext cx="4937760" cy="2148840"/>
          </a:xfrm>
          <a:prstGeom prst="rect">
            <a:avLst/>
          </a:prstGeom>
          <a:noFill/>
          <a:ln/>
        </p:spPr>
        <p:txBody>
          <a:bodyPr wrap="square" lIns="0" tIns="0" rIns="0" bIns="0" rtlCol="0" anchor="t"/>
          <a:lstStyle/>
          <a:p>
            <a:pPr marL="342900" indent="-342900">
              <a:lnSpc>
                <a:spcPct val="112000"/>
              </a:lnSpc>
              <a:spcAft>
                <a:spcPts val="500"/>
              </a:spcAft>
              <a:buSzPct val="100000"/>
              <a:buChar char="•"/>
            </a:pPr>
            <a:r>
              <a:rPr lang="en-US" sz="1300" dirty="0">
                <a:solidFill>
                  <a:srgbClr val="1A1A2E"/>
                </a:solidFill>
                <a:latin typeface="Arial" pitchFamily="34" charset="0"/>
                <a:ea typeface="Arial" pitchFamily="34" charset="-122"/>
                <a:cs typeface="Arial" pitchFamily="34" charset="-120"/>
              </a:rPr>
              <a:t>Circuit body: 1 to 5 gates - length was itself a choice</a:t>
            </a:r>
            <a:endParaRPr lang="en-US" sz="1300" dirty="0"/>
          </a:p>
          <a:p>
            <a:pPr marL="342900" indent="-342900">
              <a:lnSpc>
                <a:spcPct val="112000"/>
              </a:lnSpc>
              <a:spcAft>
                <a:spcPts val="500"/>
              </a:spcAft>
              <a:buSzPct val="100000"/>
              <a:buChar char="•"/>
            </a:pPr>
            <a:r>
              <a:rPr lang="en-US" sz="1300" dirty="0">
                <a:solidFill>
                  <a:srgbClr val="1A1A2E"/>
                </a:solidFill>
                <a:latin typeface="Arial" pitchFamily="34" charset="0"/>
                <a:ea typeface="Arial" pitchFamily="34" charset="-122"/>
                <a:cs typeface="Arial" pitchFamily="34" charset="-120"/>
              </a:rPr>
              <a:t>Budget B = 4 candidates, 2 seeds</a:t>
            </a:r>
            <a:endParaRPr lang="en-US" sz="1300" dirty="0"/>
          </a:p>
          <a:p>
            <a:pPr marL="342900" indent="-342900">
              <a:lnSpc>
                <a:spcPct val="112000"/>
              </a:lnSpc>
              <a:spcAft>
                <a:spcPts val="500"/>
              </a:spcAft>
              <a:buSzPct val="100000"/>
              <a:buChar char="•"/>
            </a:pPr>
            <a:r>
              <a:rPr lang="en-US" sz="1300" dirty="0">
                <a:solidFill>
                  <a:srgbClr val="1A1A2E"/>
                </a:solidFill>
                <a:latin typeface="Arial" pitchFamily="34" charset="0"/>
                <a:ea typeface="Arial" pitchFamily="34" charset="-122"/>
                <a:cs typeface="Arial" pitchFamily="34" charset="-120"/>
              </a:rPr>
              <a:t>Reported: LLM open-loop 0.155 vs Random 0.189 (test RMSE; with 2 seeds mean = median)</a:t>
            </a:r>
            <a:endParaRPr lang="en-US" sz="1300" dirty="0"/>
          </a:p>
          <a:p>
            <a:pPr marL="342900" indent="-342900">
              <a:lnSpc>
                <a:spcPct val="112000"/>
              </a:lnSpc>
              <a:spcAft>
                <a:spcPts val="500"/>
              </a:spcAft>
              <a:buSzPct val="100000"/>
              <a:buChar char="•"/>
            </a:pPr>
            <a:r>
              <a:rPr lang="en-US" sz="1300" dirty="0">
                <a:solidFill>
                  <a:srgbClr val="1A1A2E"/>
                </a:solidFill>
                <a:latin typeface="Arial" pitchFamily="34" charset="0"/>
                <a:ea typeface="Arial" pitchFamily="34" charset="-122"/>
                <a:cs typeface="Arial" pitchFamily="34" charset="-120"/>
              </a:rPr>
              <a:t>Task generator amplitude_n3_smoke_v1 - not the one used this week</a:t>
            </a:r>
            <a:endParaRPr lang="en-US" sz="1300" dirty="0"/>
          </a:p>
          <a:p>
            <a:pPr marL="342900" indent="-342900">
              <a:lnSpc>
                <a:spcPct val="112000"/>
              </a:lnSpc>
              <a:spcAft>
                <a:spcPts val="500"/>
              </a:spcAft>
              <a:buSzPct val="100000"/>
              <a:buChar char="•"/>
            </a:pPr>
            <a:r>
              <a:rPr lang="en-US" sz="1300" dirty="0">
                <a:solidFill>
                  <a:srgbClr val="1A1A2E"/>
                </a:solidFill>
                <a:latin typeface="Arial" pitchFamily="34" charset="0"/>
                <a:ea typeface="Arial" pitchFamily="34" charset="-122"/>
                <a:cs typeface="Arial" pitchFamily="34" charset="-120"/>
              </a:rPr>
              <a:t>Its config: "integration/smoke demonstration only; not a statistically powered result"</a:t>
            </a:r>
            <a:endParaRPr lang="en-US" sz="1300" dirty="0"/>
          </a:p>
        </p:txBody>
      </p:sp>
      <p:sp>
        <p:nvSpPr>
          <p:cNvPr id="7" name="Shape 5"/>
          <p:cNvSpPr/>
          <p:nvPr/>
        </p:nvSpPr>
        <p:spPr>
          <a:xfrm>
            <a:off x="6172200" y="1463040"/>
            <a:ext cx="5486400" cy="2788920"/>
          </a:xfrm>
          <a:prstGeom prst="roundRect">
            <a:avLst>
              <a:gd name="adj" fmla="val 3279"/>
            </a:avLst>
          </a:prstGeom>
          <a:solidFill>
            <a:srgbClr val="EAF0FB"/>
          </a:solidFill>
          <a:ln w="17780">
            <a:solidFill>
              <a:srgbClr val="1E3A5F"/>
            </a:solidFill>
            <a:prstDash val="solid"/>
          </a:ln>
        </p:spPr>
      </p:sp>
      <p:sp>
        <p:nvSpPr>
          <p:cNvPr id="8" name="Text 6"/>
          <p:cNvSpPr/>
          <p:nvPr/>
        </p:nvSpPr>
        <p:spPr>
          <a:xfrm>
            <a:off x="6400800" y="1572768"/>
            <a:ext cx="5029200" cy="365760"/>
          </a:xfrm>
          <a:prstGeom prst="rect">
            <a:avLst/>
          </a:prstGeom>
          <a:noFill/>
          <a:ln/>
        </p:spPr>
        <p:txBody>
          <a:bodyPr wrap="square" lIns="0" tIns="0" rIns="0" bIns="0" rtlCol="0" anchor="ctr"/>
          <a:lstStyle/>
          <a:p>
            <a:pPr indent="0" marL="0">
              <a:buNone/>
            </a:pPr>
            <a:r>
              <a:rPr lang="en-US" sz="1700" b="1" dirty="0">
                <a:solidFill>
                  <a:srgbClr val="1E3A5F"/>
                </a:solidFill>
                <a:latin typeface="Arial" pitchFamily="34" charset="0"/>
                <a:ea typeface="Arial" pitchFamily="34" charset="-122"/>
                <a:cs typeface="Arial" pitchFamily="34" charset="-120"/>
              </a:rPr>
              <a:t>This week - three conditions, 10 seeds each</a:t>
            </a:r>
            <a:endParaRPr lang="en-US" sz="1700" dirty="0"/>
          </a:p>
        </p:txBody>
      </p:sp>
      <p:sp>
        <p:nvSpPr>
          <p:cNvPr id="9" name="Text 7"/>
          <p:cNvSpPr/>
          <p:nvPr/>
        </p:nvSpPr>
        <p:spPr>
          <a:xfrm>
            <a:off x="6464808" y="2057400"/>
            <a:ext cx="4937760" cy="2148840"/>
          </a:xfrm>
          <a:prstGeom prst="rect">
            <a:avLst/>
          </a:prstGeom>
          <a:noFill/>
          <a:ln/>
        </p:spPr>
        <p:txBody>
          <a:bodyPr wrap="square" lIns="0" tIns="0" rIns="0" bIns="0" rtlCol="0" anchor="t"/>
          <a:lstStyle/>
          <a:p>
            <a:pPr marL="342900" indent="-342900">
              <a:lnSpc>
                <a:spcPct val="112000"/>
              </a:lnSpc>
              <a:spcAft>
                <a:spcPts val="500"/>
              </a:spcAft>
              <a:buSzPct val="100000"/>
              <a:buChar char="•"/>
            </a:pPr>
            <a:r>
              <a:rPr lang="en-US" sz="1300" dirty="0">
                <a:solidFill>
                  <a:srgbClr val="1A1A2E"/>
                </a:solidFill>
                <a:latin typeface="Arial" pitchFamily="34" charset="0"/>
                <a:ea typeface="Arial" pitchFamily="34" charset="-122"/>
                <a:cs typeface="Arial" pitchFamily="34" charset="-120"/>
              </a:rPr>
              <a:t>PRIMARY: exactly 5 gates, B = 8. Length is fixed for every method, so it cannot be a source of advantage. Slides 6, 7 and 9 report this.</a:t>
            </a:r>
            <a:endParaRPr lang="en-US" sz="1300" dirty="0"/>
          </a:p>
          <a:p>
            <a:pPr marL="342900" indent="-342900">
              <a:lnSpc>
                <a:spcPct val="112000"/>
              </a:lnSpc>
              <a:spcAft>
                <a:spcPts val="500"/>
              </a:spcAft>
              <a:buSzPct val="100000"/>
              <a:buChar char="•"/>
            </a:pPr>
            <a:r>
              <a:rPr lang="en-US" sz="1300" dirty="0">
                <a:solidFill>
                  <a:srgbClr val="1A1A2E"/>
                </a:solidFill>
                <a:latin typeface="Arial" pitchFamily="34" charset="0"/>
                <a:ea typeface="Arial" pitchFamily="34" charset="-122"/>
                <a:cs typeface="Arial" pitchFamily="34" charset="-120"/>
              </a:rPr>
              <a:t>CONTROL A: 1 to 5 gates, B = 8 - length freed again, budget unchanged</a:t>
            </a:r>
            <a:endParaRPr lang="en-US" sz="1300" dirty="0"/>
          </a:p>
          <a:p>
            <a:pPr marL="342900" indent="-342900">
              <a:lnSpc>
                <a:spcPct val="112000"/>
              </a:lnSpc>
              <a:spcAft>
                <a:spcPts val="500"/>
              </a:spcAft>
              <a:buSzPct val="100000"/>
              <a:buChar char="•"/>
            </a:pPr>
            <a:r>
              <a:rPr lang="en-US" sz="1300" dirty="0">
                <a:solidFill>
                  <a:srgbClr val="1A1A2E"/>
                </a:solidFill>
                <a:latin typeface="Arial" pitchFamily="34" charset="0"/>
                <a:ea typeface="Arial" pitchFamily="34" charset="-122"/>
                <a:cs typeface="Arial" pitchFamily="34" charset="-120"/>
              </a:rPr>
              <a:t>CONTROL B: 1 to 5 gates, B = 4 - the pilot's own setting, rebuilt</a:t>
            </a:r>
            <a:endParaRPr lang="en-US" sz="1300" dirty="0"/>
          </a:p>
          <a:p>
            <a:pPr marL="342900" indent="-342900">
              <a:lnSpc>
                <a:spcPct val="112000"/>
              </a:lnSpc>
              <a:spcAft>
                <a:spcPts val="500"/>
              </a:spcAft>
              <a:buSzPct val="100000"/>
              <a:buChar char="•"/>
            </a:pPr>
            <a:r>
              <a:rPr lang="en-US" sz="1300" dirty="0">
                <a:solidFill>
                  <a:srgbClr val="1A1A2E"/>
                </a:solidFill>
                <a:latin typeface="Arial" pitchFamily="34" charset="0"/>
                <a:ea typeface="Arial" pitchFamily="34" charset="-122"/>
                <a:cs typeface="Arial" pitchFamily="34" charset="-120"/>
              </a:rPr>
              <a:t>Five arms in all three, up from three arms</a:t>
            </a:r>
            <a:endParaRPr lang="en-US" sz="1300" dirty="0"/>
          </a:p>
        </p:txBody>
      </p:sp>
      <p:sp>
        <p:nvSpPr>
          <p:cNvPr id="10" name="Shape 8"/>
          <p:cNvSpPr/>
          <p:nvPr/>
        </p:nvSpPr>
        <p:spPr>
          <a:xfrm>
            <a:off x="548640" y="4480560"/>
            <a:ext cx="11109960" cy="1481328"/>
          </a:xfrm>
          <a:prstGeom prst="roundRect">
            <a:avLst>
              <a:gd name="adj" fmla="val 6173"/>
            </a:avLst>
          </a:prstGeom>
          <a:solidFill>
            <a:srgbClr val="FDF6E8"/>
          </a:solidFill>
          <a:ln w="15240">
            <a:solidFill>
              <a:srgbClr val="B8860B"/>
            </a:solidFill>
            <a:prstDash val="solid"/>
          </a:ln>
        </p:spPr>
      </p:sp>
      <p:sp>
        <p:nvSpPr>
          <p:cNvPr id="11" name="Text 9"/>
          <p:cNvSpPr/>
          <p:nvPr/>
        </p:nvSpPr>
        <p:spPr>
          <a:xfrm>
            <a:off x="822960" y="4599432"/>
            <a:ext cx="10607040" cy="1234440"/>
          </a:xfrm>
          <a:prstGeom prst="rect">
            <a:avLst/>
          </a:prstGeom>
          <a:noFill/>
          <a:ln/>
        </p:spPr>
        <p:txBody>
          <a:bodyPr wrap="square" lIns="0" tIns="0" rIns="0" bIns="0" rtlCol="0" anchor="ctr"/>
          <a:lstStyle/>
          <a:p>
            <a:pPr indent="0" marL="0">
              <a:buNone/>
            </a:pPr>
            <a:r>
              <a:rPr lang="en-US" sz="1700" b="1" dirty="0">
                <a:solidFill>
                  <a:srgbClr val="1A1A2E"/>
                </a:solidFill>
                <a:latin typeface="Arial" pitchFamily="34" charset="0"/>
                <a:ea typeface="Arial" pitchFamily="34" charset="-122"/>
                <a:cs typeface="Arial" pitchFamily="34" charset="-120"/>
              </a:rPr>
              <a:t>Why this matters:  </a:t>
            </a:r>
            <a:pPr indent="0" marL="0">
              <a:buNone/>
            </a:pPr>
            <a:r>
              <a:rPr lang="en-US" sz="1700" dirty="0">
                <a:solidFill>
                  <a:srgbClr val="1A1A2E"/>
                </a:solidFill>
                <a:latin typeface="Arial" pitchFamily="34" charset="0"/>
                <a:ea typeface="Arial" pitchFamily="34" charset="-122"/>
                <a:cs typeface="Arial" pitchFamily="34" charset="-120"/>
              </a:rPr>
              <a:t>if circuit length is a free variable and longer circuits are usually better, then any proposer that simply always asks for the maximum length wins - without designing anything.
</a:t>
            </a:r>
            <a:pPr indent="0" marL="0">
              <a:buNone/>
            </a:pPr>
            <a:r>
              <a:rPr lang="en-US" sz="1550" b="1" dirty="0">
                <a:solidFill>
                  <a:srgbClr val="B3261E"/>
                </a:solidFill>
                <a:latin typeface="Arial" pitchFamily="34" charset="0"/>
                <a:ea typeface="Arial" pitchFamily="34" charset="-122"/>
                <a:cs typeface="Arial" pitchFamily="34" charset="-120"/>
              </a:rPr>
              <a:t>The two data generators differ, so the pilot's numbers and this week's are NOT directly comparable. </a:t>
            </a:r>
            <a:pPr indent="0" marL="0">
              <a:buNone/>
            </a:pPr>
            <a:r>
              <a:rPr lang="en-US" sz="1550" dirty="0">
                <a:solidFill>
                  <a:srgbClr val="1A1A2E"/>
                </a:solidFill>
                <a:latin typeface="Arial" pitchFamily="34" charset="0"/>
                <a:ea typeface="Arial" pitchFamily="34" charset="-122"/>
                <a:cs typeface="Arial" pitchFamily="34" charset="-120"/>
              </a:rPr>
              <a:t>Slide 8 compares the three conditions above against each other - one codebase, one task, one model - so it does not depend on the pilot's numbers at all.</a:t>
            </a:r>
            <a:endParaRPr lang="en-US" sz="1700" dirty="0"/>
          </a:p>
        </p:txBody>
      </p:sp>
      <p:sp>
        <p:nvSpPr>
          <p:cNvPr id="12" name="Text 10"/>
          <p:cNvSpPr/>
          <p:nvPr/>
        </p:nvSpPr>
        <p:spPr>
          <a:xfrm>
            <a:off x="502920" y="6473952"/>
            <a:ext cx="11185855" cy="274320"/>
          </a:xfrm>
          <a:prstGeom prst="rect">
            <a:avLst/>
          </a:prstGeom>
          <a:noFill/>
          <a:ln/>
        </p:spPr>
        <p:txBody>
          <a:bodyPr wrap="square" lIns="0" tIns="0" rIns="0" bIns="0" rtlCol="0" anchor="ctr"/>
          <a:lstStyle/>
          <a:p>
            <a:pPr indent="0" marL="0">
              <a:buNone/>
            </a:pPr>
            <a:r>
              <a:rPr lang="en-US" sz="1100" dirty="0">
                <a:solidFill>
                  <a:srgbClr val="55606E"/>
                </a:solidFill>
                <a:latin typeface="Arial" pitchFamily="34" charset="0"/>
                <a:ea typeface="Arial" pitchFamily="34" charset="-122"/>
                <a:cs typeface="Arial" pitchFamily="34" charset="-120"/>
              </a:rPr>
              <a:t>Verified against outputs/free_amplitude_fixed_readout_v1/EXPERIMENT_CONFIG.json: max_gates 5 (candidates ranged 1-5), budget_per_arm 4, seeds 2, 3 arms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85855" cy="274320"/>
          </a:xfrm>
          <a:prstGeom prst="rect">
            <a:avLst/>
          </a:prstGeom>
          <a:noFill/>
          <a:ln/>
        </p:spPr>
        <p:txBody>
          <a:bodyPr wrap="square" lIns="0" tIns="0" rIns="0" bIns="0" rtlCol="0" anchor="ctr"/>
          <a:lstStyle/>
          <a:p>
            <a:pPr indent="0" marL="0">
              <a:buNone/>
            </a:pPr>
            <a:r>
              <a:rPr lang="en-US" sz="1300" b="1" spc="150" kern="0" dirty="0">
                <a:solidFill>
                  <a:srgbClr val="B3261E"/>
                </a:solidFill>
                <a:latin typeface="Arial" pitchFamily="34" charset="0"/>
                <a:ea typeface="Arial" pitchFamily="34" charset="-122"/>
                <a:cs typeface="Arial" pitchFamily="34" charset="-120"/>
              </a:rPr>
              <a:t>SEARCH SPACE</a:t>
            </a:r>
            <a:endParaRPr lang="en-US" sz="1300" dirty="0"/>
          </a:p>
        </p:txBody>
      </p:sp>
      <p:sp>
        <p:nvSpPr>
          <p:cNvPr id="3" name="Text 1"/>
          <p:cNvSpPr/>
          <p:nvPr/>
        </p:nvSpPr>
        <p:spPr>
          <a:xfrm>
            <a:off x="502920" y="548640"/>
            <a:ext cx="11185855" cy="658368"/>
          </a:xfrm>
          <a:prstGeom prst="rect">
            <a:avLst/>
          </a:prstGeom>
          <a:noFill/>
          <a:ln/>
        </p:spPr>
        <p:txBody>
          <a:bodyPr wrap="square" lIns="0" tIns="0" rIns="0" bIns="0" rtlCol="0" anchor="ctr"/>
          <a:lstStyle/>
          <a:p>
            <a:pPr indent="0" marL="0">
              <a:buNone/>
            </a:pPr>
            <a:r>
              <a:rPr lang="en-US" sz="3000" b="1" dirty="0">
                <a:solidFill>
                  <a:srgbClr val="1E3A5F"/>
                </a:solidFill>
                <a:latin typeface="Arial" pitchFamily="34" charset="0"/>
                <a:ea typeface="Arial" pitchFamily="34" charset="-122"/>
                <a:cs typeface="Arial" pitchFamily="34" charset="-120"/>
              </a:rPr>
              <a:t>Every rule, stated so you can check any circuit by eye</a:t>
            </a:r>
            <a:endParaRPr lang="en-US" sz="3000" dirty="0"/>
          </a:p>
        </p:txBody>
      </p:sp>
      <p:sp>
        <p:nvSpPr>
          <p:cNvPr id="4" name="Shape 2"/>
          <p:cNvSpPr/>
          <p:nvPr/>
        </p:nvSpPr>
        <p:spPr>
          <a:xfrm>
            <a:off x="5699455" y="256032"/>
            <a:ext cx="5989320" cy="402336"/>
          </a:xfrm>
          <a:prstGeom prst="roundRect">
            <a:avLst>
              <a:gd name="adj" fmla="val 15909"/>
            </a:avLst>
          </a:prstGeom>
          <a:solidFill>
            <a:srgbClr val="F4F6FA"/>
          </a:solidFill>
          <a:ln w="12700">
            <a:solidFill>
              <a:srgbClr val="D8DDE6"/>
            </a:solidFill>
            <a:prstDash val="solid"/>
          </a:ln>
        </p:spPr>
      </p:sp>
      <p:sp>
        <p:nvSpPr>
          <p:cNvPr id="5" name="Text 3"/>
          <p:cNvSpPr/>
          <p:nvPr/>
        </p:nvSpPr>
        <p:spPr>
          <a:xfrm>
            <a:off x="5836615" y="274320"/>
            <a:ext cx="5715000" cy="365760"/>
          </a:xfrm>
          <a:prstGeom prst="rect">
            <a:avLst/>
          </a:prstGeom>
          <a:noFill/>
          <a:ln/>
        </p:spPr>
        <p:txBody>
          <a:bodyPr wrap="square" lIns="0" tIns="0" rIns="0" bIns="0" rtlCol="0" anchor="ctr"/>
          <a:lstStyle/>
          <a:p>
            <a:pPr algn="r" indent="0" marL="0">
              <a:buNone/>
            </a:pPr>
            <a:r>
              <a:rPr lang="en-US" sz="1150" b="1" dirty="0">
                <a:solidFill>
                  <a:srgbClr val="1E3A5F"/>
                </a:solidFill>
                <a:latin typeface="Arial" pitchFamily="34" charset="0"/>
                <a:ea typeface="Arial" pitchFamily="34" charset="-122"/>
                <a:cs typeface="Arial" pitchFamily="34" charset="-120"/>
              </a:rPr>
              <a:t>Applies to all three conditions</a:t>
            </a:r>
            <a:pPr algn="r" indent="0" marL="0">
              <a:buNone/>
            </a:pPr>
            <a:r>
              <a:rPr lang="en-US" sz="1150" dirty="0">
                <a:solidFill>
                  <a:srgbClr val="55606E"/>
                </a:solidFill>
                <a:latin typeface="Arial" pitchFamily="34" charset="0"/>
                <a:ea typeface="Arial" pitchFamily="34" charset="-122"/>
                <a:cs typeface="Arial" pitchFamily="34" charset="-120"/>
              </a:rPr>
              <a:t>   only gate count and B differ between them</a:t>
            </a:r>
            <a:endParaRPr lang="en-US" sz="11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914400"/>
        </p:xfrm>
        <a:graphic>
          <a:graphicData uri="http://schemas.openxmlformats.org/drawingml/2006/table">
            <a:tbl>
              <a:tblPr/>
              <a:tblGrid>
                <a:gridCol w="2194560"/>
                <a:gridCol w="8915400"/>
              </a:tblGrid>
              <a:tr h="365760">
                <a:tc>
                  <a:txBody>
                    <a:bodyPr/>
                    <a:lstStyle/>
                    <a:p>
                      <a:pPr indent="0" marL="0">
                        <a:buNone/>
                      </a:pPr>
                      <a:r>
                        <a:rPr lang="en-US" sz="1250" b="1" dirty="0">
                          <a:solidFill>
                            <a:srgbClr val="FFFFFF"/>
                          </a:solidFill>
                          <a:latin typeface="Arial" pitchFamily="34" charset="0"/>
                          <a:ea typeface="Arial" pitchFamily="34" charset="-122"/>
                          <a:cs typeface="Arial" pitchFamily="34" charset="-120"/>
                        </a:rPr>
                        <a:t>Constraint</a:t>
                      </a:r>
                      <a:endParaRPr lang="en-US" sz="1250" dirty="0">
                        <a:latin typeface="Arial" charset="0"/>
                        <a:ea typeface="Arial" charset="0"/>
                        <a:cs typeface="Arial" charset="0"/>
                      </a:endParaRPr>
                    </a:p>
                  </a:txBody>
                  <a:tcPr marL="54864" marR="54864" marT="54864" marB="54864" anchor="ctr">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1E3A5F"/>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Value</a:t>
                      </a:r>
                      <a:endParaRPr lang="en-US" sz="1250" dirty="0">
                        <a:latin typeface="Arial" charset="0"/>
                        <a:ea typeface="Arial" charset="0"/>
                        <a:cs typeface="Arial" charset="0"/>
                      </a:endParaRPr>
                    </a:p>
                  </a:txBody>
                  <a:tcPr marL="54864" marR="54864" marT="54864" marB="54864" anchor="ctr">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1E3A5F"/>
                    </a:solidFill>
                  </a:tcPr>
                </a:tc>
              </a:tr>
              <a:tr h="365760">
                <a:tc>
                  <a:txBody>
                    <a:bodyPr/>
                    <a:lstStyle/>
                    <a:p>
                      <a:pPr indent="0" marL="0">
                        <a:buNone/>
                      </a:pPr>
                      <a:r>
                        <a:rPr lang="en-US" sz="1250" dirty="0">
                          <a:solidFill>
                            <a:srgbClr val="000000"/>
                          </a:solidFill>
                          <a:latin typeface="Arial" pitchFamily="34" charset="0"/>
                          <a:ea typeface="Arial" pitchFamily="34" charset="-122"/>
                          <a:cs typeface="Arial" pitchFamily="34" charset="-120"/>
                        </a:rPr>
                        <a:t>Tasks</a:t>
                      </a:r>
                      <a:endParaRPr lang="en-US" sz="1250" dirty="0">
                        <a:latin typeface="Arial" charset="0"/>
                        <a:ea typeface="Arial" charset="0"/>
                        <a:cs typeface="Arial" charset="0"/>
                      </a:endParaRPr>
                    </a:p>
                  </a:txBody>
                  <a:tcPr marL="54864" marR="54864" marT="54864" marB="54864" anchor="ctr">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50" dirty="0">
                          <a:solidFill>
                            <a:srgbClr val="000000"/>
                          </a:solidFill>
                          <a:latin typeface="Arial" pitchFamily="34" charset="0"/>
                          <a:ea typeface="Arial" pitchFamily="34" charset="-122"/>
                          <a:cs typeface="Arial" pitchFamily="34" charset="-120"/>
                        </a:rPr>
                        <a:t>T1 Gaussian peak position · T2 sinusoid frequency · T3 change-point location · T4 one peak vs two (binary)</a:t>
                      </a:r>
                      <a:endParaRPr lang="en-US" sz="1250" dirty="0">
                        <a:latin typeface="Arial" charset="0"/>
                        <a:ea typeface="Arial" charset="0"/>
                        <a:cs typeface="Arial" charset="0"/>
                      </a:endParaRPr>
                    </a:p>
                  </a:txBody>
                  <a:tcPr marL="54864" marR="54864" marT="54864" marB="54864" anchor="ctr">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365760">
                <a:tc>
                  <a:txBody>
                    <a:bodyPr/>
                    <a:lstStyle/>
                    <a:p>
                      <a:pPr indent="0" marL="0">
                        <a:buNone/>
                      </a:pPr>
                      <a:r>
                        <a:rPr lang="en-US" sz="1250" dirty="0">
                          <a:solidFill>
                            <a:srgbClr val="000000"/>
                          </a:solidFill>
                          <a:latin typeface="Arial" pitchFamily="34" charset="0"/>
                          <a:ea typeface="Arial" pitchFamily="34" charset="-122"/>
                          <a:cs typeface="Arial" pitchFamily="34" charset="-120"/>
                        </a:rPr>
                        <a:t>Qubits</a:t>
                      </a:r>
                      <a:endParaRPr lang="en-US" sz="1250" dirty="0">
                        <a:latin typeface="Arial" charset="0"/>
                        <a:ea typeface="Arial" charset="0"/>
                        <a:cs typeface="Arial" charset="0"/>
                      </a:endParaRPr>
                    </a:p>
                  </a:txBody>
                  <a:tcPr marL="54864" marR="54864" marT="54864" marB="54864" anchor="ctr">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50" dirty="0">
                          <a:solidFill>
                            <a:srgbClr val="000000"/>
                          </a:solidFill>
                          <a:latin typeface="Arial" pitchFamily="34" charset="0"/>
                          <a:ea typeface="Arial" pitchFamily="34" charset="-122"/>
                          <a:cs typeface="Arial" pitchFamily="34" charset="-120"/>
                        </a:rPr>
                        <a:t>3 for T1, T2 (2^3 = 8 amplitudes); 5 for T3, T4 (2^5 = 32) - T3 and T4 are only frozen at n=5</a:t>
                      </a:r>
                      <a:endParaRPr lang="en-US" sz="1250" dirty="0">
                        <a:latin typeface="Arial" charset="0"/>
                        <a:ea typeface="Arial" charset="0"/>
                        <a:cs typeface="Arial" charset="0"/>
                      </a:endParaRPr>
                    </a:p>
                  </a:txBody>
                  <a:tcPr marL="54864" marR="54864" marT="54864" marB="54864" anchor="ctr">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365760">
                <a:tc>
                  <a:txBody>
                    <a:bodyPr/>
                    <a:lstStyle/>
                    <a:p>
                      <a:pPr indent="0" marL="0">
                        <a:buNone/>
                      </a:pPr>
                      <a:r>
                        <a:rPr lang="en-US" sz="1250" dirty="0">
                          <a:solidFill>
                            <a:srgbClr val="000000"/>
                          </a:solidFill>
                          <a:latin typeface="Arial" pitchFamily="34" charset="0"/>
                          <a:ea typeface="Arial" pitchFamily="34" charset="-122"/>
                          <a:cs typeface="Arial" pitchFamily="34" charset="-120"/>
                        </a:rPr>
                        <a:t>Gate count</a:t>
                      </a:r>
                      <a:endParaRPr lang="en-US" sz="1250" dirty="0">
                        <a:latin typeface="Arial" charset="0"/>
                        <a:ea typeface="Arial" charset="0"/>
                        <a:cs typeface="Arial" charset="0"/>
                      </a:endParaRPr>
                    </a:p>
                  </a:txBody>
                  <a:tcPr marL="54864" marR="54864" marT="54864" marB="54864" anchor="ctr">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50" dirty="0">
                          <a:solidFill>
                            <a:srgbClr val="000000"/>
                          </a:solidFill>
                          <a:latin typeface="Arial" pitchFamily="34" charset="0"/>
                          <a:ea typeface="Arial" pitchFamily="34" charset="-122"/>
                          <a:cs typeface="Arial" pitchFamily="34" charset="-120"/>
                        </a:rPr>
                        <a:t>PRIMARY exactly 5 (not a max, not a range); Controls A and B relax it to 1-5. Every arm faces the same setting.</a:t>
                      </a:r>
                      <a:endParaRPr lang="en-US" sz="1250" dirty="0">
                        <a:latin typeface="Arial" charset="0"/>
                        <a:ea typeface="Arial" charset="0"/>
                        <a:cs typeface="Arial" charset="0"/>
                      </a:endParaRPr>
                    </a:p>
                  </a:txBody>
                  <a:tcPr marL="54864" marR="54864" marT="54864" marB="54864" anchor="ctr">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365760">
                <a:tc>
                  <a:txBody>
                    <a:bodyPr/>
                    <a:lstStyle/>
                    <a:p>
                      <a:pPr indent="0" marL="0">
                        <a:buNone/>
                      </a:pPr>
                      <a:r>
                        <a:rPr lang="en-US" sz="1250" dirty="0">
                          <a:solidFill>
                            <a:srgbClr val="000000"/>
                          </a:solidFill>
                          <a:latin typeface="Arial" pitchFamily="34" charset="0"/>
                          <a:ea typeface="Arial" pitchFamily="34" charset="-122"/>
                          <a:cs typeface="Arial" pitchFamily="34" charset="-120"/>
                        </a:rPr>
                        <a:t>Gate set (7 types)</a:t>
                      </a:r>
                      <a:endParaRPr lang="en-US" sz="1250" dirty="0">
                        <a:latin typeface="Arial" charset="0"/>
                        <a:ea typeface="Arial" charset="0"/>
                        <a:cs typeface="Arial" charset="0"/>
                      </a:endParaRPr>
                    </a:p>
                  </a:txBody>
                  <a:tcPr marL="54864" marR="54864" marT="54864" marB="54864" anchor="ctr">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50" dirty="0">
                          <a:solidFill>
                            <a:srgbClr val="000000"/>
                          </a:solidFill>
                          <a:latin typeface="Arial" pitchFamily="34" charset="0"/>
                          <a:ea typeface="Arial" pitchFamily="34" charset="-122"/>
                          <a:cs typeface="Arial" pitchFamily="34" charset="-120"/>
                        </a:rPr>
                        <a:t>one wire: H, RX, RY, RZ      two wires: CRX, CRY, CRZ</a:t>
                      </a:r>
                      <a:endParaRPr lang="en-US" sz="1250" dirty="0">
                        <a:latin typeface="Arial" charset="0"/>
                        <a:ea typeface="Arial" charset="0"/>
                        <a:cs typeface="Arial" charset="0"/>
                      </a:endParaRPr>
                    </a:p>
                  </a:txBody>
                  <a:tcPr marL="54864" marR="54864" marT="54864" marB="54864" anchor="ctr">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365760">
                <a:tc>
                  <a:txBody>
                    <a:bodyPr/>
                    <a:lstStyle/>
                    <a:p>
                      <a:pPr indent="0" marL="0">
                        <a:buNone/>
                      </a:pPr>
                      <a:r>
                        <a:rPr lang="en-US" sz="1250" dirty="0">
                          <a:solidFill>
                            <a:srgbClr val="000000"/>
                          </a:solidFill>
                          <a:latin typeface="Arial" pitchFamily="34" charset="0"/>
                          <a:ea typeface="Arial" pitchFamily="34" charset="-122"/>
                          <a:cs typeface="Arial" pitchFamily="34" charset="-120"/>
                        </a:rPr>
                        <a:t>Angles</a:t>
                      </a:r>
                      <a:endParaRPr lang="en-US" sz="1250" dirty="0">
                        <a:latin typeface="Arial" charset="0"/>
                        <a:ea typeface="Arial" charset="0"/>
                        <a:cs typeface="Arial" charset="0"/>
                      </a:endParaRPr>
                    </a:p>
                  </a:txBody>
                  <a:tcPr marL="54864" marR="54864" marT="54864" marB="54864" anchor="ctr">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50" dirty="0">
                          <a:solidFill>
                            <a:srgbClr val="000000"/>
                          </a:solidFill>
                          <a:latin typeface="Arial" pitchFamily="34" charset="0"/>
                          <a:ea typeface="Arial" pitchFamily="34" charset="-122"/>
                          <a:cs typeface="Arial" pitchFamily="34" charset="-120"/>
                        </a:rPr>
                        <a:t>one continuous theta per gate in [-pi, pi]; H carries none</a:t>
                      </a:r>
                      <a:endParaRPr lang="en-US" sz="1250" dirty="0">
                        <a:latin typeface="Arial" charset="0"/>
                        <a:ea typeface="Arial" charset="0"/>
                        <a:cs typeface="Arial" charset="0"/>
                      </a:endParaRPr>
                    </a:p>
                  </a:txBody>
                  <a:tcPr marL="54864" marR="54864" marT="54864" marB="54864" anchor="ctr">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365760">
                <a:tc>
                  <a:txBody>
                    <a:bodyPr/>
                    <a:lstStyle/>
                    <a:p>
                      <a:pPr indent="0" marL="0">
                        <a:buNone/>
                      </a:pPr>
                      <a:r>
                        <a:rPr lang="en-US" sz="1250" dirty="0">
                          <a:solidFill>
                            <a:srgbClr val="000000"/>
                          </a:solidFill>
                          <a:latin typeface="Arial" pitchFamily="34" charset="0"/>
                          <a:ea typeface="Arial" pitchFamily="34" charset="-122"/>
                          <a:cs typeface="Arial" pitchFamily="34" charset="-120"/>
                        </a:rPr>
                        <a:t>Budget</a:t>
                      </a:r>
                      <a:endParaRPr lang="en-US" sz="1250" dirty="0">
                        <a:latin typeface="Arial" charset="0"/>
                        <a:ea typeface="Arial" charset="0"/>
                        <a:cs typeface="Arial" charset="0"/>
                      </a:endParaRPr>
                    </a:p>
                  </a:txBody>
                  <a:tcPr marL="54864" marR="54864" marT="54864" marB="54864" anchor="ctr">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50" dirty="0">
                          <a:solidFill>
                            <a:srgbClr val="000000"/>
                          </a:solidFill>
                          <a:latin typeface="Arial" pitchFamily="34" charset="0"/>
                          <a:ea typeface="Arial" pitchFamily="34" charset="-122"/>
                          <a:cs typeface="Arial" pitchFamily="34" charset="-120"/>
                        </a:rPr>
                        <a:t>PRIMARY and Control A: B = 8 unique candidates. Control B: B = 4, the pilot's setting. 10 seeds throughout.</a:t>
                      </a:r>
                      <a:endParaRPr lang="en-US" sz="1250" dirty="0">
                        <a:latin typeface="Arial" charset="0"/>
                        <a:ea typeface="Arial" charset="0"/>
                        <a:cs typeface="Arial" charset="0"/>
                      </a:endParaRPr>
                    </a:p>
                  </a:txBody>
                  <a:tcPr marL="54864" marR="54864" marT="54864" marB="54864" anchor="ctr">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365760">
                <a:tc>
                  <a:txBody>
                    <a:bodyPr/>
                    <a:lstStyle/>
                    <a:p>
                      <a:pPr indent="0" marL="0">
                        <a:buNone/>
                      </a:pPr>
                      <a:r>
                        <a:rPr lang="en-US" sz="1250" dirty="0">
                          <a:solidFill>
                            <a:srgbClr val="000000"/>
                          </a:solidFill>
                          <a:latin typeface="Arial" pitchFamily="34" charset="0"/>
                          <a:ea typeface="Arial" pitchFamily="34" charset="-122"/>
                          <a:cs typeface="Arial" pitchFamily="34" charset="-120"/>
                        </a:rPr>
                        <a:t>Training</a:t>
                      </a:r>
                      <a:endParaRPr lang="en-US" sz="1250" dirty="0">
                        <a:latin typeface="Arial" charset="0"/>
                        <a:ea typeface="Arial" charset="0"/>
                        <a:cs typeface="Arial" charset="0"/>
                      </a:endParaRPr>
                    </a:p>
                  </a:txBody>
                  <a:tcPr marL="54864" marR="54864" marT="54864" marB="54864" anchor="ctr">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50" dirty="0">
                          <a:solidFill>
                            <a:srgbClr val="000000"/>
                          </a:solidFill>
                          <a:latin typeface="Arial" pitchFamily="34" charset="0"/>
                          <a:ea typeface="Arial" pitchFamily="34" charset="-122"/>
                          <a:cs typeface="Arial" pitchFamily="34" charset="-120"/>
                        </a:rPr>
                        <a:t>NONE. The proposed angles are evaluated verbatim - no optimizer exists on this path.</a:t>
                      </a:r>
                      <a:endParaRPr lang="en-US" sz="1250" dirty="0">
                        <a:latin typeface="Arial" charset="0"/>
                        <a:ea typeface="Arial" charset="0"/>
                        <a:cs typeface="Arial" charset="0"/>
                      </a:endParaRPr>
                    </a:p>
                  </a:txBody>
                  <a:tcPr marL="54864" marR="54864" marT="54864" marB="54864" anchor="ctr">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365760">
                <a:tc>
                  <a:txBody>
                    <a:bodyPr/>
                    <a:lstStyle/>
                    <a:p>
                      <a:pPr indent="0" marL="0">
                        <a:buNone/>
                      </a:pPr>
                      <a:r>
                        <a:rPr lang="en-US" sz="1250" dirty="0">
                          <a:solidFill>
                            <a:srgbClr val="000000"/>
                          </a:solidFill>
                          <a:latin typeface="Arial" pitchFamily="34" charset="0"/>
                          <a:ea typeface="Arial" pitchFamily="34" charset="-122"/>
                          <a:cs typeface="Arial" pitchFamily="34" charset="-120"/>
                        </a:rPr>
                        <a:t>Encoding / readout</a:t>
                      </a:r>
                      <a:endParaRPr lang="en-US" sz="1250" dirty="0">
                        <a:latin typeface="Arial" charset="0"/>
                        <a:ea typeface="Arial" charset="0"/>
                        <a:cs typeface="Arial" charset="0"/>
                      </a:endParaRPr>
                    </a:p>
                  </a:txBody>
                  <a:tcPr marL="54864" marR="54864" marT="54864" marB="54864" anchor="ctr">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50" dirty="0">
                          <a:solidFill>
                            <a:srgbClr val="000000"/>
                          </a:solidFill>
                          <a:latin typeface="Arial" pitchFamily="34" charset="0"/>
                          <a:ea typeface="Arial" pitchFamily="34" charset="-122"/>
                          <a:cs typeface="Arial" pitchFamily="34" charset="-120"/>
                        </a:rPr>
                        <a:t>amplitude encoding; Pauli-Z on qubit 0; prediction = (1 - &lt;Z0&gt;)/2</a:t>
                      </a:r>
                      <a:endParaRPr lang="en-US" sz="1250" dirty="0">
                        <a:latin typeface="Arial" charset="0"/>
                        <a:ea typeface="Arial" charset="0"/>
                        <a:cs typeface="Arial" charset="0"/>
                      </a:endParaRPr>
                    </a:p>
                  </a:txBody>
                  <a:tcPr marL="54864" marR="54864" marT="54864" marB="54864" anchor="ctr">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365760">
                <a:tc>
                  <a:txBody>
                    <a:bodyPr/>
                    <a:lstStyle/>
                    <a:p>
                      <a:pPr indent="0" marL="0">
                        <a:buNone/>
                      </a:pPr>
                      <a:r>
                        <a:rPr lang="en-US" sz="1250" dirty="0">
                          <a:solidFill>
                            <a:srgbClr val="000000"/>
                          </a:solidFill>
                          <a:latin typeface="Arial" pitchFamily="34" charset="0"/>
                          <a:ea typeface="Arial" pitchFamily="34" charset="-122"/>
                          <a:cs typeface="Arial" pitchFamily="34" charset="-120"/>
                        </a:rPr>
                        <a:t>Classical params</a:t>
                      </a:r>
                      <a:endParaRPr lang="en-US" sz="1250" dirty="0">
                        <a:latin typeface="Arial" charset="0"/>
                        <a:ea typeface="Arial" charset="0"/>
                        <a:cs typeface="Arial" charset="0"/>
                      </a:endParaRPr>
                    </a:p>
                  </a:txBody>
                  <a:tcPr marL="54864" marR="54864" marT="54864" marB="54864" anchor="ctr">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50" dirty="0">
                          <a:solidFill>
                            <a:srgbClr val="000000"/>
                          </a:solidFill>
                          <a:latin typeface="Arial" pitchFamily="34" charset="0"/>
                          <a:ea typeface="Arial" pitchFamily="34" charset="-122"/>
                          <a:cs typeface="Arial" pitchFamily="34" charset="-120"/>
                        </a:rPr>
                        <a:t>zero - no dense layer can rescue a weak circuit</a:t>
                      </a:r>
                      <a:endParaRPr lang="en-US" sz="1250" dirty="0">
                        <a:latin typeface="Arial" charset="0"/>
                        <a:ea typeface="Arial" charset="0"/>
                        <a:cs typeface="Arial" charset="0"/>
                      </a:endParaRPr>
                    </a:p>
                  </a:txBody>
                  <a:tcPr marL="54864" marR="54864" marT="54864" marB="54864" anchor="ctr">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bl>
          </a:graphicData>
        </a:graphic>
      </p:graphicFrame>
      <p:sp>
        <p:nvSpPr>
          <p:cNvPr id="7" name="Shape 4"/>
          <p:cNvSpPr/>
          <p:nvPr/>
        </p:nvSpPr>
        <p:spPr>
          <a:xfrm>
            <a:off x="548640" y="5440680"/>
            <a:ext cx="11109960" cy="822960"/>
          </a:xfrm>
          <a:prstGeom prst="roundRect">
            <a:avLst>
              <a:gd name="adj" fmla="val 8889"/>
            </a:avLst>
          </a:prstGeom>
          <a:solidFill>
            <a:srgbClr val="F4F6FA"/>
          </a:solidFill>
          <a:ln w="12700">
            <a:solidFill>
              <a:srgbClr val="D8DDE6"/>
            </a:solidFill>
            <a:prstDash val="solid"/>
          </a:ln>
        </p:spPr>
      </p:sp>
      <p:sp>
        <p:nvSpPr>
          <p:cNvPr id="8" name="Text 5"/>
          <p:cNvSpPr/>
          <p:nvPr/>
        </p:nvSpPr>
        <p:spPr>
          <a:xfrm>
            <a:off x="777240" y="5513832"/>
            <a:ext cx="10607040" cy="685800"/>
          </a:xfrm>
          <a:prstGeom prst="rect">
            <a:avLst/>
          </a:prstGeom>
          <a:noFill/>
          <a:ln/>
        </p:spPr>
        <p:txBody>
          <a:bodyPr wrap="square" lIns="0" tIns="0" rIns="0" bIns="0" rtlCol="0" anchor="ctr"/>
          <a:lstStyle/>
          <a:p>
            <a:pPr indent="0" marL="0">
              <a:buNone/>
            </a:pPr>
            <a:r>
              <a:rPr lang="en-US" sz="1600" b="1" dirty="0">
                <a:solidFill>
                  <a:srgbClr val="1A1A2E"/>
                </a:solidFill>
                <a:latin typeface="Arial" pitchFamily="34" charset="0"/>
                <a:ea typeface="Arial" pitchFamily="34" charset="-122"/>
                <a:cs typeface="Arial" pitchFamily="34" charset="-120"/>
              </a:rPr>
              <a:t>One operation = one physical gate here.  </a:t>
            </a:r>
            <a:pPr indent="0" marL="0">
              <a:buNone/>
            </a:pPr>
            <a:r>
              <a:rPr lang="en-US" sz="1600" dirty="0">
                <a:solidFill>
                  <a:srgbClr val="1A1A2E"/>
                </a:solidFill>
                <a:latin typeface="Arial" pitchFamily="34" charset="0"/>
                <a:ea typeface="Arial" pitchFamily="34" charset="-122"/>
                <a:cs typeface="Arial" pitchFamily="34" charset="-120"/>
              </a:rPr>
              <a:t>There are no layer macros: a 5-gate circuit compiles to 5 gates, so "5" means the same thing to every arm and to the reader.</a:t>
            </a:r>
            <a:endParaRPr lang="en-US" sz="1600" dirty="0"/>
          </a:p>
        </p:txBody>
      </p:sp>
      <p:sp>
        <p:nvSpPr>
          <p:cNvPr id="9" name="Text 6"/>
          <p:cNvSpPr/>
          <p:nvPr/>
        </p:nvSpPr>
        <p:spPr>
          <a:xfrm>
            <a:off x="502920" y="6473952"/>
            <a:ext cx="11185855" cy="274320"/>
          </a:xfrm>
          <a:prstGeom prst="rect">
            <a:avLst/>
          </a:prstGeom>
          <a:noFill/>
          <a:ln/>
        </p:spPr>
        <p:txBody>
          <a:bodyPr wrap="square" lIns="0" tIns="0" rIns="0" bIns="0" rtlCol="0" anchor="ctr"/>
          <a:lstStyle/>
          <a:p>
            <a:pPr indent="0" marL="0">
              <a:buNone/>
            </a:pPr>
            <a:r>
              <a:rPr lang="en-US" sz="1100" dirty="0">
                <a:solidFill>
                  <a:srgbClr val="55606E"/>
                </a:solidFill>
                <a:latin typeface="Arial" pitchFamily="34" charset="0"/>
                <a:ea typeface="Arial" pitchFamily="34" charset="-122"/>
                <a:cs typeface="Arial" pitchFamily="34" charset="-120"/>
              </a:rPr>
              <a:t>llm_vqc/mini5/space.py - the same grammar check is applied to classical samplers and LLM replies alike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85855" cy="274320"/>
          </a:xfrm>
          <a:prstGeom prst="rect">
            <a:avLst/>
          </a:prstGeom>
          <a:noFill/>
          <a:ln/>
        </p:spPr>
        <p:txBody>
          <a:bodyPr wrap="square" lIns="0" tIns="0" rIns="0" bIns="0" rtlCol="0" anchor="ctr"/>
          <a:lstStyle/>
          <a:p>
            <a:pPr indent="0" marL="0">
              <a:buNone/>
            </a:pPr>
            <a:r>
              <a:rPr lang="en-US" sz="1300" b="1" spc="150" kern="0" dirty="0">
                <a:solidFill>
                  <a:srgbClr val="B3261E"/>
                </a:solidFill>
                <a:latin typeface="Arial" pitchFamily="34" charset="0"/>
                <a:ea typeface="Arial" pitchFamily="34" charset="-122"/>
                <a:cs typeface="Arial" pitchFamily="34" charset="-120"/>
              </a:rPr>
              <a:t>WHAT IS MEASURED</a:t>
            </a:r>
            <a:endParaRPr lang="en-US" sz="1300" dirty="0"/>
          </a:p>
        </p:txBody>
      </p:sp>
      <p:sp>
        <p:nvSpPr>
          <p:cNvPr id="3" name="Text 1"/>
          <p:cNvSpPr/>
          <p:nvPr/>
        </p:nvSpPr>
        <p:spPr>
          <a:xfrm>
            <a:off x="502920" y="548640"/>
            <a:ext cx="11185855" cy="658368"/>
          </a:xfrm>
          <a:prstGeom prst="rect">
            <a:avLst/>
          </a:prstGeom>
          <a:noFill/>
          <a:ln/>
        </p:spPr>
        <p:txBody>
          <a:bodyPr wrap="square" lIns="0" tIns="0" rIns="0" bIns="0" rtlCol="0" anchor="ctr"/>
          <a:lstStyle/>
          <a:p>
            <a:pPr indent="0" marL="0">
              <a:buNone/>
            </a:pPr>
            <a:r>
              <a:rPr lang="en-US" sz="3000" b="1" dirty="0">
                <a:solidFill>
                  <a:srgbClr val="1E3A5F"/>
                </a:solidFill>
                <a:latin typeface="Arial" pitchFamily="34" charset="0"/>
                <a:ea typeface="Arial" pitchFamily="34" charset="-122"/>
                <a:cs typeface="Arial" pitchFamily="34" charset="-120"/>
              </a:rPr>
              <a:t>One number, defined once: RMSE</a:t>
            </a:r>
            <a:endParaRPr lang="en-US" sz="3000" dirty="0"/>
          </a:p>
        </p:txBody>
      </p:sp>
      <p:sp>
        <p:nvSpPr>
          <p:cNvPr id="4" name="Text 2"/>
          <p:cNvSpPr/>
          <p:nvPr/>
        </p:nvSpPr>
        <p:spPr>
          <a:xfrm>
            <a:off x="640080" y="1508760"/>
            <a:ext cx="10972800" cy="2743200"/>
          </a:xfrm>
          <a:prstGeom prst="rect">
            <a:avLst/>
          </a:prstGeom>
          <a:noFill/>
          <a:ln/>
        </p:spPr>
        <p:txBody>
          <a:bodyPr wrap="square" lIns="0" tIns="0" rIns="0" bIns="0" rtlCol="0" anchor="t"/>
          <a:lstStyle/>
          <a:p>
            <a:pPr marL="342900" indent="-342900">
              <a:lnSpc>
                <a:spcPct val="112000"/>
              </a:lnSpc>
              <a:spcAft>
                <a:spcPts val="1200"/>
              </a:spcAft>
              <a:buSzPct val="100000"/>
              <a:buChar char="•"/>
            </a:pPr>
            <a:r>
              <a:rPr lang="en-US" sz="1700" dirty="0">
                <a:solidFill>
                  <a:srgbClr val="1A1A2E"/>
                </a:solidFill>
                <a:latin typeface="Arial" pitchFamily="34" charset="0"/>
                <a:ea typeface="Arial" pitchFamily="34" charset="-122"/>
                <a:cs typeface="Arial" pitchFamily="34" charset="-120"/>
              </a:rPr>
              <a:t>Validation RMSE drives the search. Each arm evaluates its candidates and keeps the best one by validation RMSE.</a:t>
            </a:r>
            <a:endParaRPr lang="en-US" sz="1700" dirty="0"/>
          </a:p>
          <a:p>
            <a:pPr marL="342900" indent="-342900">
              <a:lnSpc>
                <a:spcPct val="112000"/>
              </a:lnSpc>
              <a:spcAft>
                <a:spcPts val="1200"/>
              </a:spcAft>
              <a:buSzPct val="100000"/>
              <a:buChar char="•"/>
            </a:pPr>
            <a:r>
              <a:rPr lang="en-US" sz="1700" dirty="0">
                <a:solidFill>
                  <a:srgbClr val="1A1A2E"/>
                </a:solidFill>
                <a:latin typeface="Arial" pitchFamily="34" charset="0"/>
                <a:ea typeface="Arial" pitchFamily="34" charset="-122"/>
                <a:cs typeface="Arial" pitchFamily="34" charset="-120"/>
              </a:rPr>
              <a:t>Test RMSE is reported. The held-out split is touched once per cell, after the choice is frozen, so the reported number was never used to make that choice.</a:t>
            </a:r>
            <a:endParaRPr lang="en-US" sz="1700" dirty="0"/>
          </a:p>
          <a:p>
            <a:pPr marL="342900" indent="-342900">
              <a:lnSpc>
                <a:spcPct val="112000"/>
              </a:lnSpc>
              <a:spcAft>
                <a:spcPts val="1200"/>
              </a:spcAft>
              <a:buSzPct val="100000"/>
              <a:buChar char="•"/>
            </a:pPr>
            <a:r>
              <a:rPr lang="en-US" sz="1700" dirty="0">
                <a:solidFill>
                  <a:srgbClr val="1A1A2E"/>
                </a:solidFill>
                <a:latin typeface="Arial" pitchFamily="34" charset="0"/>
                <a:ea typeface="Arial" pitchFamily="34" charset="-122"/>
                <a:cs typeface="Arial" pitchFamily="34" charset="-120"/>
              </a:rPr>
              <a:t>T1-T3 regress a continuous quantity, so RMSE is the natural metric.</a:t>
            </a:r>
            <a:endParaRPr lang="en-US" sz="1700" dirty="0"/>
          </a:p>
          <a:p>
            <a:pPr marL="342900" indent="-342900">
              <a:lnSpc>
                <a:spcPct val="112000"/>
              </a:lnSpc>
              <a:spcAft>
                <a:spcPts val="1200"/>
              </a:spcAft>
              <a:buSzPct val="100000"/>
              <a:buChar char="•"/>
            </a:pPr>
            <a:r>
              <a:rPr lang="en-US" sz="1700" dirty="0">
                <a:solidFill>
                  <a:srgbClr val="1A1A2E"/>
                </a:solidFill>
                <a:latin typeface="Arial" pitchFamily="34" charset="0"/>
                <a:ea typeface="Arial" pitchFamily="34" charset="-122"/>
                <a:cs typeface="Arial" pitchFamily="34" charset="-120"/>
              </a:rPr>
              <a:t>T4 is binary classification. RMSE against a 0/1 label equals the square root of the Brier score - a proper scoring rule - so all four panels share one axis. AUROC is reported alongside it, and slide 7 shows why that matters.</a:t>
            </a:r>
            <a:endParaRPr lang="en-US" sz="1700" dirty="0"/>
          </a:p>
        </p:txBody>
      </p:sp>
      <p:sp>
        <p:nvSpPr>
          <p:cNvPr id="5" name="Shape 3"/>
          <p:cNvSpPr/>
          <p:nvPr/>
        </p:nvSpPr>
        <p:spPr>
          <a:xfrm>
            <a:off x="640080" y="4434840"/>
            <a:ext cx="10881360" cy="1371600"/>
          </a:xfrm>
          <a:prstGeom prst="roundRect">
            <a:avLst>
              <a:gd name="adj" fmla="val 6667"/>
            </a:avLst>
          </a:prstGeom>
          <a:solidFill>
            <a:srgbClr val="FDF6E8"/>
          </a:solidFill>
          <a:ln w="15240">
            <a:solidFill>
              <a:srgbClr val="B8860B"/>
            </a:solidFill>
            <a:prstDash val="solid"/>
          </a:ln>
        </p:spPr>
      </p:sp>
      <p:sp>
        <p:nvSpPr>
          <p:cNvPr id="6" name="Text 4"/>
          <p:cNvSpPr/>
          <p:nvPr/>
        </p:nvSpPr>
        <p:spPr>
          <a:xfrm>
            <a:off x="868680" y="4572000"/>
            <a:ext cx="10424160" cy="1097280"/>
          </a:xfrm>
          <a:prstGeom prst="rect">
            <a:avLst/>
          </a:prstGeom>
          <a:noFill/>
          <a:ln/>
        </p:spPr>
        <p:txBody>
          <a:bodyPr wrap="square" lIns="0" tIns="0" rIns="0" bIns="0" rtlCol="0" anchor="ctr"/>
          <a:lstStyle/>
          <a:p>
            <a:pPr indent="0" marL="0">
              <a:buNone/>
            </a:pPr>
            <a:r>
              <a:rPr lang="en-US" sz="1700" b="1" dirty="0">
                <a:solidFill>
                  <a:srgbClr val="1A1A2E"/>
                </a:solidFill>
                <a:latin typeface="Arial" pitchFamily="34" charset="0"/>
                <a:ea typeface="Arial" pitchFamily="34" charset="-122"/>
                <a:cs typeface="Arial" pitchFamily="34" charset="-120"/>
              </a:rPr>
              <a:t>RMSE is comparable between arms within one task, never between tasks.  </a:t>
            </a:r>
            <a:pPr indent="0" marL="0">
              <a:buNone/>
            </a:pPr>
            <a:r>
              <a:rPr lang="en-US" sz="1700" dirty="0">
                <a:solidFill>
                  <a:srgbClr val="1A1A2E"/>
                </a:solidFill>
                <a:latin typeface="Arial" pitchFamily="34" charset="0"/>
                <a:ea typeface="Arial" pitchFamily="34" charset="-122"/>
                <a:cs typeface="Arial" pitchFamily="34" charset="-120"/>
              </a:rPr>
              <a:t>T1, T2, T3 and T4 predict different quantities on different scales, so the panels each carry their own y-axis and a T1 value must not be read against a T3 value.</a:t>
            </a:r>
            <a:endParaRPr lang="en-US" sz="1700" dirty="0"/>
          </a:p>
        </p:txBody>
      </p:sp>
      <p:sp>
        <p:nvSpPr>
          <p:cNvPr id="7" name="Text 5"/>
          <p:cNvSpPr/>
          <p:nvPr/>
        </p:nvSpPr>
        <p:spPr>
          <a:xfrm>
            <a:off x="502920" y="6473952"/>
            <a:ext cx="11185855" cy="274320"/>
          </a:xfrm>
          <a:prstGeom prst="rect">
            <a:avLst/>
          </a:prstGeom>
          <a:noFill/>
          <a:ln/>
        </p:spPr>
        <p:txBody>
          <a:bodyPr wrap="square" lIns="0" tIns="0" rIns="0" bIns="0" rtlCol="0" anchor="ctr"/>
          <a:lstStyle/>
          <a:p>
            <a:pPr indent="0" marL="0">
              <a:buNone/>
            </a:pPr>
            <a:r>
              <a:rPr lang="en-US" sz="1100" dirty="0">
                <a:solidFill>
                  <a:srgbClr val="55606E"/>
                </a:solidFill>
                <a:latin typeface="Arial" pitchFamily="34" charset="0"/>
                <a:ea typeface="Arial" pitchFamily="34" charset="-122"/>
                <a:cs typeface="Arial" pitchFamily="34" charset="-120"/>
              </a:rPr>
              <a:t>256 train / 256 validation / 2048 test per replicate, regenerated per seed</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85855" cy="274320"/>
          </a:xfrm>
          <a:prstGeom prst="rect">
            <a:avLst/>
          </a:prstGeom>
          <a:noFill/>
          <a:ln/>
        </p:spPr>
        <p:txBody>
          <a:bodyPr wrap="square" lIns="0" tIns="0" rIns="0" bIns="0" rtlCol="0" anchor="ctr"/>
          <a:lstStyle/>
          <a:p>
            <a:pPr indent="0" marL="0">
              <a:buNone/>
            </a:pPr>
            <a:r>
              <a:rPr lang="en-US" sz="1300" b="1" spc="150" kern="0" dirty="0">
                <a:solidFill>
                  <a:srgbClr val="B3261E"/>
                </a:solidFill>
                <a:latin typeface="Arial" pitchFamily="34" charset="0"/>
                <a:ea typeface="Arial" pitchFamily="34" charset="-122"/>
                <a:cs typeface="Arial" pitchFamily="34" charset="-120"/>
              </a:rPr>
              <a:t>DESIGN</a:t>
            </a:r>
            <a:endParaRPr lang="en-US" sz="1300" dirty="0"/>
          </a:p>
        </p:txBody>
      </p:sp>
      <p:sp>
        <p:nvSpPr>
          <p:cNvPr id="3" name="Text 1"/>
          <p:cNvSpPr/>
          <p:nvPr/>
        </p:nvSpPr>
        <p:spPr>
          <a:xfrm>
            <a:off x="502920" y="548640"/>
            <a:ext cx="11185855" cy="658368"/>
          </a:xfrm>
          <a:prstGeom prst="rect">
            <a:avLst/>
          </a:prstGeom>
          <a:noFill/>
          <a:ln/>
        </p:spPr>
        <p:txBody>
          <a:bodyPr wrap="square" lIns="0" tIns="0" rIns="0" bIns="0" rtlCol="0" anchor="ctr"/>
          <a:lstStyle/>
          <a:p>
            <a:pPr indent="0" marL="0">
              <a:buNone/>
            </a:pPr>
            <a:r>
              <a:rPr lang="en-US" sz="3000" b="1" dirty="0">
                <a:solidFill>
                  <a:srgbClr val="1E3A5F"/>
                </a:solidFill>
                <a:latin typeface="Arial" pitchFamily="34" charset="0"/>
                <a:ea typeface="Arial" pitchFamily="34" charset="-122"/>
                <a:cs typeface="Arial" pitchFamily="34" charset="-120"/>
              </a:rPr>
              <a:t>Five arms, one shared budget of unique candidates</a:t>
            </a:r>
            <a:endParaRPr lang="en-US" sz="3000" dirty="0"/>
          </a:p>
        </p:txBody>
      </p:sp>
      <p:sp>
        <p:nvSpPr>
          <p:cNvPr id="4" name="Shape 2"/>
          <p:cNvSpPr/>
          <p:nvPr/>
        </p:nvSpPr>
        <p:spPr>
          <a:xfrm>
            <a:off x="5699455" y="256032"/>
            <a:ext cx="5989320" cy="402336"/>
          </a:xfrm>
          <a:prstGeom prst="roundRect">
            <a:avLst>
              <a:gd name="adj" fmla="val 15909"/>
            </a:avLst>
          </a:prstGeom>
          <a:solidFill>
            <a:srgbClr val="F4F6FA"/>
          </a:solidFill>
          <a:ln w="12700">
            <a:solidFill>
              <a:srgbClr val="D8DDE6"/>
            </a:solidFill>
            <a:prstDash val="solid"/>
          </a:ln>
        </p:spPr>
      </p:sp>
      <p:sp>
        <p:nvSpPr>
          <p:cNvPr id="5" name="Text 3"/>
          <p:cNvSpPr/>
          <p:nvPr/>
        </p:nvSpPr>
        <p:spPr>
          <a:xfrm>
            <a:off x="5836615" y="274320"/>
            <a:ext cx="5715000" cy="365760"/>
          </a:xfrm>
          <a:prstGeom prst="rect">
            <a:avLst/>
          </a:prstGeom>
          <a:noFill/>
          <a:ln/>
        </p:spPr>
        <p:txBody>
          <a:bodyPr wrap="square" lIns="0" tIns="0" rIns="0" bIns="0" rtlCol="0" anchor="ctr"/>
          <a:lstStyle/>
          <a:p>
            <a:pPr algn="r" indent="0" marL="0">
              <a:buNone/>
            </a:pPr>
            <a:r>
              <a:rPr lang="en-US" sz="1150" b="1" dirty="0">
                <a:solidFill>
                  <a:srgbClr val="1E3A5F"/>
                </a:solidFill>
                <a:latin typeface="Arial" pitchFamily="34" charset="0"/>
                <a:ea typeface="Arial" pitchFamily="34" charset="-122"/>
                <a:cs typeface="Arial" pitchFamily="34" charset="-120"/>
              </a:rPr>
              <a:t>Applies to all three conditions</a:t>
            </a:r>
            <a:pPr algn="r" indent="0" marL="0">
              <a:buNone/>
            </a:pPr>
            <a:r>
              <a:rPr lang="en-US" sz="1150" dirty="0">
                <a:solidFill>
                  <a:srgbClr val="55606E"/>
                </a:solidFill>
                <a:latin typeface="Arial" pitchFamily="34" charset="0"/>
                <a:ea typeface="Arial" pitchFamily="34" charset="-122"/>
                <a:cs typeface="Arial" pitchFamily="34" charset="-120"/>
              </a:rPr>
              <a:t>   arms are identical throughout</a:t>
            </a:r>
            <a:endParaRPr lang="en-US" sz="11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109960" cy="914400"/>
        </p:xfrm>
        <a:graphic>
          <a:graphicData uri="http://schemas.openxmlformats.org/drawingml/2006/table">
            <a:tbl>
              <a:tblPr/>
              <a:tblGrid>
                <a:gridCol w="2286000"/>
                <a:gridCol w="6949440"/>
                <a:gridCol w="1874520"/>
              </a:tblGrid>
              <a:tr h="420624">
                <a:tc>
                  <a:txBody>
                    <a:bodyPr/>
                    <a:lstStyle/>
                    <a:p>
                      <a:pPr indent="0" marL="0">
                        <a:buNone/>
                      </a:pPr>
                      <a:r>
                        <a:rPr lang="en-US" sz="1450" b="1" dirty="0">
                          <a:solidFill>
                            <a:srgbClr val="FFFFFF"/>
                          </a:solidFill>
                          <a:latin typeface="Arial" pitchFamily="34" charset="0"/>
                          <a:ea typeface="Arial" pitchFamily="34" charset="-122"/>
                          <a:cs typeface="Arial" pitchFamily="34" charset="-120"/>
                        </a:rPr>
                        <a:t>Arm</a:t>
                      </a:r>
                      <a:endParaRPr lang="en-US" sz="1450" dirty="0">
                        <a:latin typeface="Arial" charset="0"/>
                        <a:ea typeface="Arial" charset="0"/>
                        <a:cs typeface="Arial" charset="0"/>
                      </a:endParaRPr>
                    </a:p>
                  </a:txBody>
                  <a:tcPr marL="64008" marR="64008" marT="64008" marB="64008" anchor="ctr">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1E3A5F"/>
                    </a:solidFill>
                  </a:tcPr>
                </a:tc>
                <a:tc>
                  <a:txBody>
                    <a:bodyPr/>
                    <a:lstStyle/>
                    <a:p>
                      <a:pPr indent="0" marL="0">
                        <a:buNone/>
                      </a:pPr>
                      <a:r>
                        <a:rPr lang="en-US" sz="1450" b="1" dirty="0">
                          <a:solidFill>
                            <a:srgbClr val="FFFFFF"/>
                          </a:solidFill>
                          <a:latin typeface="Arial" pitchFamily="34" charset="0"/>
                          <a:ea typeface="Arial" pitchFamily="34" charset="-122"/>
                          <a:cs typeface="Arial" pitchFamily="34" charset="-120"/>
                        </a:rPr>
                        <a:t>How it proposes</a:t>
                      </a:r>
                      <a:endParaRPr lang="en-US" sz="1450" dirty="0">
                        <a:latin typeface="Arial" charset="0"/>
                        <a:ea typeface="Arial" charset="0"/>
                        <a:cs typeface="Arial" charset="0"/>
                      </a:endParaRPr>
                    </a:p>
                  </a:txBody>
                  <a:tcPr marL="64008" marR="64008" marT="64008" marB="64008" anchor="ctr">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1E3A5F"/>
                    </a:solidFill>
                  </a:tcPr>
                </a:tc>
                <a:tc>
                  <a:txBody>
                    <a:bodyPr/>
                    <a:lstStyle/>
                    <a:p>
                      <a:pPr indent="0" marL="0">
                        <a:buNone/>
                      </a:pPr>
                      <a:r>
                        <a:rPr lang="en-US" sz="1450" b="1" dirty="0">
                          <a:solidFill>
                            <a:srgbClr val="FFFFFF"/>
                          </a:solidFill>
                          <a:latin typeface="Arial" pitchFamily="34" charset="0"/>
                          <a:ea typeface="Arial" pitchFamily="34" charset="-122"/>
                          <a:cs typeface="Arial" pitchFamily="34" charset="-120"/>
                        </a:rPr>
                        <a:t>API calls</a:t>
                      </a:r>
                      <a:endParaRPr lang="en-US" sz="1450" dirty="0">
                        <a:latin typeface="Arial" charset="0"/>
                        <a:ea typeface="Arial" charset="0"/>
                        <a:cs typeface="Arial" charset="0"/>
                      </a:endParaRPr>
                    </a:p>
                  </a:txBody>
                  <a:tcPr marL="64008" marR="64008" marT="64008" marB="64008" anchor="ctr">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1E3A5F"/>
                    </a:solidFill>
                  </a:tcPr>
                </a:tc>
              </a:tr>
              <a:tr h="420624">
                <a:tc>
                  <a:txBody>
                    <a:bodyPr/>
                    <a:lstStyle/>
                    <a:p>
                      <a:pPr indent="0" marL="0">
                        <a:buNone/>
                      </a:pPr>
                      <a:r>
                        <a:rPr lang="en-US" sz="1450" dirty="0">
                          <a:solidFill>
                            <a:srgbClr val="000000"/>
                          </a:solidFill>
                          <a:latin typeface="Arial" pitchFamily="34" charset="0"/>
                          <a:ea typeface="Arial" pitchFamily="34" charset="-122"/>
                          <a:cs typeface="Arial" pitchFamily="34" charset="-120"/>
                        </a:rPr>
                        <a:t>Random</a:t>
                      </a:r>
                      <a:endParaRPr lang="en-US" sz="1450" dirty="0">
                        <a:latin typeface="Arial" charset="0"/>
                        <a:ea typeface="Arial" charset="0"/>
                        <a:cs typeface="Arial" charset="0"/>
                      </a:endParaRPr>
                    </a:p>
                  </a:txBody>
                  <a:tcPr marL="64008" marR="64008" marT="64008" marB="64008" anchor="ctr">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450" dirty="0">
                          <a:solidFill>
                            <a:srgbClr val="000000"/>
                          </a:solidFill>
                          <a:latin typeface="Arial" pitchFamily="34" charset="0"/>
                          <a:ea typeface="Arial" pitchFamily="34" charset="-122"/>
                          <a:cs typeface="Arial" pitchFamily="34" charset="-120"/>
                        </a:rPr>
                        <a:t>draws 5 gates, wires and angles uniformly</a:t>
                      </a:r>
                      <a:endParaRPr lang="en-US" sz="1450" dirty="0">
                        <a:latin typeface="Arial" charset="0"/>
                        <a:ea typeface="Arial" charset="0"/>
                        <a:cs typeface="Arial" charset="0"/>
                      </a:endParaRPr>
                    </a:p>
                  </a:txBody>
                  <a:tcPr marL="64008" marR="64008" marT="64008" marB="64008" anchor="ctr">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450" dirty="0">
                          <a:solidFill>
                            <a:srgbClr val="000000"/>
                          </a:solidFill>
                          <a:latin typeface="Arial" pitchFamily="34" charset="0"/>
                          <a:ea typeface="Arial" pitchFamily="34" charset="-122"/>
                          <a:cs typeface="Arial" pitchFamily="34" charset="-120"/>
                        </a:rPr>
                        <a:t>none</a:t>
                      </a:r>
                      <a:endParaRPr lang="en-US" sz="1450" dirty="0">
                        <a:latin typeface="Arial" charset="0"/>
                        <a:ea typeface="Arial" charset="0"/>
                        <a:cs typeface="Arial" charset="0"/>
                      </a:endParaRPr>
                    </a:p>
                  </a:txBody>
                  <a:tcPr marL="64008" marR="64008" marT="64008" marB="64008" anchor="ctr">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420624">
                <a:tc>
                  <a:txBody>
                    <a:bodyPr/>
                    <a:lstStyle/>
                    <a:p>
                      <a:pPr indent="0" marL="0">
                        <a:buNone/>
                      </a:pPr>
                      <a:r>
                        <a:rPr lang="en-US" sz="1450" dirty="0">
                          <a:solidFill>
                            <a:srgbClr val="000000"/>
                          </a:solidFill>
                          <a:latin typeface="Arial" pitchFamily="34" charset="0"/>
                          <a:ea typeface="Arial" pitchFamily="34" charset="-122"/>
                          <a:cs typeface="Arial" pitchFamily="34" charset="-120"/>
                        </a:rPr>
                        <a:t>Evolutionary</a:t>
                      </a:r>
                      <a:endParaRPr lang="en-US" sz="1450" dirty="0">
                        <a:latin typeface="Arial" charset="0"/>
                        <a:ea typeface="Arial" charset="0"/>
                        <a:cs typeface="Arial" charset="0"/>
                      </a:endParaRPr>
                    </a:p>
                  </a:txBody>
                  <a:tcPr marL="64008" marR="64008" marT="64008" marB="64008" anchor="ctr">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450" dirty="0">
                          <a:solidFill>
                            <a:srgbClr val="000000"/>
                          </a:solidFill>
                          <a:latin typeface="Arial" pitchFamily="34" charset="0"/>
                          <a:ea typeface="Arial" pitchFamily="34" charset="-122"/>
                          <a:cs typeface="Arial" pitchFamily="34" charset="-120"/>
                        </a:rPr>
                        <a:t>(mu+lambda), mu=4: seed 4 at random, then mutate a survivor</a:t>
                      </a:r>
                      <a:endParaRPr lang="en-US" sz="1450" dirty="0">
                        <a:latin typeface="Arial" charset="0"/>
                        <a:ea typeface="Arial" charset="0"/>
                        <a:cs typeface="Arial" charset="0"/>
                      </a:endParaRPr>
                    </a:p>
                  </a:txBody>
                  <a:tcPr marL="64008" marR="64008" marT="64008" marB="64008" anchor="ctr">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450" dirty="0">
                          <a:solidFill>
                            <a:srgbClr val="000000"/>
                          </a:solidFill>
                          <a:latin typeface="Arial" pitchFamily="34" charset="0"/>
                          <a:ea typeface="Arial" pitchFamily="34" charset="-122"/>
                          <a:cs typeface="Arial" pitchFamily="34" charset="-120"/>
                        </a:rPr>
                        <a:t>none</a:t>
                      </a:r>
                      <a:endParaRPr lang="en-US" sz="1450" dirty="0">
                        <a:latin typeface="Arial" charset="0"/>
                        <a:ea typeface="Arial" charset="0"/>
                        <a:cs typeface="Arial" charset="0"/>
                      </a:endParaRPr>
                    </a:p>
                  </a:txBody>
                  <a:tcPr marL="64008" marR="64008" marT="64008" marB="64008" anchor="ctr">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420624">
                <a:tc>
                  <a:txBody>
                    <a:bodyPr/>
                    <a:lstStyle/>
                    <a:p>
                      <a:pPr indent="0" marL="0">
                        <a:buNone/>
                      </a:pPr>
                      <a:r>
                        <a:rPr lang="en-US" sz="1450" dirty="0">
                          <a:solidFill>
                            <a:srgbClr val="000000"/>
                          </a:solidFill>
                          <a:latin typeface="Arial" pitchFamily="34" charset="0"/>
                          <a:ea typeface="Arial" pitchFamily="34" charset="-122"/>
                          <a:cs typeface="Arial" pitchFamily="34" charset="-120"/>
                        </a:rPr>
                        <a:t>Greedy</a:t>
                      </a:r>
                      <a:endParaRPr lang="en-US" sz="1450" dirty="0">
                        <a:latin typeface="Arial" charset="0"/>
                        <a:ea typeface="Arial" charset="0"/>
                        <a:cs typeface="Arial" charset="0"/>
                      </a:endParaRPr>
                    </a:p>
                  </a:txBody>
                  <a:tcPr marL="64008" marR="64008" marT="64008" marB="64008" anchor="ctr">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450" dirty="0">
                          <a:solidFill>
                            <a:srgbClr val="000000"/>
                          </a:solidFill>
                          <a:latin typeface="Arial" pitchFamily="34" charset="0"/>
                          <a:ea typeface="Arial" pitchFamily="34" charset="-122"/>
                          <a:cs typeface="Arial" pitchFamily="34" charset="-120"/>
                        </a:rPr>
                        <a:t>hill climbing: mutate the incumbent, keep it only if validation improves</a:t>
                      </a:r>
                      <a:endParaRPr lang="en-US" sz="1450" dirty="0">
                        <a:latin typeface="Arial" charset="0"/>
                        <a:ea typeface="Arial" charset="0"/>
                        <a:cs typeface="Arial" charset="0"/>
                      </a:endParaRPr>
                    </a:p>
                  </a:txBody>
                  <a:tcPr marL="64008" marR="64008" marT="64008" marB="64008" anchor="ctr">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450" dirty="0">
                          <a:solidFill>
                            <a:srgbClr val="000000"/>
                          </a:solidFill>
                          <a:latin typeface="Arial" pitchFamily="34" charset="0"/>
                          <a:ea typeface="Arial" pitchFamily="34" charset="-122"/>
                          <a:cs typeface="Arial" pitchFamily="34" charset="-120"/>
                        </a:rPr>
                        <a:t>none</a:t>
                      </a:r>
                      <a:endParaRPr lang="en-US" sz="1450" dirty="0">
                        <a:latin typeface="Arial" charset="0"/>
                        <a:ea typeface="Arial" charset="0"/>
                        <a:cs typeface="Arial" charset="0"/>
                      </a:endParaRPr>
                    </a:p>
                  </a:txBody>
                  <a:tcPr marL="64008" marR="64008" marT="64008" marB="64008" anchor="ctr">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420624">
                <a:tc>
                  <a:txBody>
                    <a:bodyPr/>
                    <a:lstStyle/>
                    <a:p>
                      <a:pPr indent="0" marL="0">
                        <a:buNone/>
                      </a:pPr>
                      <a:r>
                        <a:rPr lang="en-US" sz="1450" dirty="0">
                          <a:solidFill>
                            <a:srgbClr val="000000"/>
                          </a:solidFill>
                          <a:latin typeface="Arial" pitchFamily="34" charset="0"/>
                          <a:ea typeface="Arial" pitchFamily="34" charset="-122"/>
                          <a:cs typeface="Arial" pitchFamily="34" charset="-120"/>
                        </a:rPr>
                        <a:t>LLM open-loop</a:t>
                      </a:r>
                      <a:endParaRPr lang="en-US" sz="1450" dirty="0">
                        <a:latin typeface="Arial" charset="0"/>
                        <a:ea typeface="Arial" charset="0"/>
                        <a:cs typeface="Arial" charset="0"/>
                      </a:endParaRPr>
                    </a:p>
                  </a:txBody>
                  <a:tcPr marL="64008" marR="64008" marT="64008" marB="64008" anchor="ctr">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450" dirty="0">
                          <a:solidFill>
                            <a:srgbClr val="000000"/>
                          </a:solidFill>
                          <a:latin typeface="Arial" pitchFamily="34" charset="0"/>
                          <a:ea typeface="Arial" pitchFamily="34" charset="-122"/>
                          <a:cs typeface="Arial" pitchFamily="34" charset="-120"/>
                        </a:rPr>
                        <a:t>one request per candidate; sees only the model contract and n</a:t>
                      </a:r>
                      <a:endParaRPr lang="en-US" sz="1450" dirty="0">
                        <a:latin typeface="Arial" charset="0"/>
                        <a:ea typeface="Arial" charset="0"/>
                        <a:cs typeface="Arial" charset="0"/>
                      </a:endParaRPr>
                    </a:p>
                  </a:txBody>
                  <a:tcPr marL="64008" marR="64008" marT="64008" marB="64008" anchor="ctr">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450" dirty="0">
                          <a:solidFill>
                            <a:srgbClr val="000000"/>
                          </a:solidFill>
                          <a:latin typeface="Arial" pitchFamily="34" charset="0"/>
                          <a:ea typeface="Arial" pitchFamily="34" charset="-122"/>
                          <a:cs typeface="Arial" pitchFamily="34" charset="-120"/>
                        </a:rPr>
                        <a:t>1 per candidate</a:t>
                      </a:r>
                      <a:endParaRPr lang="en-US" sz="1450" dirty="0">
                        <a:latin typeface="Arial" charset="0"/>
                        <a:ea typeface="Arial" charset="0"/>
                        <a:cs typeface="Arial" charset="0"/>
                      </a:endParaRPr>
                    </a:p>
                  </a:txBody>
                  <a:tcPr marL="64008" marR="64008" marT="64008" marB="64008" anchor="ctr">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420624">
                <a:tc>
                  <a:txBody>
                    <a:bodyPr/>
                    <a:lstStyle/>
                    <a:p>
                      <a:pPr indent="0" marL="0">
                        <a:buNone/>
                      </a:pPr>
                      <a:r>
                        <a:rPr lang="en-US" sz="1450" dirty="0">
                          <a:solidFill>
                            <a:srgbClr val="000000"/>
                          </a:solidFill>
                          <a:latin typeface="Arial" pitchFamily="34" charset="0"/>
                          <a:ea typeface="Arial" pitchFamily="34" charset="-122"/>
                          <a:cs typeface="Arial" pitchFamily="34" charset="-120"/>
                        </a:rPr>
                        <a:t>LLM closed-loop</a:t>
                      </a:r>
                      <a:endParaRPr lang="en-US" sz="1450" dirty="0">
                        <a:latin typeface="Arial" charset="0"/>
                        <a:ea typeface="Arial" charset="0"/>
                        <a:cs typeface="Arial" charset="0"/>
                      </a:endParaRPr>
                    </a:p>
                  </a:txBody>
                  <a:tcPr marL="64008" marR="64008" marT="64008" marB="64008" anchor="ctr">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450" dirty="0">
                          <a:solidFill>
                            <a:srgbClr val="000000"/>
                          </a:solidFill>
                          <a:latin typeface="Arial" pitchFamily="34" charset="0"/>
                          <a:ea typeface="Arial" pitchFamily="34" charset="-122"/>
                          <a:cs typeface="Arial" pitchFamily="34" charset="-120"/>
                        </a:rPr>
                        <a:t>same, plus validation-only results for what it already tried</a:t>
                      </a:r>
                      <a:endParaRPr lang="en-US" sz="1450" dirty="0">
                        <a:latin typeface="Arial" charset="0"/>
                        <a:ea typeface="Arial" charset="0"/>
                        <a:cs typeface="Arial" charset="0"/>
                      </a:endParaRPr>
                    </a:p>
                  </a:txBody>
                  <a:tcPr marL="64008" marR="64008" marT="64008" marB="64008" anchor="ctr">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450" dirty="0">
                          <a:solidFill>
                            <a:srgbClr val="000000"/>
                          </a:solidFill>
                          <a:latin typeface="Arial" pitchFamily="34" charset="0"/>
                          <a:ea typeface="Arial" pitchFamily="34" charset="-122"/>
                          <a:cs typeface="Arial" pitchFamily="34" charset="-120"/>
                        </a:rPr>
                        <a:t>1 per candidate</a:t>
                      </a:r>
                      <a:endParaRPr lang="en-US" sz="1450" dirty="0">
                        <a:latin typeface="Arial" charset="0"/>
                        <a:ea typeface="Arial" charset="0"/>
                        <a:cs typeface="Arial" charset="0"/>
                      </a:endParaRPr>
                    </a:p>
                  </a:txBody>
                  <a:tcPr marL="64008" marR="64008" marT="64008" marB="64008" anchor="ctr">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bl>
          </a:graphicData>
        </a:graphic>
      </p:graphicFrame>
      <p:sp>
        <p:nvSpPr>
          <p:cNvPr id="7" name="Shape 4"/>
          <p:cNvSpPr/>
          <p:nvPr/>
        </p:nvSpPr>
        <p:spPr>
          <a:xfrm>
            <a:off x="548640" y="4114800"/>
            <a:ext cx="11109960" cy="1691640"/>
          </a:xfrm>
          <a:prstGeom prst="roundRect">
            <a:avLst>
              <a:gd name="adj" fmla="val 5405"/>
            </a:avLst>
          </a:prstGeom>
          <a:solidFill>
            <a:srgbClr val="F4F6FA"/>
          </a:solidFill>
          <a:ln w="12700">
            <a:solidFill>
              <a:srgbClr val="D8DDE6"/>
            </a:solidFill>
            <a:prstDash val="solid"/>
          </a:ln>
        </p:spPr>
      </p:sp>
      <p:sp>
        <p:nvSpPr>
          <p:cNvPr id="8" name="Text 5"/>
          <p:cNvSpPr/>
          <p:nvPr/>
        </p:nvSpPr>
        <p:spPr>
          <a:xfrm>
            <a:off x="777240" y="4224528"/>
            <a:ext cx="10607040" cy="1463040"/>
          </a:xfrm>
          <a:prstGeom prst="rect">
            <a:avLst/>
          </a:prstGeom>
          <a:noFill/>
          <a:ln/>
        </p:spPr>
        <p:txBody>
          <a:bodyPr wrap="square" lIns="0" tIns="0" rIns="0" bIns="0" rtlCol="0" anchor="ctr"/>
          <a:lstStyle/>
          <a:p>
            <a:pPr indent="0" marL="0">
              <a:buNone/>
            </a:pPr>
            <a:r>
              <a:rPr lang="en-US" sz="1700" b="1" dirty="0">
                <a:solidFill>
                  <a:srgbClr val="1E3A5F"/>
                </a:solidFill>
                <a:latin typeface="Arial" pitchFamily="34" charset="0"/>
                <a:ea typeface="Arial" pitchFamily="34" charset="-122"/>
                <a:cs typeface="Arial" pitchFamily="34" charset="-120"/>
              </a:rPr>
              <a:t>B = 8 unique evaluated candidates per arm, 10 seeds.  </a:t>
            </a:r>
            <a:pPr indent="0" marL="0">
              <a:buNone/>
            </a:pPr>
            <a:r>
              <a:rPr lang="en-US" sz="1700" dirty="0">
                <a:solidFill>
                  <a:srgbClr val="1A1A2E"/>
                </a:solidFill>
                <a:latin typeface="Arial" pitchFamily="34" charset="0"/>
                <a:ea typeface="Arial" pitchFamily="34" charset="-122"/>
                <a:cs typeface="Arial" pitchFamily="34" charset="-120"/>
              </a:rPr>
              <a:t>A duplicate or an ungrammatical proposal is recorded but consumes no budget, so no method can buy extra evaluations by proposing badly - and no method gets fewer because it proposes well. One candidate per request, so the closed loop is genuinely sequential: propose, see the result, propose again, eight times.</a:t>
            </a:r>
            <a:endParaRPr lang="en-US" sz="1700" dirty="0"/>
          </a:p>
        </p:txBody>
      </p:sp>
      <p:sp>
        <p:nvSpPr>
          <p:cNvPr id="9" name="Text 6"/>
          <p:cNvSpPr/>
          <p:nvPr/>
        </p:nvSpPr>
        <p:spPr>
          <a:xfrm>
            <a:off x="502920" y="6473952"/>
            <a:ext cx="11185855" cy="274320"/>
          </a:xfrm>
          <a:prstGeom prst="rect">
            <a:avLst/>
          </a:prstGeom>
          <a:noFill/>
          <a:ln/>
        </p:spPr>
        <p:txBody>
          <a:bodyPr wrap="square" lIns="0" tIns="0" rIns="0" bIns="0" rtlCol="0" anchor="ctr"/>
          <a:lstStyle/>
          <a:p>
            <a:pPr indent="0" marL="0">
              <a:buNone/>
            </a:pPr>
            <a:r>
              <a:rPr lang="en-US" sz="1100" dirty="0">
                <a:solidFill>
                  <a:srgbClr val="55606E"/>
                </a:solidFill>
                <a:latin typeface="Arial" pitchFamily="34" charset="0"/>
                <a:ea typeface="Arial" pitchFamily="34" charset="-122"/>
                <a:cs typeface="Arial" pitchFamily="34" charset="-120"/>
              </a:rPr>
              <a:t>Greedy growth cannot apply at fixed length, so Greedy here is fixed-length hill climbing</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85855" cy="274320"/>
          </a:xfrm>
          <a:prstGeom prst="rect">
            <a:avLst/>
          </a:prstGeom>
          <a:noFill/>
          <a:ln/>
        </p:spPr>
        <p:txBody>
          <a:bodyPr wrap="square" lIns="0" tIns="0" rIns="0" bIns="0" rtlCol="0" anchor="ctr"/>
          <a:lstStyle/>
          <a:p>
            <a:pPr indent="0" marL="0">
              <a:buNone/>
            </a:pPr>
            <a:r>
              <a:rPr lang="en-US" sz="1300" b="1" spc="150" kern="0" dirty="0">
                <a:solidFill>
                  <a:srgbClr val="B3261E"/>
                </a:solidFill>
                <a:latin typeface="Arial" pitchFamily="34" charset="0"/>
                <a:ea typeface="Arial" pitchFamily="34" charset="-122"/>
                <a:cs typeface="Arial" pitchFamily="34" charset="-120"/>
              </a:rPr>
              <a:t>RESULT</a:t>
            </a:r>
            <a:endParaRPr lang="en-US" sz="1300" dirty="0"/>
          </a:p>
        </p:txBody>
      </p:sp>
      <p:sp>
        <p:nvSpPr>
          <p:cNvPr id="3" name="Text 1"/>
          <p:cNvSpPr/>
          <p:nvPr/>
        </p:nvSpPr>
        <p:spPr>
          <a:xfrm>
            <a:off x="502920" y="548640"/>
            <a:ext cx="11185855" cy="658368"/>
          </a:xfrm>
          <a:prstGeom prst="rect">
            <a:avLst/>
          </a:prstGeom>
          <a:noFill/>
          <a:ln/>
        </p:spPr>
        <p:txBody>
          <a:bodyPr wrap="square" lIns="0" tIns="0" rIns="0" bIns="0" rtlCol="0" anchor="ctr"/>
          <a:lstStyle/>
          <a:p>
            <a:pPr indent="0" marL="0">
              <a:buNone/>
            </a:pPr>
            <a:r>
              <a:rPr lang="en-US" sz="3000" b="1" dirty="0">
                <a:solidFill>
                  <a:srgbClr val="1E3A5F"/>
                </a:solidFill>
                <a:latin typeface="Arial" pitchFamily="34" charset="0"/>
                <a:ea typeface="Arial" pitchFamily="34" charset="-122"/>
                <a:cs typeface="Arial" pitchFamily="34" charset="-120"/>
              </a:rPr>
              <a:t>Random search wins on three of four tasks</a:t>
            </a:r>
            <a:endParaRPr lang="en-US" sz="3000" dirty="0"/>
          </a:p>
        </p:txBody>
      </p:sp>
      <p:sp>
        <p:nvSpPr>
          <p:cNvPr id="4" name="Shape 2"/>
          <p:cNvSpPr/>
          <p:nvPr/>
        </p:nvSpPr>
        <p:spPr>
          <a:xfrm>
            <a:off x="5699455" y="256032"/>
            <a:ext cx="5989320" cy="402336"/>
          </a:xfrm>
          <a:prstGeom prst="roundRect">
            <a:avLst>
              <a:gd name="adj" fmla="val 15909"/>
            </a:avLst>
          </a:prstGeom>
          <a:solidFill>
            <a:srgbClr val="F4F6FA"/>
          </a:solidFill>
          <a:ln w="12700">
            <a:solidFill>
              <a:srgbClr val="D8DDE6"/>
            </a:solidFill>
            <a:prstDash val="solid"/>
          </a:ln>
        </p:spPr>
      </p:sp>
      <p:sp>
        <p:nvSpPr>
          <p:cNvPr id="5" name="Text 3"/>
          <p:cNvSpPr/>
          <p:nvPr/>
        </p:nvSpPr>
        <p:spPr>
          <a:xfrm>
            <a:off x="5836615" y="274320"/>
            <a:ext cx="5715000" cy="365760"/>
          </a:xfrm>
          <a:prstGeom prst="rect">
            <a:avLst/>
          </a:prstGeom>
          <a:noFill/>
          <a:ln/>
        </p:spPr>
        <p:txBody>
          <a:bodyPr wrap="square" lIns="0" tIns="0" rIns="0" bIns="0" rtlCol="0" anchor="ctr"/>
          <a:lstStyle/>
          <a:p>
            <a:pPr algn="r" indent="0" marL="0">
              <a:buNone/>
            </a:pPr>
            <a:r>
              <a:rPr lang="en-US" sz="1150" b="1" dirty="0">
                <a:solidFill>
                  <a:srgbClr val="1E3A5F"/>
                </a:solidFill>
                <a:latin typeface="Arial" pitchFamily="34" charset="0"/>
                <a:ea typeface="Arial" pitchFamily="34" charset="-122"/>
                <a:cs typeface="Arial" pitchFamily="34" charset="-120"/>
              </a:rPr>
              <a:t>PRIMARY: exactly 5 gates, B = 8, 10 seeds</a:t>
            </a:r>
            <a:pPr algn="r" indent="0" marL="0">
              <a:buNone/>
            </a:pPr>
            <a:r>
              <a:rPr lang="en-US" sz="1150" dirty="0">
                <a:solidFill>
                  <a:srgbClr val="55606E"/>
                </a:solidFill>
                <a:latin typeface="Arial" pitchFamily="34" charset="0"/>
                <a:ea typeface="Arial" pitchFamily="34" charset="-122"/>
                <a:cs typeface="Arial" pitchFamily="34" charset="-120"/>
              </a:rPr>
              <a:t>   all four tasks, T1-T4</a:t>
            </a:r>
            <a:endParaRPr lang="en-US" sz="1150" dirty="0"/>
          </a:p>
        </p:txBody>
      </p:sp>
      <p:pic>
        <p:nvPicPr>
          <p:cNvPr id="6" name="Image 0" descr="/Users/hatanakatomoya/Developer/Sim/llm-vqc/.claude/worktrees/github-author-config-faee6e/docs/presentation/mini5/figures/fig_main.png">    </p:cNvPr>
          <p:cNvPicPr>
            <a:picLocks noChangeAspect="1"/>
          </p:cNvPicPr>
          <p:nvPr/>
        </p:nvPicPr>
        <p:blipFill>
          <a:blip r:embed="rId1"/>
          <a:stretch>
            <a:fillRect/>
          </a:stretch>
        </p:blipFill>
        <p:spPr>
          <a:xfrm>
            <a:off x="320040" y="1371600"/>
            <a:ext cx="11521440" cy="3611880"/>
          </a:xfrm>
          <a:prstGeom prst="rect">
            <a:avLst/>
          </a:prstGeom>
        </p:spPr>
      </p:pic>
      <p:sp>
        <p:nvSpPr>
          <p:cNvPr id="7" name="Shape 4"/>
          <p:cNvSpPr/>
          <p:nvPr/>
        </p:nvSpPr>
        <p:spPr>
          <a:xfrm>
            <a:off x="548640" y="5230368"/>
            <a:ext cx="11109960" cy="914400"/>
          </a:xfrm>
          <a:prstGeom prst="roundRect">
            <a:avLst>
              <a:gd name="adj" fmla="val 8000"/>
            </a:avLst>
          </a:prstGeom>
          <a:solidFill>
            <a:srgbClr val="F4F6FA"/>
          </a:solidFill>
          <a:ln w="12700">
            <a:solidFill>
              <a:srgbClr val="D8DDE6"/>
            </a:solidFill>
            <a:prstDash val="solid"/>
          </a:ln>
        </p:spPr>
      </p:sp>
      <p:sp>
        <p:nvSpPr>
          <p:cNvPr id="8" name="Text 5"/>
          <p:cNvSpPr/>
          <p:nvPr/>
        </p:nvSpPr>
        <p:spPr>
          <a:xfrm>
            <a:off x="777240" y="5340096"/>
            <a:ext cx="10607040" cy="731520"/>
          </a:xfrm>
          <a:prstGeom prst="rect">
            <a:avLst/>
          </a:prstGeom>
          <a:noFill/>
          <a:ln/>
        </p:spPr>
        <p:txBody>
          <a:bodyPr wrap="square" lIns="0" tIns="0" rIns="0" bIns="0" rtlCol="0" anchor="ctr"/>
          <a:lstStyle/>
          <a:p>
            <a:pPr indent="0" marL="0">
              <a:buNone/>
            </a:pPr>
            <a:r>
              <a:rPr lang="en-US" sz="1600" b="1" dirty="0">
                <a:solidFill>
                  <a:srgbClr val="0B7A4B"/>
                </a:solidFill>
                <a:latin typeface="Arial" pitchFamily="34" charset="0"/>
                <a:ea typeface="Arial" pitchFamily="34" charset="-122"/>
                <a:cs typeface="Arial" pitchFamily="34" charset="-120"/>
              </a:rPr>
              <a:t>The LLM wins on T2 alone, and there it wins clearly </a:t>
            </a:r>
            <a:pPr indent="0" marL="0">
              <a:buNone/>
            </a:pPr>
            <a:r>
              <a:rPr lang="en-US" sz="1600" dirty="0">
                <a:solidFill>
                  <a:srgbClr val="1A1A2E"/>
                </a:solidFill>
                <a:latin typeface="Arial" pitchFamily="34" charset="0"/>
                <a:ea typeface="Arial" pitchFamily="34" charset="-122"/>
                <a:cs typeface="Arial" pitchFamily="34" charset="-120"/>
              </a:rPr>
              <a:t>(0.204 vs 0.295).   </a:t>
            </a:r>
            <a:pPr indent="0" marL="0">
              <a:buNone/>
            </a:pPr>
            <a:r>
              <a:rPr lang="en-US" sz="1600" b="1" dirty="0">
                <a:solidFill>
                  <a:srgbClr val="B3261E"/>
                </a:solidFill>
                <a:latin typeface="Arial" pitchFamily="34" charset="0"/>
                <a:ea typeface="Arial" pitchFamily="34" charset="-122"/>
                <a:cs typeface="Arial" pitchFamily="34" charset="-120"/>
              </a:rPr>
              <a:t>Closed-loop never beats open-loop on any task: eight rounds of feedback did not help this model at this budget.</a:t>
            </a:r>
            <a:endParaRPr lang="en-US" sz="1600" dirty="0"/>
          </a:p>
        </p:txBody>
      </p:sp>
      <p:sp>
        <p:nvSpPr>
          <p:cNvPr id="9" name="Text 6"/>
          <p:cNvSpPr/>
          <p:nvPr/>
        </p:nvSpPr>
        <p:spPr>
          <a:xfrm>
            <a:off x="502920" y="6473952"/>
            <a:ext cx="11185855" cy="274320"/>
          </a:xfrm>
          <a:prstGeom prst="rect">
            <a:avLst/>
          </a:prstGeom>
          <a:noFill/>
          <a:ln/>
        </p:spPr>
        <p:txBody>
          <a:bodyPr wrap="square" lIns="0" tIns="0" rIns="0" bIns="0" rtlCol="0" anchor="ctr"/>
          <a:lstStyle/>
          <a:p>
            <a:pPr indent="0" marL="0">
              <a:buNone/>
            </a:pPr>
            <a:r>
              <a:rPr lang="en-US" sz="1100" dirty="0">
                <a:solidFill>
                  <a:srgbClr val="55606E"/>
                </a:solidFill>
                <a:latin typeface="Arial" pitchFamily="34" charset="0"/>
                <a:ea typeface="Arial" pitchFamily="34" charset="-122"/>
                <a:cs typeface="Arial" pitchFamily="34" charset="-120"/>
              </a:rPr>
              <a:t>10 seeds per arm, B = 8, exactly 5 gates · data/per_cell.csv</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85855" cy="274320"/>
          </a:xfrm>
          <a:prstGeom prst="rect">
            <a:avLst/>
          </a:prstGeom>
          <a:noFill/>
          <a:ln/>
        </p:spPr>
        <p:txBody>
          <a:bodyPr wrap="square" lIns="0" tIns="0" rIns="0" bIns="0" rtlCol="0" anchor="ctr"/>
          <a:lstStyle/>
          <a:p>
            <a:pPr indent="0" marL="0">
              <a:buNone/>
            </a:pPr>
            <a:r>
              <a:rPr lang="en-US" sz="1300" b="1" spc="150" kern="0" dirty="0">
                <a:solidFill>
                  <a:srgbClr val="B3261E"/>
                </a:solidFill>
                <a:latin typeface="Arial" pitchFamily="34" charset="0"/>
                <a:ea typeface="Arial" pitchFamily="34" charset="-122"/>
                <a:cs typeface="Arial" pitchFamily="34" charset="-120"/>
              </a:rPr>
              <a:t>METRIC CHECK</a:t>
            </a:r>
            <a:endParaRPr lang="en-US" sz="1300" dirty="0"/>
          </a:p>
        </p:txBody>
      </p:sp>
      <p:sp>
        <p:nvSpPr>
          <p:cNvPr id="3" name="Text 1"/>
          <p:cNvSpPr/>
          <p:nvPr/>
        </p:nvSpPr>
        <p:spPr>
          <a:xfrm>
            <a:off x="502920" y="548640"/>
            <a:ext cx="11185855" cy="658368"/>
          </a:xfrm>
          <a:prstGeom prst="rect">
            <a:avLst/>
          </a:prstGeom>
          <a:noFill/>
          <a:ln/>
        </p:spPr>
        <p:txBody>
          <a:bodyPr wrap="square" lIns="0" tIns="0" rIns="0" bIns="0" rtlCol="0" anchor="ctr"/>
          <a:lstStyle/>
          <a:p>
            <a:pPr indent="0" marL="0">
              <a:buNone/>
            </a:pPr>
            <a:r>
              <a:rPr lang="en-US" sz="3000" b="1" dirty="0">
                <a:solidFill>
                  <a:srgbClr val="1E3A5F"/>
                </a:solidFill>
                <a:latin typeface="Arial" pitchFamily="34" charset="0"/>
                <a:ea typeface="Arial" pitchFamily="34" charset="-122"/>
                <a:cs typeface="Arial" pitchFamily="34" charset="-120"/>
              </a:rPr>
              <a:t>On T4 the metric, not the method, picks the winner</a:t>
            </a:r>
            <a:endParaRPr lang="en-US" sz="3000" dirty="0"/>
          </a:p>
        </p:txBody>
      </p:sp>
      <p:sp>
        <p:nvSpPr>
          <p:cNvPr id="4" name="Shape 2"/>
          <p:cNvSpPr/>
          <p:nvPr/>
        </p:nvSpPr>
        <p:spPr>
          <a:xfrm>
            <a:off x="5699455" y="256032"/>
            <a:ext cx="5989320" cy="402336"/>
          </a:xfrm>
          <a:prstGeom prst="roundRect">
            <a:avLst>
              <a:gd name="adj" fmla="val 15909"/>
            </a:avLst>
          </a:prstGeom>
          <a:solidFill>
            <a:srgbClr val="F4F6FA"/>
          </a:solidFill>
          <a:ln w="12700">
            <a:solidFill>
              <a:srgbClr val="D8DDE6"/>
            </a:solidFill>
            <a:prstDash val="solid"/>
          </a:ln>
        </p:spPr>
      </p:sp>
      <p:sp>
        <p:nvSpPr>
          <p:cNvPr id="5" name="Text 3"/>
          <p:cNvSpPr/>
          <p:nvPr/>
        </p:nvSpPr>
        <p:spPr>
          <a:xfrm>
            <a:off x="5836615" y="274320"/>
            <a:ext cx="5715000" cy="365760"/>
          </a:xfrm>
          <a:prstGeom prst="rect">
            <a:avLst/>
          </a:prstGeom>
          <a:noFill/>
          <a:ln/>
        </p:spPr>
        <p:txBody>
          <a:bodyPr wrap="square" lIns="0" tIns="0" rIns="0" bIns="0" rtlCol="0" anchor="ctr"/>
          <a:lstStyle/>
          <a:p>
            <a:pPr algn="r" indent="0" marL="0">
              <a:buNone/>
            </a:pPr>
            <a:r>
              <a:rPr lang="en-US" sz="1150" b="1" dirty="0">
                <a:solidFill>
                  <a:srgbClr val="1E3A5F"/>
                </a:solidFill>
                <a:latin typeface="Arial" pitchFamily="34" charset="0"/>
                <a:ea typeface="Arial" pitchFamily="34" charset="-122"/>
                <a:cs typeface="Arial" pitchFamily="34" charset="-120"/>
              </a:rPr>
              <a:t>PRIMARY: exactly 5 gates, B = 8, 10 seeds</a:t>
            </a:r>
            <a:pPr algn="r" indent="0" marL="0">
              <a:buNone/>
            </a:pPr>
            <a:r>
              <a:rPr lang="en-US" sz="1150" dirty="0">
                <a:solidFill>
                  <a:srgbClr val="55606E"/>
                </a:solidFill>
                <a:latin typeface="Arial" pitchFamily="34" charset="0"/>
                <a:ea typeface="Arial" pitchFamily="34" charset="-122"/>
                <a:cs typeface="Arial" pitchFamily="34" charset="-120"/>
              </a:rPr>
              <a:t>   T4 only (peak count, 5 qubits)</a:t>
            </a:r>
            <a:endParaRPr lang="en-US" sz="1150" dirty="0"/>
          </a:p>
        </p:txBody>
      </p:sp>
      <p:pic>
        <p:nvPicPr>
          <p:cNvPr id="6" name="Image 0" descr="/Users/hatanakatomoya/Developer/Sim/llm-vqc/.claude/worktrees/github-author-config-faee6e/docs/presentation/mini5/figures/fig_t4_check.png">    </p:cNvPr>
          <p:cNvPicPr>
            <a:picLocks noChangeAspect="1"/>
          </p:cNvPicPr>
          <p:nvPr/>
        </p:nvPicPr>
        <p:blipFill>
          <a:blip r:embed="rId1"/>
          <a:stretch>
            <a:fillRect/>
          </a:stretch>
        </p:blipFill>
        <p:spPr>
          <a:xfrm>
            <a:off x="731520" y="1417320"/>
            <a:ext cx="6675120" cy="3017520"/>
          </a:xfrm>
          <a:prstGeom prst="rect">
            <a:avLst/>
          </a:prstGeom>
        </p:spPr>
      </p:pic>
      <p:sp>
        <p:nvSpPr>
          <p:cNvPr id="7" name="Text 4"/>
          <p:cNvSpPr/>
          <p:nvPr/>
        </p:nvSpPr>
        <p:spPr>
          <a:xfrm>
            <a:off x="7680960" y="1554480"/>
            <a:ext cx="4023360" cy="3017520"/>
          </a:xfrm>
          <a:prstGeom prst="rect">
            <a:avLst/>
          </a:prstGeom>
          <a:noFill/>
          <a:ln/>
        </p:spPr>
        <p:txBody>
          <a:bodyPr wrap="square" lIns="0" tIns="0" rIns="0" bIns="0" rtlCol="0" anchor="t"/>
          <a:lstStyle/>
          <a:p>
            <a:pPr marL="342900" indent="-342900">
              <a:lnSpc>
                <a:spcPct val="112000"/>
              </a:lnSpc>
              <a:spcAft>
                <a:spcPts val="1000"/>
              </a:spcAft>
              <a:buSzPct val="100000"/>
              <a:buChar char="•"/>
            </a:pPr>
            <a:r>
              <a:rPr lang="en-US" sz="1450" dirty="0">
                <a:solidFill>
                  <a:srgbClr val="1A1A2E"/>
                </a:solidFill>
                <a:latin typeface="Arial" pitchFamily="34" charset="0"/>
                <a:ea typeface="Arial" pitchFamily="34" charset="-122"/>
                <a:cs typeface="Arial" pitchFamily="34" charset="-120"/>
              </a:rPr>
              <a:t>By RMSE, Random leads. By AUROC, LLM open-loop leads. Same predictions, opposite ranking.</a:t>
            </a:r>
            <a:endParaRPr lang="en-US" sz="1450" dirty="0"/>
          </a:p>
          <a:p>
            <a:pPr marL="342900" indent="-342900">
              <a:lnSpc>
                <a:spcPct val="112000"/>
              </a:lnSpc>
              <a:spcAft>
                <a:spcPts val="1000"/>
              </a:spcAft>
              <a:buSzPct val="100000"/>
              <a:buChar char="•"/>
            </a:pPr>
            <a:r>
              <a:rPr lang="en-US" sz="1450" dirty="0">
                <a:solidFill>
                  <a:srgbClr val="1A1A2E"/>
                </a:solidFill>
                <a:latin typeface="Arial" pitchFamily="34" charset="0"/>
                <a:ea typeface="Arial" pitchFamily="34" charset="-122"/>
                <a:cs typeface="Arial" pitchFamily="34" charset="-120"/>
              </a:rPr>
              <a:t>RMSE punishes a circuit that ranks the two classes correctly but outputs 0.45 and 0.55 instead of 0 and 1. AUROC does not.</a:t>
            </a:r>
            <a:endParaRPr lang="en-US" sz="1450" dirty="0"/>
          </a:p>
          <a:p>
            <a:pPr marL="342900" indent="-342900">
              <a:lnSpc>
                <a:spcPct val="112000"/>
              </a:lnSpc>
              <a:spcAft>
                <a:spcPts val="1000"/>
              </a:spcAft>
              <a:buSzPct val="100000"/>
              <a:buChar char="•"/>
            </a:pPr>
            <a:r>
              <a:rPr lang="en-US" sz="1450" dirty="0">
                <a:solidFill>
                  <a:srgbClr val="1A1A2E"/>
                </a:solidFill>
                <a:latin typeface="Arial" pitchFamily="34" charset="0"/>
                <a:ea typeface="Arial" pitchFamily="34" charset="-122"/>
                <a:cs typeface="Arial" pitchFamily="34" charset="-120"/>
              </a:rPr>
              <a:t>With five gates and no optimizer the outputs sit near 0.5, so this failure mode is live here, not hypothetical.</a:t>
            </a:r>
            <a:endParaRPr lang="en-US" sz="1450" dirty="0"/>
          </a:p>
          <a:p>
            <a:pPr marL="342900" indent="-342900">
              <a:lnSpc>
                <a:spcPct val="112000"/>
              </a:lnSpc>
              <a:spcAft>
                <a:spcPts val="1000"/>
              </a:spcAft>
              <a:buSzPct val="100000"/>
              <a:buChar char="•"/>
            </a:pPr>
            <a:r>
              <a:rPr lang="en-US" sz="1450" dirty="0">
                <a:solidFill>
                  <a:srgbClr val="1A1A2E"/>
                </a:solidFill>
                <a:latin typeface="Arial" pitchFamily="34" charset="0"/>
                <a:ea typeface="Arial" pitchFamily="34" charset="-122"/>
                <a:cs typeface="Arial" pitchFamily="34" charset="-120"/>
              </a:rPr>
              <a:t>Both numbers are shown because either one alone asserts a different answer.</a:t>
            </a:r>
            <a:endParaRPr lang="en-US" sz="1450" dirty="0"/>
          </a:p>
        </p:txBody>
      </p:sp>
      <p:sp>
        <p:nvSpPr>
          <p:cNvPr id="8" name="Shape 5"/>
          <p:cNvSpPr/>
          <p:nvPr/>
        </p:nvSpPr>
        <p:spPr>
          <a:xfrm>
            <a:off x="548640" y="4754880"/>
            <a:ext cx="11109960" cy="1280160"/>
          </a:xfrm>
          <a:prstGeom prst="roundRect">
            <a:avLst>
              <a:gd name="adj" fmla="val 7143"/>
            </a:avLst>
          </a:prstGeom>
          <a:solidFill>
            <a:srgbClr val="FDF6E8"/>
          </a:solidFill>
          <a:ln w="15240">
            <a:solidFill>
              <a:srgbClr val="B8860B"/>
            </a:solidFill>
            <a:prstDash val="solid"/>
          </a:ln>
        </p:spPr>
      </p:sp>
      <p:sp>
        <p:nvSpPr>
          <p:cNvPr id="9" name="Text 6"/>
          <p:cNvSpPr/>
          <p:nvPr/>
        </p:nvSpPr>
        <p:spPr>
          <a:xfrm>
            <a:off x="777240" y="4864608"/>
            <a:ext cx="10607040" cy="1097280"/>
          </a:xfrm>
          <a:prstGeom prst="rect">
            <a:avLst/>
          </a:prstGeom>
          <a:noFill/>
          <a:ln/>
        </p:spPr>
        <p:txBody>
          <a:bodyPr wrap="square" lIns="0" tIns="0" rIns="0" bIns="0" rtlCol="0" anchor="ctr"/>
          <a:lstStyle/>
          <a:p>
            <a:pPr indent="0" marL="0">
              <a:buNone/>
            </a:pPr>
            <a:r>
              <a:rPr lang="en-US" sz="1650" b="1" dirty="0">
                <a:solidFill>
                  <a:srgbClr val="1A1A2E"/>
                </a:solidFill>
                <a:latin typeface="Arial" pitchFamily="34" charset="0"/>
                <a:ea typeface="Arial" pitchFamily="34" charset="-122"/>
                <a:cs typeface="Arial" pitchFamily="34" charset="-120"/>
              </a:rPr>
              <a:t>Neither reading is strong.  </a:t>
            </a:r>
            <a:pPr indent="0" marL="0">
              <a:buNone/>
            </a:pPr>
            <a:r>
              <a:rPr lang="en-US" sz="1650" dirty="0">
                <a:solidFill>
                  <a:srgbClr val="1A1A2E"/>
                </a:solidFill>
                <a:latin typeface="Arial" pitchFamily="34" charset="0"/>
                <a:ea typeface="Arial" pitchFamily="34" charset="-122"/>
                <a:cs typeface="Arial" pitchFamily="34" charset="-120"/>
              </a:rPr>
              <a:t>AUROC spans roughly 0.59 to 0.62 against 0.5 for chance. The honest summary of T4 is that five gates without training barely solve it at all, and that no arm separates convincingly.</a:t>
            </a:r>
            <a:endParaRPr lang="en-US" sz="1650" dirty="0"/>
          </a:p>
        </p:txBody>
      </p:sp>
      <p:sp>
        <p:nvSpPr>
          <p:cNvPr id="10" name="Text 7"/>
          <p:cNvSpPr/>
          <p:nvPr/>
        </p:nvSpPr>
        <p:spPr>
          <a:xfrm>
            <a:off x="502920" y="6473952"/>
            <a:ext cx="11185855" cy="274320"/>
          </a:xfrm>
          <a:prstGeom prst="rect">
            <a:avLst/>
          </a:prstGeom>
          <a:noFill/>
          <a:ln/>
        </p:spPr>
        <p:txBody>
          <a:bodyPr wrap="square" lIns="0" tIns="0" rIns="0" bIns="0" rtlCol="0" anchor="ctr"/>
          <a:lstStyle/>
          <a:p>
            <a:pPr indent="0" marL="0">
              <a:buNone/>
            </a:pPr>
            <a:r>
              <a:rPr lang="en-US" sz="1100" dirty="0">
                <a:solidFill>
                  <a:srgbClr val="55606E"/>
                </a:solidFill>
                <a:latin typeface="Arial" pitchFamily="34" charset="0"/>
                <a:ea typeface="Arial" pitchFamily="34" charset="-122"/>
                <a:cs typeface="Arial" pitchFamily="34" charset="-120"/>
              </a:rPr>
              <a:t>AUROC computed from the identical predictions used for the RMSE, on the same single test evaluation</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85855" cy="274320"/>
          </a:xfrm>
          <a:prstGeom prst="rect">
            <a:avLst/>
          </a:prstGeom>
          <a:noFill/>
          <a:ln/>
        </p:spPr>
        <p:txBody>
          <a:bodyPr wrap="square" lIns="0" tIns="0" rIns="0" bIns="0" rtlCol="0" anchor="ctr"/>
          <a:lstStyle/>
          <a:p>
            <a:pPr indent="0" marL="0">
              <a:buNone/>
            </a:pPr>
            <a:r>
              <a:rPr lang="en-US" sz="1300" b="1" spc="150" kern="0" dirty="0">
                <a:solidFill>
                  <a:srgbClr val="B3261E"/>
                </a:solidFill>
                <a:latin typeface="Arial" pitchFamily="34" charset="0"/>
                <a:ea typeface="Arial" pitchFamily="34" charset="-122"/>
                <a:cs typeface="Arial" pitchFamily="34" charset="-120"/>
              </a:rPr>
              <a:t>ATTRIBUTION</a:t>
            </a:r>
            <a:endParaRPr lang="en-US" sz="1300" dirty="0"/>
          </a:p>
        </p:txBody>
      </p:sp>
      <p:sp>
        <p:nvSpPr>
          <p:cNvPr id="3" name="Text 1"/>
          <p:cNvSpPr/>
          <p:nvPr/>
        </p:nvSpPr>
        <p:spPr>
          <a:xfrm>
            <a:off x="502920" y="548640"/>
            <a:ext cx="11185855" cy="822960"/>
          </a:xfrm>
          <a:prstGeom prst="rect">
            <a:avLst/>
          </a:prstGeom>
          <a:noFill/>
          <a:ln/>
        </p:spPr>
        <p:txBody>
          <a:bodyPr wrap="square" lIns="0" tIns="0" rIns="0" bIns="0" rtlCol="0" anchor="ctr"/>
          <a:lstStyle/>
          <a:p>
            <a:pPr indent="0" marL="0">
              <a:buNone/>
            </a:pPr>
            <a:r>
              <a:rPr lang="en-US" sz="2400" b="1" dirty="0">
                <a:solidFill>
                  <a:srgbClr val="1E3A5F"/>
                </a:solidFill>
                <a:latin typeface="Arial" pitchFamily="34" charset="0"/>
                <a:ea typeface="Arial" pitchFamily="34" charset="-122"/>
                <a:cs typeface="Arial" pitchFamily="34" charset="-120"/>
              </a:rPr>
              <a:t>Last week's advantage was a size decision, not a design one</a:t>
            </a:r>
            <a:endParaRPr lang="en-US" sz="2400" dirty="0"/>
          </a:p>
        </p:txBody>
      </p:sp>
      <p:sp>
        <p:nvSpPr>
          <p:cNvPr id="4" name="Shape 2"/>
          <p:cNvSpPr/>
          <p:nvPr/>
        </p:nvSpPr>
        <p:spPr>
          <a:xfrm>
            <a:off x="5699455" y="256032"/>
            <a:ext cx="5989320" cy="402336"/>
          </a:xfrm>
          <a:prstGeom prst="roundRect">
            <a:avLst>
              <a:gd name="adj" fmla="val 15909"/>
            </a:avLst>
          </a:prstGeom>
          <a:solidFill>
            <a:srgbClr val="F4F6FA"/>
          </a:solidFill>
          <a:ln w="12700">
            <a:solidFill>
              <a:srgbClr val="D8DDE6"/>
            </a:solidFill>
            <a:prstDash val="solid"/>
          </a:ln>
        </p:spPr>
      </p:sp>
      <p:sp>
        <p:nvSpPr>
          <p:cNvPr id="5" name="Text 3"/>
          <p:cNvSpPr/>
          <p:nvPr/>
        </p:nvSpPr>
        <p:spPr>
          <a:xfrm>
            <a:off x="5836615" y="274320"/>
            <a:ext cx="5715000" cy="365760"/>
          </a:xfrm>
          <a:prstGeom prst="rect">
            <a:avLst/>
          </a:prstGeom>
          <a:noFill/>
          <a:ln/>
        </p:spPr>
        <p:txBody>
          <a:bodyPr wrap="square" lIns="0" tIns="0" rIns="0" bIns="0" rtlCol="0" anchor="ctr"/>
          <a:lstStyle/>
          <a:p>
            <a:pPr algn="r" indent="0" marL="0">
              <a:buNone/>
            </a:pPr>
            <a:r>
              <a:rPr lang="en-US" sz="1150" b="1" dirty="0">
                <a:solidFill>
                  <a:srgbClr val="1E3A5F"/>
                </a:solidFill>
                <a:latin typeface="Arial" pitchFamily="34" charset="0"/>
                <a:ea typeface="Arial" pitchFamily="34" charset="-122"/>
                <a:cs typeface="Arial" pitchFamily="34" charset="-120"/>
              </a:rPr>
              <a:t>ALL THREE CONDITIONS side by side</a:t>
            </a:r>
            <a:pPr algn="r" indent="0" marL="0">
              <a:buNone/>
            </a:pPr>
            <a:r>
              <a:rPr lang="en-US" sz="1150" dirty="0">
                <a:solidFill>
                  <a:srgbClr val="55606E"/>
                </a:solidFill>
                <a:latin typeface="Arial" pitchFamily="34" charset="0"/>
                <a:ea typeface="Arial" pitchFamily="34" charset="-122"/>
                <a:cs typeface="Arial" pitchFamily="34" charset="-120"/>
              </a:rPr>
              <a:t>   T1 only (Gaussian peak, 3 qubits)</a:t>
            </a:r>
            <a:endParaRPr lang="en-US" sz="1150" dirty="0"/>
          </a:p>
        </p:txBody>
      </p:sp>
      <p:pic>
        <p:nvPicPr>
          <p:cNvPr id="6" name="Image 0" descr="/Users/hatanakatomoya/Developer/Sim/llm-vqc/.claude/worktrees/github-author-config-faee6e/docs/presentation/mini5/figures/fig_size_confound.png">    </p:cNvPr>
          <p:cNvPicPr>
            <a:picLocks noChangeAspect="1"/>
          </p:cNvPicPr>
          <p:nvPr/>
        </p:nvPicPr>
        <p:blipFill>
          <a:blip r:embed="rId1"/>
          <a:stretch>
            <a:fillRect/>
          </a:stretch>
        </p:blipFill>
        <p:spPr>
          <a:xfrm>
            <a:off x="274320" y="1371600"/>
            <a:ext cx="11658600" cy="3474720"/>
          </a:xfrm>
          <a:prstGeom prst="rect">
            <a:avLst/>
          </a:prstGeom>
        </p:spPr>
      </p:pic>
      <p:sp>
        <p:nvSpPr>
          <p:cNvPr id="7" name="Shape 4"/>
          <p:cNvSpPr/>
          <p:nvPr/>
        </p:nvSpPr>
        <p:spPr>
          <a:xfrm>
            <a:off x="548640" y="5074920"/>
            <a:ext cx="11109960" cy="1097280"/>
          </a:xfrm>
          <a:prstGeom prst="roundRect">
            <a:avLst>
              <a:gd name="adj" fmla="val 6667"/>
            </a:avLst>
          </a:prstGeom>
          <a:solidFill>
            <a:srgbClr val="F4F6FA"/>
          </a:solidFill>
          <a:ln w="12700">
            <a:solidFill>
              <a:srgbClr val="D8DDE6"/>
            </a:solidFill>
            <a:prstDash val="solid"/>
          </a:ln>
        </p:spPr>
      </p:sp>
      <p:sp>
        <p:nvSpPr>
          <p:cNvPr id="8" name="Text 5"/>
          <p:cNvSpPr/>
          <p:nvPr/>
        </p:nvSpPr>
        <p:spPr>
          <a:xfrm>
            <a:off x="777240" y="5166360"/>
            <a:ext cx="10607040" cy="914400"/>
          </a:xfrm>
          <a:prstGeom prst="rect">
            <a:avLst/>
          </a:prstGeom>
          <a:noFill/>
          <a:ln/>
        </p:spPr>
        <p:txBody>
          <a:bodyPr wrap="square" lIns="0" tIns="0" rIns="0" bIns="0" rtlCol="0" anchor="ctr"/>
          <a:lstStyle/>
          <a:p>
            <a:pPr indent="0" marL="0">
              <a:buNone/>
            </a:pPr>
            <a:r>
              <a:rPr lang="en-US" sz="1550" b="1" dirty="0">
                <a:solidFill>
                  <a:srgbClr val="1A1A2E"/>
                </a:solidFill>
                <a:latin typeface="Arial" pitchFamily="34" charset="0"/>
                <a:ea typeface="Arial" pitchFamily="34" charset="-122"/>
                <a:cs typeface="Arial" pitchFamily="34" charset="-120"/>
              </a:rPr>
              <a:t>Right panel: </a:t>
            </a:r>
            <a:pPr indent="0" marL="0">
              <a:buNone/>
            </a:pPr>
            <a:r>
              <a:rPr lang="en-US" sz="1550" dirty="0">
                <a:solidFill>
                  <a:srgbClr val="1A1A2E"/>
                </a:solidFill>
                <a:latin typeface="Arial" pitchFamily="34" charset="0"/>
                <a:ea typeface="Arial" pitchFamily="34" charset="-122"/>
                <a:cs typeface="Arial" pitchFamily="34" charset="-120"/>
              </a:rPr>
              <a:t>when length is free the LLM picks the maximum in about 7 of 10 cells while the classical arms spread over 1 to 5.   </a:t>
            </a:r>
            <a:pPr indent="0" marL="0">
              <a:buNone/>
            </a:pPr>
            <a:r>
              <a:rPr lang="en-US" sz="1550" b="1" dirty="0">
                <a:solidFill>
                  <a:srgbClr val="1A1A2E"/>
                </a:solidFill>
                <a:latin typeface="Arial" pitchFamily="34" charset="0"/>
                <a:ea typeface="Arial" pitchFamily="34" charset="-122"/>
                <a:cs typeface="Arial" pitchFamily="34" charset="-120"/>
              </a:rPr>
              <a:t>Left three: </a:t>
            </a:r>
            <a:pPr indent="0" marL="0">
              <a:buNone/>
            </a:pPr>
            <a:r>
              <a:rPr lang="en-US" sz="1550" dirty="0">
                <a:solidFill>
                  <a:srgbClr val="1A1A2E"/>
                </a:solidFill>
                <a:latin typeface="Arial" pitchFamily="34" charset="0"/>
                <a:ea typeface="Arial" pitchFamily="34" charset="-122"/>
                <a:cs typeface="Arial" pitchFamily="34" charset="-120"/>
              </a:rPr>
              <a:t>only Random degrades as length is freed and the budget shrinks (T1 median 0.139 → 0.167), while the LLM barely moves (0.170 → 0.170). At the pilot's setting they meet.</a:t>
            </a:r>
            <a:endParaRPr lang="en-US" sz="1550" dirty="0"/>
          </a:p>
        </p:txBody>
      </p:sp>
      <p:sp>
        <p:nvSpPr>
          <p:cNvPr id="9" name="Text 6"/>
          <p:cNvSpPr/>
          <p:nvPr/>
        </p:nvSpPr>
        <p:spPr>
          <a:xfrm>
            <a:off x="502920" y="6473952"/>
            <a:ext cx="11185855" cy="274320"/>
          </a:xfrm>
          <a:prstGeom prst="rect">
            <a:avLst/>
          </a:prstGeom>
          <a:noFill/>
          <a:ln/>
        </p:spPr>
        <p:txBody>
          <a:bodyPr wrap="square" lIns="0" tIns="0" rIns="0" bIns="0" rtlCol="0" anchor="ctr"/>
          <a:lstStyle/>
          <a:p>
            <a:pPr indent="0" marL="0">
              <a:buNone/>
            </a:pPr>
            <a:r>
              <a:rPr lang="en-US" sz="1100" dirty="0">
                <a:solidFill>
                  <a:srgbClr val="55606E"/>
                </a:solidFill>
                <a:latin typeface="Arial" pitchFamily="34" charset="0"/>
                <a:ea typeface="Arial" pitchFamily="34" charset="-122"/>
                <a:cs typeface="Arial" pitchFamily="34" charset="-120"/>
              </a:rPr>
              <a:t>All three conditions ran all four tasks with 10 seeds; T1 is shown here because it is the family the pilot used · data/condition_comparison.json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85855" cy="274320"/>
          </a:xfrm>
          <a:prstGeom prst="rect">
            <a:avLst/>
          </a:prstGeom>
          <a:noFill/>
          <a:ln/>
        </p:spPr>
        <p:txBody>
          <a:bodyPr wrap="square" lIns="0" tIns="0" rIns="0" bIns="0" rtlCol="0" anchor="ctr"/>
          <a:lstStyle/>
          <a:p>
            <a:pPr indent="0" marL="0">
              <a:buNone/>
            </a:pPr>
            <a:r>
              <a:rPr lang="en-US" sz="1300" b="1" spc="150" kern="0" dirty="0">
                <a:solidFill>
                  <a:srgbClr val="B3261E"/>
                </a:solidFill>
                <a:latin typeface="Arial" pitchFamily="34" charset="0"/>
                <a:ea typeface="Arial" pitchFamily="34" charset="-122"/>
                <a:cs typeface="Arial" pitchFamily="34" charset="-120"/>
              </a:rPr>
              <a:t>SEARCH DYNAMICS</a:t>
            </a:r>
            <a:endParaRPr lang="en-US" sz="1300" dirty="0"/>
          </a:p>
        </p:txBody>
      </p:sp>
      <p:sp>
        <p:nvSpPr>
          <p:cNvPr id="3" name="Text 1"/>
          <p:cNvSpPr/>
          <p:nvPr/>
        </p:nvSpPr>
        <p:spPr>
          <a:xfrm>
            <a:off x="502920" y="548640"/>
            <a:ext cx="11185855" cy="658368"/>
          </a:xfrm>
          <a:prstGeom prst="rect">
            <a:avLst/>
          </a:prstGeom>
          <a:noFill/>
          <a:ln/>
        </p:spPr>
        <p:txBody>
          <a:bodyPr wrap="square" lIns="0" tIns="0" rIns="0" bIns="0" rtlCol="0" anchor="ctr"/>
          <a:lstStyle/>
          <a:p>
            <a:pPr indent="0" marL="0">
              <a:buNone/>
            </a:pPr>
            <a:r>
              <a:rPr lang="en-US" sz="3000" b="1" dirty="0">
                <a:solidFill>
                  <a:srgbClr val="1E3A5F"/>
                </a:solidFill>
                <a:latin typeface="Arial" pitchFamily="34" charset="0"/>
                <a:ea typeface="Arial" pitchFamily="34" charset="-122"/>
                <a:cs typeface="Arial" pitchFamily="34" charset="-120"/>
              </a:rPr>
              <a:t>More feedback did not translate into better circuits</a:t>
            </a:r>
            <a:endParaRPr lang="en-US" sz="3000" dirty="0"/>
          </a:p>
        </p:txBody>
      </p:sp>
      <p:sp>
        <p:nvSpPr>
          <p:cNvPr id="4" name="Shape 2"/>
          <p:cNvSpPr/>
          <p:nvPr/>
        </p:nvSpPr>
        <p:spPr>
          <a:xfrm>
            <a:off x="5699455" y="256032"/>
            <a:ext cx="5989320" cy="402336"/>
          </a:xfrm>
          <a:prstGeom prst="roundRect">
            <a:avLst>
              <a:gd name="adj" fmla="val 15909"/>
            </a:avLst>
          </a:prstGeom>
          <a:solidFill>
            <a:srgbClr val="F4F6FA"/>
          </a:solidFill>
          <a:ln w="12700">
            <a:solidFill>
              <a:srgbClr val="D8DDE6"/>
            </a:solidFill>
            <a:prstDash val="solid"/>
          </a:ln>
        </p:spPr>
      </p:sp>
      <p:sp>
        <p:nvSpPr>
          <p:cNvPr id="5" name="Text 3"/>
          <p:cNvSpPr/>
          <p:nvPr/>
        </p:nvSpPr>
        <p:spPr>
          <a:xfrm>
            <a:off x="5836615" y="274320"/>
            <a:ext cx="5715000" cy="365760"/>
          </a:xfrm>
          <a:prstGeom prst="rect">
            <a:avLst/>
          </a:prstGeom>
          <a:noFill/>
          <a:ln/>
        </p:spPr>
        <p:txBody>
          <a:bodyPr wrap="square" lIns="0" tIns="0" rIns="0" bIns="0" rtlCol="0" anchor="ctr"/>
          <a:lstStyle/>
          <a:p>
            <a:pPr algn="r" indent="0" marL="0">
              <a:buNone/>
            </a:pPr>
            <a:r>
              <a:rPr lang="en-US" sz="1150" b="1" dirty="0">
                <a:solidFill>
                  <a:srgbClr val="1E3A5F"/>
                </a:solidFill>
                <a:latin typeface="Arial" pitchFamily="34" charset="0"/>
                <a:ea typeface="Arial" pitchFamily="34" charset="-122"/>
                <a:cs typeface="Arial" pitchFamily="34" charset="-120"/>
              </a:rPr>
              <a:t>PRIMARY: exactly 5 gates, B = 8, 10 seeds</a:t>
            </a:r>
            <a:pPr algn="r" indent="0" marL="0">
              <a:buNone/>
            </a:pPr>
            <a:r>
              <a:rPr lang="en-US" sz="1150" dirty="0">
                <a:solidFill>
                  <a:srgbClr val="55606E"/>
                </a:solidFill>
                <a:latin typeface="Arial" pitchFamily="34" charset="0"/>
                <a:ea typeface="Arial" pitchFamily="34" charset="-122"/>
                <a:cs typeface="Arial" pitchFamily="34" charset="-120"/>
              </a:rPr>
              <a:t>   all four tasks, T1-T4</a:t>
            </a:r>
            <a:endParaRPr lang="en-US" sz="1150" dirty="0"/>
          </a:p>
        </p:txBody>
      </p:sp>
      <p:pic>
        <p:nvPicPr>
          <p:cNvPr id="6" name="Image 0" descr="/Users/hatanakatomoya/Developer/Sim/llm-vqc/.claude/worktrees/github-author-config-faee6e/docs/presentation/mini5/figures/fig_anytime.png">    </p:cNvPr>
          <p:cNvPicPr>
            <a:picLocks noChangeAspect="1"/>
          </p:cNvPicPr>
          <p:nvPr/>
        </p:nvPicPr>
        <p:blipFill>
          <a:blip r:embed="rId1"/>
          <a:stretch>
            <a:fillRect/>
          </a:stretch>
        </p:blipFill>
        <p:spPr>
          <a:xfrm>
            <a:off x="320040" y="1371600"/>
            <a:ext cx="11521440" cy="3200400"/>
          </a:xfrm>
          <a:prstGeom prst="rect">
            <a:avLst/>
          </a:prstGeom>
        </p:spPr>
      </p:pic>
      <p:sp>
        <p:nvSpPr>
          <p:cNvPr id="7" name="Text 4"/>
          <p:cNvSpPr/>
          <p:nvPr/>
        </p:nvSpPr>
        <p:spPr>
          <a:xfrm>
            <a:off x="640080" y="4709160"/>
            <a:ext cx="10972800" cy="1371600"/>
          </a:xfrm>
          <a:prstGeom prst="rect">
            <a:avLst/>
          </a:prstGeom>
          <a:noFill/>
          <a:ln/>
        </p:spPr>
        <p:txBody>
          <a:bodyPr wrap="square" lIns="0" tIns="0" rIns="0" bIns="0" rtlCol="0" anchor="t"/>
          <a:lstStyle/>
          <a:p>
            <a:pPr marL="342900" indent="-342900">
              <a:lnSpc>
                <a:spcPct val="112000"/>
              </a:lnSpc>
              <a:spcAft>
                <a:spcPts val="900"/>
              </a:spcAft>
              <a:buSzPct val="100000"/>
              <a:buChar char="•"/>
            </a:pPr>
            <a:r>
              <a:rPr lang="en-US" sz="1550" dirty="0">
                <a:solidFill>
                  <a:srgbClr val="1A1A2E"/>
                </a:solidFill>
                <a:latin typeface="Arial" pitchFamily="34" charset="0"/>
                <a:ea typeface="Arial" pitchFamily="34" charset="-122"/>
                <a:cs typeface="Arial" pitchFamily="34" charset="-120"/>
              </a:rPr>
              <a:t>Closed-loop received eight rounds of validation-only feedback on its own candidates and still did not beat open-loop on any task.</a:t>
            </a:r>
            <a:endParaRPr lang="en-US" sz="1550" dirty="0"/>
          </a:p>
          <a:p>
            <a:pPr marL="342900" indent="-342900">
              <a:lnSpc>
                <a:spcPct val="112000"/>
              </a:lnSpc>
              <a:spcAft>
                <a:spcPts val="900"/>
              </a:spcAft>
              <a:buSzPct val="100000"/>
              <a:buChar char="•"/>
            </a:pPr>
            <a:r>
              <a:rPr lang="en-US" sz="1550" dirty="0">
                <a:solidFill>
                  <a:srgbClr val="1A1A2E"/>
                </a:solidFill>
                <a:latin typeface="Arial" pitchFamily="34" charset="0"/>
                <a:ea typeface="Arial" pitchFamily="34" charset="-122"/>
                <a:cs typeface="Arial" pitchFamily="34" charset="-120"/>
              </a:rPr>
              <a:t>A first attempt measured a 74% duplicate rate for closed-loop, with 11 of 40 cells starved of budget. The prompt now lists every circuit already tried; duplicates fell to 16% and every cell reached its full budget. The numbers here are from the corrected run.</a:t>
            </a:r>
            <a:endParaRPr lang="en-US" sz="1550" dirty="0"/>
          </a:p>
        </p:txBody>
      </p:sp>
      <p:sp>
        <p:nvSpPr>
          <p:cNvPr id="8" name="Text 5"/>
          <p:cNvSpPr/>
          <p:nvPr/>
        </p:nvSpPr>
        <p:spPr>
          <a:xfrm>
            <a:off x="502920" y="6473952"/>
            <a:ext cx="11185855" cy="274320"/>
          </a:xfrm>
          <a:prstGeom prst="rect">
            <a:avLst/>
          </a:prstGeom>
          <a:noFill/>
          <a:ln/>
        </p:spPr>
        <p:txBody>
          <a:bodyPr wrap="square" lIns="0" tIns="0" rIns="0" bIns="0" rtlCol="0" anchor="ctr"/>
          <a:lstStyle/>
          <a:p>
            <a:pPr indent="0" marL="0">
              <a:buNone/>
            </a:pPr>
            <a:r>
              <a:rPr lang="en-US" sz="1100" dirty="0">
                <a:solidFill>
                  <a:srgbClr val="55606E"/>
                </a:solidFill>
                <a:latin typeface="Arial" pitchFamily="34" charset="0"/>
                <a:ea typeface="Arial" pitchFamily="34" charset="-122"/>
                <a:cs typeface="Arial" pitchFamily="34" charset="-120"/>
              </a:rPr>
              <a:t>Curves are the median best-so-far validation RMSE over 10 seeds; the x-axis is unique candidates, not API calls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3A5F"/>
        </a:solidFill>
      </p:bgPr>
    </p:bg>
    <p:spTree>
      <p:nvGrpSpPr>
        <p:cNvPr id="1" name=""/>
        <p:cNvGrpSpPr/>
        <p:nvPr/>
      </p:nvGrpSpPr>
      <p:grpSpPr>
        <a:xfrm>
          <a:off x="0" y="0"/>
          <a:ext cx="0" cy="0"/>
          <a:chOff x="0" y="0"/>
          <a:chExt cx="0" cy="0"/>
        </a:xfrm>
      </p:grpSpPr>
      <p:sp>
        <p:nvSpPr>
          <p:cNvPr id="2" name="Text 0"/>
          <p:cNvSpPr/>
          <p:nvPr/>
        </p:nvSpPr>
        <p:spPr>
          <a:xfrm>
            <a:off x="640080" y="411480"/>
            <a:ext cx="10972800" cy="64008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What I can and cannot claim</a:t>
            </a:r>
            <a:endParaRPr lang="en-US" sz="3000" dirty="0"/>
          </a:p>
        </p:txBody>
      </p:sp>
      <p:sp>
        <p:nvSpPr>
          <p:cNvPr id="3" name="Shape 1"/>
          <p:cNvSpPr/>
          <p:nvPr/>
        </p:nvSpPr>
        <p:spPr>
          <a:xfrm>
            <a:off x="640080" y="1188720"/>
            <a:ext cx="5349240" cy="3566160"/>
          </a:xfrm>
          <a:prstGeom prst="roundRect">
            <a:avLst>
              <a:gd name="adj" fmla="val 2564"/>
            </a:avLst>
          </a:prstGeom>
          <a:solidFill>
            <a:srgbClr val="FFFFFF">
              <a:alpha val="10000"/>
            </a:srgbClr>
          </a:solidFill>
          <a:ln w="12700">
            <a:solidFill>
              <a:srgbClr val="8FA6C4"/>
            </a:solidFill>
            <a:prstDash val="solid"/>
          </a:ln>
        </p:spPr>
      </p:sp>
      <p:sp>
        <p:nvSpPr>
          <p:cNvPr id="4" name="Text 2"/>
          <p:cNvSpPr/>
          <p:nvPr/>
        </p:nvSpPr>
        <p:spPr>
          <a:xfrm>
            <a:off x="868680" y="1298448"/>
            <a:ext cx="4937760" cy="365760"/>
          </a:xfrm>
          <a:prstGeom prst="rect">
            <a:avLst/>
          </a:prstGeom>
          <a:noFill/>
          <a:ln/>
        </p:spPr>
        <p:txBody>
          <a:bodyPr wrap="square" lIns="0" tIns="0" rIns="0" bIns="0" rtlCol="0" anchor="ctr"/>
          <a:lstStyle/>
          <a:p>
            <a:pPr indent="0" marL="0">
              <a:buNone/>
            </a:pPr>
            <a:r>
              <a:rPr lang="en-US" sz="1700" b="1" dirty="0">
                <a:solidFill>
                  <a:srgbClr val="9FE3C0"/>
                </a:solidFill>
                <a:latin typeface="Arial" pitchFamily="34" charset="0"/>
                <a:ea typeface="Arial" pitchFamily="34" charset="-122"/>
                <a:cs typeface="Arial" pitchFamily="34" charset="-120"/>
              </a:rPr>
              <a:t>Supported by this run</a:t>
            </a:r>
            <a:endParaRPr lang="en-US" sz="1700" dirty="0"/>
          </a:p>
        </p:txBody>
      </p:sp>
      <p:sp>
        <p:nvSpPr>
          <p:cNvPr id="5" name="Text 3"/>
          <p:cNvSpPr/>
          <p:nvPr/>
        </p:nvSpPr>
        <p:spPr>
          <a:xfrm>
            <a:off x="932688" y="1783080"/>
            <a:ext cx="4846320" cy="2834640"/>
          </a:xfrm>
          <a:prstGeom prst="rect">
            <a:avLst/>
          </a:prstGeom>
          <a:noFill/>
          <a:ln/>
        </p:spPr>
        <p:txBody>
          <a:bodyPr wrap="square" lIns="0" tIns="0" rIns="0" bIns="0" rtlCol="0" anchor="t"/>
          <a:lstStyle/>
          <a:p>
            <a:pPr marL="342900" indent="-342900">
              <a:lnSpc>
                <a:spcPct val="112000"/>
              </a:lnSpc>
              <a:spcAft>
                <a:spcPts val="900"/>
              </a:spcAft>
              <a:buSzPct val="100000"/>
              <a:buChar char="•"/>
            </a:pPr>
            <a:r>
              <a:rPr lang="en-US" sz="1450" dirty="0">
                <a:solidFill>
                  <a:srgbClr val="E8EEF7"/>
                </a:solidFill>
                <a:latin typeface="Arial" pitchFamily="34" charset="0"/>
                <a:ea typeface="Arial" pitchFamily="34" charset="-122"/>
                <a:cs typeface="Arial" pitchFamily="34" charset="-120"/>
              </a:rPr>
              <a:t>With circuit length fixed, gpt-5-nano does not beat random search on 3 of 4 tasks</a:t>
            </a:r>
            <a:endParaRPr lang="en-US" sz="1450" dirty="0"/>
          </a:p>
          <a:p>
            <a:pPr marL="342900" indent="-342900">
              <a:lnSpc>
                <a:spcPct val="112000"/>
              </a:lnSpc>
              <a:spcAft>
                <a:spcPts val="900"/>
              </a:spcAft>
              <a:buSzPct val="100000"/>
              <a:buChar char="•"/>
            </a:pPr>
            <a:r>
              <a:rPr lang="en-US" sz="1450" dirty="0">
                <a:solidFill>
                  <a:srgbClr val="E8EEF7"/>
                </a:solidFill>
                <a:latin typeface="Arial" pitchFamily="34" charset="0"/>
                <a:ea typeface="Arial" pitchFamily="34" charset="-122"/>
                <a:cs typeface="Arial" pitchFamily="34" charset="-120"/>
              </a:rPr>
              <a:t>It does beat every classical arm on T2, clearly and across all 10 seeds</a:t>
            </a:r>
            <a:endParaRPr lang="en-US" sz="1450" dirty="0"/>
          </a:p>
          <a:p>
            <a:pPr marL="342900" indent="-342900">
              <a:lnSpc>
                <a:spcPct val="112000"/>
              </a:lnSpc>
              <a:spcAft>
                <a:spcPts val="900"/>
              </a:spcAft>
              <a:buSzPct val="100000"/>
              <a:buChar char="•"/>
            </a:pPr>
            <a:r>
              <a:rPr lang="en-US" sz="1450" dirty="0">
                <a:solidFill>
                  <a:srgbClr val="E8EEF7"/>
                </a:solidFill>
                <a:latin typeface="Arial" pitchFamily="34" charset="0"/>
                <a:ea typeface="Arial" pitchFamily="34" charset="-122"/>
                <a:cs typeface="Arial" pitchFamily="34" charset="-120"/>
              </a:rPr>
              <a:t>When length is free it picks the maximum ~70% of the time; uniform sampling does not</a:t>
            </a:r>
            <a:endParaRPr lang="en-US" sz="1450" dirty="0"/>
          </a:p>
          <a:p>
            <a:pPr marL="342900" indent="-342900">
              <a:lnSpc>
                <a:spcPct val="112000"/>
              </a:lnSpc>
              <a:spcAft>
                <a:spcPts val="900"/>
              </a:spcAft>
              <a:buSzPct val="100000"/>
              <a:buChar char="•"/>
            </a:pPr>
            <a:r>
              <a:rPr lang="en-US" sz="1450" dirty="0">
                <a:solidFill>
                  <a:srgbClr val="E8EEF7"/>
                </a:solidFill>
                <a:latin typeface="Arial" pitchFamily="34" charset="0"/>
                <a:ea typeface="Arial" pitchFamily="34" charset="-122"/>
                <a:cs typeface="Arial" pitchFamily="34" charset="-120"/>
              </a:rPr>
              <a:t>That single decision explains most of last week's reported advantage</a:t>
            </a:r>
            <a:endParaRPr lang="en-US" sz="1450" dirty="0"/>
          </a:p>
        </p:txBody>
      </p:sp>
      <p:sp>
        <p:nvSpPr>
          <p:cNvPr id="6" name="Shape 4"/>
          <p:cNvSpPr/>
          <p:nvPr/>
        </p:nvSpPr>
        <p:spPr>
          <a:xfrm>
            <a:off x="6263640" y="1188720"/>
            <a:ext cx="5349240" cy="3566160"/>
          </a:xfrm>
          <a:prstGeom prst="roundRect">
            <a:avLst>
              <a:gd name="adj" fmla="val 2564"/>
            </a:avLst>
          </a:prstGeom>
          <a:solidFill>
            <a:srgbClr val="FFFFFF">
              <a:alpha val="10000"/>
            </a:srgbClr>
          </a:solidFill>
          <a:ln w="12700">
            <a:solidFill>
              <a:srgbClr val="8FA6C4"/>
            </a:solidFill>
            <a:prstDash val="solid"/>
          </a:ln>
        </p:spPr>
      </p:sp>
      <p:sp>
        <p:nvSpPr>
          <p:cNvPr id="7" name="Text 5"/>
          <p:cNvSpPr/>
          <p:nvPr/>
        </p:nvSpPr>
        <p:spPr>
          <a:xfrm>
            <a:off x="6492240" y="1298448"/>
            <a:ext cx="4937760" cy="365760"/>
          </a:xfrm>
          <a:prstGeom prst="rect">
            <a:avLst/>
          </a:prstGeom>
          <a:noFill/>
          <a:ln/>
        </p:spPr>
        <p:txBody>
          <a:bodyPr wrap="square" lIns="0" tIns="0" rIns="0" bIns="0" rtlCol="0" anchor="ctr"/>
          <a:lstStyle/>
          <a:p>
            <a:pPr indent="0" marL="0">
              <a:buNone/>
            </a:pPr>
            <a:r>
              <a:rPr lang="en-US" sz="1700" b="1" dirty="0">
                <a:solidFill>
                  <a:srgbClr val="FFC4B8"/>
                </a:solidFill>
                <a:latin typeface="Arial" pitchFamily="34" charset="0"/>
                <a:ea typeface="Arial" pitchFamily="34" charset="-122"/>
                <a:cs typeface="Arial" pitchFamily="34" charset="-120"/>
              </a:rPr>
              <a:t>NOT supported</a:t>
            </a:r>
            <a:endParaRPr lang="en-US" sz="1700" dirty="0"/>
          </a:p>
        </p:txBody>
      </p:sp>
      <p:sp>
        <p:nvSpPr>
          <p:cNvPr id="8" name="Text 6"/>
          <p:cNvSpPr/>
          <p:nvPr/>
        </p:nvSpPr>
        <p:spPr>
          <a:xfrm>
            <a:off x="6556248" y="1783080"/>
            <a:ext cx="4846320" cy="2834640"/>
          </a:xfrm>
          <a:prstGeom prst="rect">
            <a:avLst/>
          </a:prstGeom>
          <a:noFill/>
          <a:ln/>
        </p:spPr>
        <p:txBody>
          <a:bodyPr wrap="square" lIns="0" tIns="0" rIns="0" bIns="0" rtlCol="0" anchor="t"/>
          <a:lstStyle/>
          <a:p>
            <a:pPr marL="342900" indent="-342900">
              <a:lnSpc>
                <a:spcPct val="112000"/>
              </a:lnSpc>
              <a:spcAft>
                <a:spcPts val="900"/>
              </a:spcAft>
              <a:buSzPct val="100000"/>
              <a:buChar char="•"/>
            </a:pPr>
            <a:r>
              <a:rPr lang="en-US" sz="1450" dirty="0">
                <a:solidFill>
                  <a:srgbClr val="E8EEF7"/>
                </a:solidFill>
                <a:latin typeface="Arial" pitchFamily="34" charset="0"/>
                <a:ea typeface="Arial" pitchFamily="34" charset="-122"/>
                <a:cs typeface="Arial" pitchFamily="34" charset="-120"/>
              </a:rPr>
              <a:t>"LLMs cannot design quantum circuits" - one small model, one budget, four tiny tasks</a:t>
            </a:r>
            <a:endParaRPr lang="en-US" sz="1450" dirty="0"/>
          </a:p>
          <a:p>
            <a:pPr marL="342900" indent="-342900">
              <a:lnSpc>
                <a:spcPct val="112000"/>
              </a:lnSpc>
              <a:spcAft>
                <a:spcPts val="900"/>
              </a:spcAft>
              <a:buSzPct val="100000"/>
              <a:buChar char="•"/>
            </a:pPr>
            <a:r>
              <a:rPr lang="en-US" sz="1450" dirty="0">
                <a:solidFill>
                  <a:srgbClr val="E8EEF7"/>
                </a:solidFill>
                <a:latin typeface="Arial" pitchFamily="34" charset="0"/>
                <a:ea typeface="Arial" pitchFamily="34" charset="-122"/>
                <a:cs typeface="Arial" pitchFamily="34" charset="-120"/>
              </a:rPr>
              <a:t>"Closed-loop feedback does not work" - it failed here at 8 rounds on 5-gate circuits</a:t>
            </a:r>
            <a:endParaRPr lang="en-US" sz="1450" dirty="0"/>
          </a:p>
          <a:p>
            <a:pPr marL="342900" indent="-342900">
              <a:lnSpc>
                <a:spcPct val="112000"/>
              </a:lnSpc>
              <a:spcAft>
                <a:spcPts val="900"/>
              </a:spcAft>
              <a:buSzPct val="100000"/>
              <a:buChar char="•"/>
            </a:pPr>
            <a:r>
              <a:rPr lang="en-US" sz="1450" dirty="0">
                <a:solidFill>
                  <a:srgbClr val="E8EEF7"/>
                </a:solidFill>
                <a:latin typeface="Arial" pitchFamily="34" charset="0"/>
                <a:ea typeface="Arial" pitchFamily="34" charset="-122"/>
                <a:cs typeface="Arial" pitchFamily="34" charset="-120"/>
              </a:rPr>
              <a:t>Any claim about hardware: this is noiseless statevector simulation throughout</a:t>
            </a:r>
            <a:endParaRPr lang="en-US" sz="1450" dirty="0"/>
          </a:p>
          <a:p>
            <a:pPr marL="342900" indent="-342900">
              <a:lnSpc>
                <a:spcPct val="112000"/>
              </a:lnSpc>
              <a:spcAft>
                <a:spcPts val="900"/>
              </a:spcAft>
              <a:buSzPct val="100000"/>
              <a:buChar char="•"/>
            </a:pPr>
            <a:r>
              <a:rPr lang="en-US" sz="1450" dirty="0">
                <a:solidFill>
                  <a:srgbClr val="E8EEF7"/>
                </a:solidFill>
                <a:latin typeface="Arial" pitchFamily="34" charset="0"/>
                <a:ea typeface="Arial" pitchFamily="34" charset="-122"/>
                <a:cs typeface="Arial" pitchFamily="34" charset="-120"/>
              </a:rPr>
              <a:t>Any cross-task comparison of RMSE values</a:t>
            </a:r>
            <a:endParaRPr lang="en-US" sz="1450" dirty="0"/>
          </a:p>
        </p:txBody>
      </p:sp>
      <p:sp>
        <p:nvSpPr>
          <p:cNvPr id="9" name="Shape 7"/>
          <p:cNvSpPr/>
          <p:nvPr/>
        </p:nvSpPr>
        <p:spPr>
          <a:xfrm>
            <a:off x="640080" y="4983480"/>
            <a:ext cx="10972800" cy="1051560"/>
          </a:xfrm>
          <a:prstGeom prst="roundRect">
            <a:avLst>
              <a:gd name="adj" fmla="val 8696"/>
            </a:avLst>
          </a:prstGeom>
          <a:solidFill>
            <a:srgbClr val="FFFFFF"/>
          </a:solidFill>
          <a:ln w="20320">
            <a:solidFill>
              <a:srgbClr val="B3261E"/>
            </a:solidFill>
            <a:prstDash val="solid"/>
          </a:ln>
        </p:spPr>
      </p:sp>
      <p:sp>
        <p:nvSpPr>
          <p:cNvPr id="10" name="Text 8"/>
          <p:cNvSpPr/>
          <p:nvPr/>
        </p:nvSpPr>
        <p:spPr>
          <a:xfrm>
            <a:off x="868680" y="5093208"/>
            <a:ext cx="10515600" cy="868680"/>
          </a:xfrm>
          <a:prstGeom prst="rect">
            <a:avLst/>
          </a:prstGeom>
          <a:noFill/>
          <a:ln/>
        </p:spPr>
        <p:txBody>
          <a:bodyPr wrap="square" lIns="0" tIns="0" rIns="0" bIns="0" rtlCol="0" anchor="ctr"/>
          <a:lstStyle/>
          <a:p>
            <a:pPr indent="0" marL="0">
              <a:buNone/>
            </a:pPr>
            <a:r>
              <a:rPr lang="en-US" sz="1700" b="1" dirty="0">
                <a:solidFill>
                  <a:srgbClr val="B3261E"/>
                </a:solidFill>
                <a:latin typeface="Arial" pitchFamily="34" charset="0"/>
                <a:ea typeface="Arial" pitchFamily="34" charset="-122"/>
                <a:cs typeface="Arial" pitchFamily="34" charset="-120"/>
              </a:rPr>
              <a:t>Next: </a:t>
            </a:r>
            <a:pPr indent="0" marL="0">
              <a:buNone/>
            </a:pPr>
            <a:r>
              <a:rPr lang="en-US" sz="1700" dirty="0">
                <a:solidFill>
                  <a:srgbClr val="1A1A2E"/>
                </a:solidFill>
                <a:latin typeface="Arial" pitchFamily="34" charset="0"/>
                <a:ea typeface="Arial" pitchFamily="34" charset="-122"/>
                <a:cs typeface="Arial" pitchFamily="34" charset="-120"/>
              </a:rPr>
              <a:t>give the LLM a decision that is actually hard. Fixed length removed the easy win; the open question is whether a larger budget, a stronger model, or a task where structure matters more can produce an advantage that survives this kind of attribution check.</a:t>
            </a:r>
            <a:endParaRPr lang="en-US" sz="1700" dirty="0"/>
          </a:p>
        </p:txBody>
      </p:sp>
      <p:sp>
        <p:nvSpPr>
          <p:cNvPr id="11" name="Text 9"/>
          <p:cNvSpPr/>
          <p:nvPr/>
        </p:nvSpPr>
        <p:spPr>
          <a:xfrm>
            <a:off x="640080" y="6263640"/>
            <a:ext cx="10972800" cy="274320"/>
          </a:xfrm>
          <a:prstGeom prst="rect">
            <a:avLst/>
          </a:prstGeom>
          <a:noFill/>
          <a:ln/>
        </p:spPr>
        <p:txBody>
          <a:bodyPr wrap="square" lIns="0" tIns="0" rIns="0" bIns="0" rtlCol="0" anchor="ctr"/>
          <a:lstStyle/>
          <a:p>
            <a:pPr indent="0" marL="0">
              <a:buNone/>
            </a:pPr>
            <a:r>
              <a:rPr lang="en-US" sz="1200" dirty="0">
                <a:solidFill>
                  <a:srgbClr val="9FB3CC"/>
                </a:solidFill>
                <a:latin typeface="Arial" pitchFamily="34" charset="0"/>
                <a:ea typeface="Arial" pitchFamily="34" charset="-122"/>
                <a:cs typeface="Arial" pitchFamily="34" charset="-120"/>
              </a:rPr>
              <a:t>600 cells across 3 conditions · 2.9 min for the main run · gpt-5-nano-2025-08-07 · $0.23 total</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2026-07-30T22:12:41Z</dcterms:created>
  <dcterms:modified xsi:type="dcterms:W3CDTF">2026-07-30T22:12:41Z</dcterms:modified>
</cp:coreProperties>
</file>