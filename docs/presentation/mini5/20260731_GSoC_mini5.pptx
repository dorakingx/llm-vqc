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deliberately narrow. Last week I reported that LLM-proposed circuits beat random search. This week I removed one degree of freedom from the search space and the advantage largely went away, which changes what that earlier result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allowed one to five gates. That sounds harmless, but it hands the proposer a free decision that correlates with performance. This week I pinned the length so that decision cannot be made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on this slide on purpose. Three or five qubits, seven gate types, exactly five gates, one angle per gate, no optimizer, no classical parameters. A reader can verify any proposed circuit against these seven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dropped the phrase protected-test RMSE from last week because it was confusing. The discipline behind it is unchanged: the test split is evaluated once, after selection. What changed is only the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is unique evaluated candidates because that is the quantity every method spends and the one that dominates cost. Duplicates and invalid proposals are the proposer's own problem; they do not earn extra 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medians, not the individual dots. Random is best on T1, T3 and T4. The LLM arms win on T2 and only there. I am reporting this as measured; it is a negative result for the LLM hypothesis at this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 kept AUROC even though the request was to use plain RMSE everywhere. On T4 the two metrics disagree about who wins, so reporting only one would have asserted something the data does not settle.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defend hardest. The pilot rewarded a single decision - ask for the maximum number of gates - and the LLM makes that decision almost every time while a uniform sampler does not. Pin the length and the advantage goes; restore the length and shrink the budget to the pilot's and the two meet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the first version of this experiment handicapped closed-loop through a prompt defect. I fixed it and re-ran rather than reporting the handicapped numbers. Even after the fix, feedback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is that I removed a confound and a positive result mostly went away. That is a useful outcome: it tells us the earlier benchmark was rewarding the wrong thing, and it tells us what a fair test has to control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822960" y="1371600"/>
            <a:ext cx="10515600" cy="155448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Arial" pitchFamily="34" charset="0"/>
                <a:ea typeface="Arial" pitchFamily="34" charset="-122"/>
                <a:cs typeface="Arial" pitchFamily="34" charset="-120"/>
              </a:rPr>
              <a:t>Does an LLM design better quantum circuits,</a:t>
            </a:r>
            <a:endParaRPr lang="en-US" sz="4000" dirty="0"/>
          </a:p>
          <a:p>
            <a:pPr indent="0" marL="0">
              <a:lnSpc>
                <a:spcPct val="105000"/>
              </a:lnSpc>
              <a:buNone/>
            </a:pPr>
            <a:r>
              <a:rPr lang="en-US" sz="4000" b="1" dirty="0">
                <a:solidFill>
                  <a:srgbClr val="FFFFFF"/>
                </a:solidFill>
                <a:latin typeface="Arial" pitchFamily="34" charset="0"/>
                <a:ea typeface="Arial" pitchFamily="34" charset="-122"/>
                <a:cs typeface="Arial" pitchFamily="34" charset="-120"/>
              </a:rPr>
              <a:t>or just bigger ones?</a:t>
            </a:r>
            <a:endParaRPr lang="en-US" sz="4000" dirty="0"/>
          </a:p>
        </p:txBody>
      </p:sp>
      <p:sp>
        <p:nvSpPr>
          <p:cNvPr id="3" name="Text 1"/>
          <p:cNvSpPr/>
          <p:nvPr/>
        </p:nvSpPr>
        <p:spPr>
          <a:xfrm>
            <a:off x="822960" y="3063240"/>
            <a:ext cx="10515600" cy="548640"/>
          </a:xfrm>
          <a:prstGeom prst="rect">
            <a:avLst/>
          </a:prstGeom>
          <a:noFill/>
          <a:ln/>
        </p:spPr>
        <p:txBody>
          <a:bodyPr wrap="square" lIns="0" tIns="0" rIns="0" bIns="0" rtlCol="0" anchor="ctr"/>
          <a:lstStyle/>
          <a:p>
            <a:pPr indent="0" marL="0">
              <a:buNone/>
            </a:pPr>
            <a:r>
              <a:rPr lang="en-US" sz="2000" dirty="0">
                <a:solidFill>
                  <a:srgbClr val="CADCFC"/>
                </a:solidFill>
                <a:latin typeface="Arial" pitchFamily="34" charset="0"/>
                <a:ea typeface="Arial" pitchFamily="34" charset="-122"/>
                <a:cs typeface="Arial" pitchFamily="34" charset="-120"/>
              </a:rPr>
              <a:t>A five-gate, fixed-length comparison of LLM-guided and classical circuit search</a:t>
            </a:r>
            <a:endParaRPr lang="en-US" sz="2000" dirty="0"/>
          </a:p>
        </p:txBody>
      </p:sp>
      <p:sp>
        <p:nvSpPr>
          <p:cNvPr id="4" name="Shape 2"/>
          <p:cNvSpPr/>
          <p:nvPr/>
        </p:nvSpPr>
        <p:spPr>
          <a:xfrm>
            <a:off x="822960" y="3886200"/>
            <a:ext cx="10515600" cy="914400"/>
          </a:xfrm>
          <a:prstGeom prst="roundRect">
            <a:avLst>
              <a:gd name="adj" fmla="val 10000"/>
            </a:avLst>
          </a:prstGeom>
          <a:solidFill>
            <a:srgbClr val="FFFFFF">
              <a:alpha val="12000"/>
            </a:srgbClr>
          </a:solidFill>
          <a:ln w="12700">
            <a:solidFill>
              <a:srgbClr val="8FA6C4"/>
            </a:solidFill>
            <a:prstDash val="solid"/>
          </a:ln>
        </p:spPr>
      </p:sp>
      <p:sp>
        <p:nvSpPr>
          <p:cNvPr id="5" name="Text 3"/>
          <p:cNvSpPr/>
          <p:nvPr/>
        </p:nvSpPr>
        <p:spPr>
          <a:xfrm>
            <a:off x="1051560" y="3977640"/>
            <a:ext cx="10058400" cy="731520"/>
          </a:xfrm>
          <a:prstGeom prst="rect">
            <a:avLst/>
          </a:prstGeom>
          <a:noFill/>
          <a:ln/>
        </p:spPr>
        <p:txBody>
          <a:bodyPr wrap="square" lIns="0" tIns="0" rIns="0" bIns="0" rtlCol="0" anchor="ctr"/>
          <a:lstStyle/>
          <a:p>
            <a:pPr indent="0" marL="0">
              <a:buNone/>
            </a:pPr>
            <a:r>
              <a:rPr lang="en-US" sz="1800" b="1" dirty="0">
                <a:solidFill>
                  <a:srgbClr val="FFD9A0"/>
                </a:solidFill>
                <a:latin typeface="Arial" pitchFamily="34" charset="0"/>
                <a:ea typeface="Arial" pitchFamily="34" charset="-122"/>
                <a:cs typeface="Arial" pitchFamily="34" charset="-120"/>
              </a:rPr>
              <a:t>Headline: </a:t>
            </a:r>
            <a:pPr indent="0" marL="0">
              <a:buNone/>
            </a:pPr>
            <a:r>
              <a:rPr lang="en-US" sz="1800" dirty="0">
                <a:solidFill>
                  <a:srgbClr val="FFFFFF"/>
                </a:solidFill>
                <a:latin typeface="Arial" pitchFamily="34" charset="0"/>
                <a:ea typeface="Arial" pitchFamily="34" charset="-122"/>
                <a:cs typeface="Arial" pitchFamily="34" charset="-120"/>
              </a:rPr>
              <a:t>last week's LLM advantage was mostly a circuit-size decision. Remove that one degree of freedom and it disappears on three of four tasks.</a:t>
            </a:r>
            <a:endParaRPr lang="en-US" sz="1800" dirty="0"/>
          </a:p>
        </p:txBody>
      </p:sp>
      <p:sp>
        <p:nvSpPr>
          <p:cNvPr id="6" name="Text 4"/>
          <p:cNvSpPr/>
          <p:nvPr/>
        </p:nvSpPr>
        <p:spPr>
          <a:xfrm>
            <a:off x="822960" y="539496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Tomoya Hatanaka</a:t>
            </a:r>
            <a:endParaRPr lang="en-US" sz="1800" dirty="0"/>
          </a:p>
        </p:txBody>
      </p:sp>
      <p:sp>
        <p:nvSpPr>
          <p:cNvPr id="7" name="Text 5"/>
          <p:cNvSpPr/>
          <p:nvPr/>
        </p:nvSpPr>
        <p:spPr>
          <a:xfrm>
            <a:off x="822960" y="5715000"/>
            <a:ext cx="7315200" cy="320040"/>
          </a:xfrm>
          <a:prstGeom prst="rect">
            <a:avLst/>
          </a:prstGeom>
          <a:noFill/>
          <a:ln/>
        </p:spPr>
        <p:txBody>
          <a:bodyPr wrap="square" lIns="0" tIns="0" rIns="0" bIns="0" rtlCol="0" anchor="ctr"/>
          <a:lstStyle/>
          <a:p>
            <a:pPr indent="0" marL="0">
              <a:buNone/>
            </a:pPr>
            <a:r>
              <a:rPr lang="en-US" sz="1600" dirty="0">
                <a:solidFill>
                  <a:srgbClr val="CADCFC"/>
                </a:solidFill>
                <a:latin typeface="Arial" pitchFamily="34" charset="0"/>
                <a:ea typeface="Arial" pitchFamily="34" charset="-122"/>
                <a:cs typeface="Arial" pitchFamily="34" charset="-120"/>
              </a:rPr>
              <a:t>ML4SCI / Google Summer of Code 2026</a:t>
            </a:r>
            <a:endParaRPr lang="en-US" sz="1600" dirty="0"/>
          </a:p>
        </p:txBody>
      </p:sp>
      <p:sp>
        <p:nvSpPr>
          <p:cNvPr id="8" name="Text 6"/>
          <p:cNvSpPr/>
          <p:nvPr/>
        </p:nvSpPr>
        <p:spPr>
          <a:xfrm>
            <a:off x="822960" y="6035040"/>
            <a:ext cx="91440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July 31, 2026  ·  commit 635ca17  ·  experiment/bench-v2-real-llm-cost-minimal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CHANGED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Last week's search let the LLM choose the circuit size</a:t>
            </a:r>
            <a:endParaRPr lang="en-US" sz="3000" dirty="0"/>
          </a:p>
        </p:txBody>
      </p:sp>
      <p:sp>
        <p:nvSpPr>
          <p:cNvPr id="4" name="Shape 2"/>
          <p:cNvSpPr/>
          <p:nvPr/>
        </p:nvSpPr>
        <p:spPr>
          <a:xfrm>
            <a:off x="548640" y="1508760"/>
            <a:ext cx="5486400" cy="2286000"/>
          </a:xfrm>
          <a:prstGeom prst="roundRect">
            <a:avLst>
              <a:gd name="adj" fmla="val 4000"/>
            </a:avLst>
          </a:prstGeom>
          <a:solidFill>
            <a:srgbClr val="F4F6FA"/>
          </a:solidFill>
          <a:ln w="17780">
            <a:solidFill>
              <a:srgbClr val="55606E"/>
            </a:solidFill>
            <a:prstDash val="solid"/>
          </a:ln>
        </p:spPr>
      </p:sp>
      <p:sp>
        <p:nvSpPr>
          <p:cNvPr id="5" name="Text 3"/>
          <p:cNvSpPr/>
          <p:nvPr/>
        </p:nvSpPr>
        <p:spPr>
          <a:xfrm>
            <a:off x="777240" y="1627632"/>
            <a:ext cx="5029200" cy="365760"/>
          </a:xfrm>
          <a:prstGeom prst="rect">
            <a:avLst/>
          </a:prstGeom>
          <a:noFill/>
          <a:ln/>
        </p:spPr>
        <p:txBody>
          <a:bodyPr wrap="square" lIns="0" tIns="0" rIns="0" bIns="0" rtlCol="0" anchor="ctr"/>
          <a:lstStyle/>
          <a:p>
            <a:pPr indent="0" marL="0">
              <a:buNone/>
            </a:pPr>
            <a:r>
              <a:rPr lang="en-US" sz="1900" b="1" dirty="0">
                <a:solidFill>
                  <a:srgbClr val="55606E"/>
                </a:solidFill>
                <a:latin typeface="Arial" pitchFamily="34" charset="0"/>
                <a:ea typeface="Arial" pitchFamily="34" charset="-122"/>
                <a:cs typeface="Arial" pitchFamily="34" charset="-120"/>
              </a:rPr>
              <a:t>Last week (2026-07-24 pilot)</a:t>
            </a:r>
            <a:endParaRPr lang="en-US" sz="1900" dirty="0"/>
          </a:p>
        </p:txBody>
      </p:sp>
      <p:sp>
        <p:nvSpPr>
          <p:cNvPr id="6" name="Text 4"/>
          <p:cNvSpPr/>
          <p:nvPr/>
        </p:nvSpPr>
        <p:spPr>
          <a:xfrm>
            <a:off x="841248" y="2121408"/>
            <a:ext cx="4937760" cy="1554480"/>
          </a:xfrm>
          <a:prstGeom prst="rect">
            <a:avLst/>
          </a:prstGeom>
          <a:noFill/>
          <a:ln/>
        </p:spPr>
        <p:txBody>
          <a:bodyPr wrap="square" lIns="0" tIns="0" rIns="0" bIns="0" rtlCol="0" anchor="t"/>
          <a:lstStyle/>
          <a:p>
            <a:pPr marL="342900" indent="-342900">
              <a:lnSpc>
                <a:spcPct val="112000"/>
              </a:lnSpc>
              <a:spcAft>
                <a:spcPts val="700"/>
              </a:spcAft>
              <a:buSzPct val="100000"/>
              <a:buChar char="•"/>
            </a:pPr>
            <a:r>
              <a:rPr lang="en-US" sz="1550" dirty="0">
                <a:solidFill>
                  <a:srgbClr val="1A1A2E"/>
                </a:solidFill>
                <a:latin typeface="Arial" pitchFamily="34" charset="0"/>
                <a:ea typeface="Arial" pitchFamily="34" charset="-122"/>
                <a:cs typeface="Arial" pitchFamily="34" charset="-120"/>
              </a:rPr>
              <a:t>Circuit body: 1 to 5 gates - length was itself a choice</a:t>
            </a:r>
            <a:endParaRPr lang="en-US" sz="1550" dirty="0"/>
          </a:p>
          <a:p>
            <a:pPr marL="342900" indent="-342900">
              <a:lnSpc>
                <a:spcPct val="112000"/>
              </a:lnSpc>
              <a:spcAft>
                <a:spcPts val="700"/>
              </a:spcAft>
              <a:buSzPct val="100000"/>
              <a:buChar char="•"/>
            </a:pPr>
            <a:r>
              <a:rPr lang="en-US" sz="1550" dirty="0">
                <a:solidFill>
                  <a:srgbClr val="1A1A2E"/>
                </a:solidFill>
                <a:latin typeface="Arial" pitchFamily="34" charset="0"/>
                <a:ea typeface="Arial" pitchFamily="34" charset="-122"/>
                <a:cs typeface="Arial" pitchFamily="34" charset="-120"/>
              </a:rPr>
              <a:t>Budget B = 4 candidates, 2 seeds</a:t>
            </a:r>
            <a:endParaRPr lang="en-US" sz="1550" dirty="0"/>
          </a:p>
          <a:p>
            <a:pPr marL="342900" indent="-342900">
              <a:lnSpc>
                <a:spcPct val="112000"/>
              </a:lnSpc>
              <a:spcAft>
                <a:spcPts val="700"/>
              </a:spcAft>
              <a:buSzPct val="100000"/>
              <a:buChar char="•"/>
            </a:pPr>
            <a:r>
              <a:rPr lang="en-US" sz="1550" dirty="0">
                <a:solidFill>
                  <a:srgbClr val="1A1A2E"/>
                </a:solidFill>
                <a:latin typeface="Arial" pitchFamily="34" charset="0"/>
                <a:ea typeface="Arial" pitchFamily="34" charset="-122"/>
                <a:cs typeface="Arial" pitchFamily="34" charset="-120"/>
              </a:rPr>
              <a:t>Reported: LLM open-loop 0.155 vs Random 0.189</a:t>
            </a:r>
            <a:endParaRPr lang="en-US" sz="1550" dirty="0"/>
          </a:p>
          <a:p>
            <a:pPr marL="342900" indent="-342900">
              <a:lnSpc>
                <a:spcPct val="112000"/>
              </a:lnSpc>
              <a:spcAft>
                <a:spcPts val="700"/>
              </a:spcAft>
              <a:buSzPct val="100000"/>
              <a:buChar char="•"/>
            </a:pPr>
            <a:r>
              <a:rPr lang="en-US" sz="1550" dirty="0">
                <a:solidFill>
                  <a:srgbClr val="1A1A2E"/>
                </a:solidFill>
                <a:latin typeface="Arial" pitchFamily="34" charset="0"/>
                <a:ea typeface="Arial" pitchFamily="34" charset="-122"/>
                <a:cs typeface="Arial" pitchFamily="34" charset="-120"/>
              </a:rPr>
              <a:t>Its own config file said: "integration/smoke demonstration only; not a statistically powered result"</a:t>
            </a:r>
            <a:endParaRPr lang="en-US" sz="1550" dirty="0"/>
          </a:p>
        </p:txBody>
      </p:sp>
      <p:sp>
        <p:nvSpPr>
          <p:cNvPr id="7" name="Shape 5"/>
          <p:cNvSpPr/>
          <p:nvPr/>
        </p:nvSpPr>
        <p:spPr>
          <a:xfrm>
            <a:off x="6172200" y="1508760"/>
            <a:ext cx="5486400" cy="2286000"/>
          </a:xfrm>
          <a:prstGeom prst="roundRect">
            <a:avLst>
              <a:gd name="adj" fmla="val 4000"/>
            </a:avLst>
          </a:prstGeom>
          <a:solidFill>
            <a:srgbClr val="EAF0FB"/>
          </a:solidFill>
          <a:ln w="17780">
            <a:solidFill>
              <a:srgbClr val="1E3A5F"/>
            </a:solidFill>
            <a:prstDash val="solid"/>
          </a:ln>
        </p:spPr>
      </p:sp>
      <p:sp>
        <p:nvSpPr>
          <p:cNvPr id="8" name="Text 6"/>
          <p:cNvSpPr/>
          <p:nvPr/>
        </p:nvSpPr>
        <p:spPr>
          <a:xfrm>
            <a:off x="6400800" y="1627632"/>
            <a:ext cx="5029200" cy="365760"/>
          </a:xfrm>
          <a:prstGeom prst="rect">
            <a:avLst/>
          </a:prstGeom>
          <a:noFill/>
          <a:ln/>
        </p:spPr>
        <p:txBody>
          <a:bodyPr wrap="square" lIns="0" tIns="0" rIns="0" bIns="0" rtlCol="0" anchor="ctr"/>
          <a:lstStyle/>
          <a:p>
            <a:pPr indent="0" marL="0">
              <a:buNone/>
            </a:pPr>
            <a:r>
              <a:rPr lang="en-US" sz="1900" b="1" dirty="0">
                <a:solidFill>
                  <a:srgbClr val="1E3A5F"/>
                </a:solidFill>
                <a:latin typeface="Arial" pitchFamily="34" charset="0"/>
                <a:ea typeface="Arial" pitchFamily="34" charset="-122"/>
                <a:cs typeface="Arial" pitchFamily="34" charset="-120"/>
              </a:rPr>
              <a:t>This week</a:t>
            </a:r>
            <a:endParaRPr lang="en-US" sz="1900" dirty="0"/>
          </a:p>
        </p:txBody>
      </p:sp>
      <p:sp>
        <p:nvSpPr>
          <p:cNvPr id="9" name="Text 7"/>
          <p:cNvSpPr/>
          <p:nvPr/>
        </p:nvSpPr>
        <p:spPr>
          <a:xfrm>
            <a:off x="6464808" y="2121408"/>
            <a:ext cx="4937760" cy="1554480"/>
          </a:xfrm>
          <a:prstGeom prst="rect">
            <a:avLst/>
          </a:prstGeom>
          <a:noFill/>
          <a:ln/>
        </p:spPr>
        <p:txBody>
          <a:bodyPr wrap="square" lIns="0" tIns="0" rIns="0" bIns="0" rtlCol="0" anchor="t"/>
          <a:lstStyle/>
          <a:p>
            <a:pPr marL="342900" indent="-342900">
              <a:lnSpc>
                <a:spcPct val="112000"/>
              </a:lnSpc>
              <a:spcAft>
                <a:spcPts val="700"/>
              </a:spcAft>
              <a:buSzPct val="100000"/>
              <a:buChar char="•"/>
            </a:pPr>
            <a:r>
              <a:rPr lang="en-US" sz="1550" dirty="0">
                <a:solidFill>
                  <a:srgbClr val="1A1A2E"/>
                </a:solidFill>
                <a:latin typeface="Arial" pitchFamily="34" charset="0"/>
                <a:ea typeface="Arial" pitchFamily="34" charset="-122"/>
                <a:cs typeface="Arial" pitchFamily="34" charset="-120"/>
              </a:rPr>
              <a:t>Circuit body: EXACTLY 5 gates - length is fixed for every method</a:t>
            </a:r>
            <a:endParaRPr lang="en-US" sz="1550" dirty="0"/>
          </a:p>
          <a:p>
            <a:pPr marL="342900" indent="-342900">
              <a:lnSpc>
                <a:spcPct val="112000"/>
              </a:lnSpc>
              <a:spcAft>
                <a:spcPts val="700"/>
              </a:spcAft>
              <a:buSzPct val="100000"/>
              <a:buChar char="•"/>
            </a:pPr>
            <a:r>
              <a:rPr lang="en-US" sz="1550" dirty="0">
                <a:solidFill>
                  <a:srgbClr val="1A1A2E"/>
                </a:solidFill>
                <a:latin typeface="Arial" pitchFamily="34" charset="0"/>
                <a:ea typeface="Arial" pitchFamily="34" charset="-122"/>
                <a:cs typeface="Arial" pitchFamily="34" charset="-120"/>
              </a:rPr>
              <a:t>Budget B = 8 candidates, 10 seeds</a:t>
            </a:r>
            <a:endParaRPr lang="en-US" sz="1550" dirty="0"/>
          </a:p>
          <a:p>
            <a:pPr marL="342900" indent="-342900">
              <a:lnSpc>
                <a:spcPct val="112000"/>
              </a:lnSpc>
              <a:spcAft>
                <a:spcPts val="700"/>
              </a:spcAft>
              <a:buSzPct val="100000"/>
              <a:buChar char="•"/>
            </a:pPr>
            <a:r>
              <a:rPr lang="en-US" sz="1550" dirty="0">
                <a:solidFill>
                  <a:srgbClr val="1A1A2E"/>
                </a:solidFill>
                <a:latin typeface="Arial" pitchFamily="34" charset="0"/>
                <a:ea typeface="Arial" pitchFamily="34" charset="-122"/>
                <a:cs typeface="Arial" pitchFamily="34" charset="-120"/>
              </a:rPr>
              <a:t>Five arms instead of three</a:t>
            </a:r>
            <a:endParaRPr lang="en-US" sz="1550" dirty="0"/>
          </a:p>
          <a:p>
            <a:pPr marL="342900" indent="-342900">
              <a:lnSpc>
                <a:spcPct val="112000"/>
              </a:lnSpc>
              <a:spcAft>
                <a:spcPts val="700"/>
              </a:spcAft>
              <a:buSzPct val="100000"/>
              <a:buChar char="•"/>
            </a:pPr>
            <a:r>
              <a:rPr lang="en-US" sz="1550" dirty="0">
                <a:solidFill>
                  <a:srgbClr val="1A1A2E"/>
                </a:solidFill>
                <a:latin typeface="Arial" pitchFamily="34" charset="0"/>
                <a:ea typeface="Arial" pitchFamily="34" charset="-122"/>
                <a:cs typeface="Arial" pitchFamily="34" charset="-120"/>
              </a:rPr>
              <a:t>Three conditions run so the difference can be attributed, not guessed</a:t>
            </a:r>
            <a:endParaRPr lang="en-US" sz="1550" dirty="0"/>
          </a:p>
        </p:txBody>
      </p:sp>
      <p:sp>
        <p:nvSpPr>
          <p:cNvPr id="10" name="Shape 8"/>
          <p:cNvSpPr/>
          <p:nvPr/>
        </p:nvSpPr>
        <p:spPr>
          <a:xfrm>
            <a:off x="548640" y="4069080"/>
            <a:ext cx="11109960" cy="1371600"/>
          </a:xfrm>
          <a:prstGeom prst="roundRect">
            <a:avLst>
              <a:gd name="adj" fmla="val 6667"/>
            </a:avLst>
          </a:prstGeom>
          <a:solidFill>
            <a:srgbClr val="FDF6E8"/>
          </a:solidFill>
          <a:ln w="15240">
            <a:solidFill>
              <a:srgbClr val="B8860B"/>
            </a:solidFill>
            <a:prstDash val="solid"/>
          </a:ln>
        </p:spPr>
      </p:sp>
      <p:sp>
        <p:nvSpPr>
          <p:cNvPr id="11" name="Text 9"/>
          <p:cNvSpPr/>
          <p:nvPr/>
        </p:nvSpPr>
        <p:spPr>
          <a:xfrm>
            <a:off x="822960" y="4206240"/>
            <a:ext cx="10607040" cy="1097280"/>
          </a:xfrm>
          <a:prstGeom prst="rect">
            <a:avLst/>
          </a:prstGeom>
          <a:noFill/>
          <a:ln/>
        </p:spPr>
        <p:txBody>
          <a:bodyPr wrap="square" lIns="0" tIns="0" rIns="0" bIns="0" rtlCol="0" anchor="ctr"/>
          <a:lstStyle/>
          <a:p>
            <a:pPr indent="0" marL="0">
              <a:buNone/>
            </a:pPr>
            <a:r>
              <a:rPr lang="en-US" sz="1800" b="1" dirty="0">
                <a:solidFill>
                  <a:srgbClr val="1A1A2E"/>
                </a:solidFill>
                <a:latin typeface="Arial" pitchFamily="34" charset="0"/>
                <a:ea typeface="Arial" pitchFamily="34" charset="-122"/>
                <a:cs typeface="Arial" pitchFamily="34" charset="-120"/>
              </a:rPr>
              <a:t>Why this matters:  </a:t>
            </a:r>
            <a:pPr indent="0" marL="0">
              <a:buNone/>
            </a:pPr>
            <a:r>
              <a:rPr lang="en-US" sz="1800" dirty="0">
                <a:solidFill>
                  <a:srgbClr val="1A1A2E"/>
                </a:solidFill>
                <a:latin typeface="Arial" pitchFamily="34" charset="0"/>
                <a:ea typeface="Arial" pitchFamily="34" charset="-122"/>
                <a:cs typeface="Arial" pitchFamily="34" charset="-120"/>
              </a:rPr>
              <a:t>if circuit length is a free variable and longer circuits are usually better, then any proposer that simply always asks for the maximum length wins - without designing anything.</a:t>
            </a:r>
            <a:endParaRPr lang="en-US" sz="1800" dirty="0"/>
          </a:p>
        </p:txBody>
      </p:sp>
      <p:sp>
        <p:nvSpPr>
          <p:cNvPr id="12" name="Text 10"/>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Pilot config: outputs/free_amplitude_fixed_readout_v1/EXPERIMENT_CONFIG.json (max_gates 5, budget_per_arm 4, seeds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SEARCH SPACE</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Every rule, stated so you can check any circuit by eye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109960" cy="914400"/>
        </p:xfrm>
        <a:graphic>
          <a:graphicData uri="http://schemas.openxmlformats.org/drawingml/2006/table">
            <a:tbl>
              <a:tblPr/>
              <a:tblGrid>
                <a:gridCol w="2514600"/>
                <a:gridCol w="8595360"/>
              </a:tblGrid>
              <a:tr h="402336">
                <a:tc>
                  <a:txBody>
                    <a:bodyPr/>
                    <a:lstStyle/>
                    <a:p>
                      <a:pPr indent="0" marL="0">
                        <a:buNone/>
                      </a:pPr>
                      <a:r>
                        <a:rPr lang="en-US" sz="1400" b="1" dirty="0">
                          <a:solidFill>
                            <a:srgbClr val="FFFFFF"/>
                          </a:solidFill>
                          <a:latin typeface="Arial" pitchFamily="34" charset="0"/>
                          <a:ea typeface="Arial" pitchFamily="34" charset="-122"/>
                          <a:cs typeface="Arial" pitchFamily="34" charset="-120"/>
                        </a:rPr>
                        <a:t>Constraint</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Value</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Qubits</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3 for T1 and T2 (2^3 = 8 amplitudes); 5 for T3 and T4 (2^5 = 32)</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Gate count</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EXACTLY 5 - not a maximum, not a range. Identical for every method.</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Gate set (7 types)</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wire: H, RX, RY, RZ      two wires: CRX, CRY, CRZ</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Angles</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continuous theta per gate in [-pi, pi]; H carries none</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Training</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NONE. The proposed angles are evaluated verbatim - no optimizer exists on this path.</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Encoding / readout</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amplitude encoding; Pauli-Z on qubit 0; prediction = (1 - &lt;Z0&gt;)/2</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02336">
                <a:tc>
                  <a:txBody>
                    <a:bodyPr/>
                    <a:lstStyle/>
                    <a:p>
                      <a:pPr indent="0" marL="0">
                        <a:buNone/>
                      </a:pPr>
                      <a:r>
                        <a:rPr lang="en-US" sz="1400" dirty="0">
                          <a:solidFill>
                            <a:srgbClr val="000000"/>
                          </a:solidFill>
                          <a:latin typeface="Arial" pitchFamily="34" charset="0"/>
                          <a:ea typeface="Arial" pitchFamily="34" charset="-122"/>
                          <a:cs typeface="Arial" pitchFamily="34" charset="-120"/>
                        </a:rPr>
                        <a:t>Classical parameters</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zero - no dense layer can rescue a weak circuit</a:t>
                      </a:r>
                      <a:endParaRPr lang="en-US" sz="140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bl>
          </a:graphicData>
        </a:graphic>
      </p:graphicFrame>
      <p:sp>
        <p:nvSpPr>
          <p:cNvPr id="5" name="Shape 2"/>
          <p:cNvSpPr/>
          <p:nvPr/>
        </p:nvSpPr>
        <p:spPr>
          <a:xfrm>
            <a:off x="548640" y="5029200"/>
            <a:ext cx="11109960" cy="1051560"/>
          </a:xfrm>
          <a:prstGeom prst="roundRect">
            <a:avLst>
              <a:gd name="adj" fmla="val 6957"/>
            </a:avLst>
          </a:prstGeom>
          <a:solidFill>
            <a:srgbClr val="F4F6FA"/>
          </a:solidFill>
          <a:ln w="12700">
            <a:solidFill>
              <a:srgbClr val="D8DDE6"/>
            </a:solidFill>
            <a:prstDash val="solid"/>
          </a:ln>
        </p:spPr>
      </p:sp>
      <p:sp>
        <p:nvSpPr>
          <p:cNvPr id="6" name="Text 3"/>
          <p:cNvSpPr/>
          <p:nvPr/>
        </p:nvSpPr>
        <p:spPr>
          <a:xfrm>
            <a:off x="777240" y="5138928"/>
            <a:ext cx="10607040" cy="822960"/>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One operation = one physical gate here.  </a:t>
            </a:r>
            <a:pPr indent="0" marL="0">
              <a:buNone/>
            </a:pPr>
            <a:r>
              <a:rPr lang="en-US" sz="1600" dirty="0">
                <a:solidFill>
                  <a:srgbClr val="1A1A2E"/>
                </a:solidFill>
                <a:latin typeface="Arial" pitchFamily="34" charset="0"/>
                <a:ea typeface="Arial" pitchFamily="34" charset="-122"/>
                <a:cs typeface="Arial" pitchFamily="34" charset="-120"/>
              </a:rPr>
              <a:t>There are no layer macros: a 5-gate circuit compiles to 5 gates, so "5" means the same thing to every arm and to the reader.</a:t>
            </a:r>
            <a:endParaRPr lang="en-US" sz="160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llm_vqc/mini5/space.py - the same grammar check is applied to classical samplers and LLM replies alike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IS MEASURED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One number, defined once: RMSE</a:t>
            </a:r>
            <a:endParaRPr lang="en-US" sz="3000" dirty="0"/>
          </a:p>
        </p:txBody>
      </p:sp>
      <p:sp>
        <p:nvSpPr>
          <p:cNvPr id="4" name="Text 2"/>
          <p:cNvSpPr/>
          <p:nvPr/>
        </p:nvSpPr>
        <p:spPr>
          <a:xfrm>
            <a:off x="640080" y="1508760"/>
            <a:ext cx="10972800" cy="2743200"/>
          </a:xfrm>
          <a:prstGeom prst="rect">
            <a:avLst/>
          </a:prstGeom>
          <a:noFill/>
          <a:ln/>
        </p:spPr>
        <p:txBody>
          <a:bodyPr wrap="square" lIns="0" tIns="0" rIns="0" bIns="0" rtlCol="0" anchor="t"/>
          <a:lstStyle/>
          <a:p>
            <a:pPr marL="342900" indent="-342900">
              <a:lnSpc>
                <a:spcPct val="112000"/>
              </a:lnSpc>
              <a:spcAft>
                <a:spcPts val="1200"/>
              </a:spcAft>
              <a:buSzPct val="100000"/>
              <a:buChar char="•"/>
            </a:pPr>
            <a:r>
              <a:rPr lang="en-US" sz="1700" dirty="0">
                <a:solidFill>
                  <a:srgbClr val="1A1A2E"/>
                </a:solidFill>
                <a:latin typeface="Arial" pitchFamily="34" charset="0"/>
                <a:ea typeface="Arial" pitchFamily="34" charset="-122"/>
                <a:cs typeface="Arial" pitchFamily="34" charset="-120"/>
              </a:rPr>
              <a:t>Validation RMSE drives the search. Each arm evaluates its candidates and keeps the best one by validation RMSE.</a:t>
            </a:r>
            <a:endParaRPr lang="en-US" sz="1700" dirty="0"/>
          </a:p>
          <a:p>
            <a:pPr marL="342900" indent="-342900">
              <a:lnSpc>
                <a:spcPct val="112000"/>
              </a:lnSpc>
              <a:spcAft>
                <a:spcPts val="1200"/>
              </a:spcAft>
              <a:buSzPct val="100000"/>
              <a:buChar char="•"/>
            </a:pPr>
            <a:r>
              <a:rPr lang="en-US" sz="1700" dirty="0">
                <a:solidFill>
                  <a:srgbClr val="1A1A2E"/>
                </a:solidFill>
                <a:latin typeface="Arial" pitchFamily="34" charset="0"/>
                <a:ea typeface="Arial" pitchFamily="34" charset="-122"/>
                <a:cs typeface="Arial" pitchFamily="34" charset="-120"/>
              </a:rPr>
              <a:t>Test RMSE is reported. The held-out split is touched once per cell, after the choice is frozen, so the reported number was never used to make that choice.</a:t>
            </a:r>
            <a:endParaRPr lang="en-US" sz="1700" dirty="0"/>
          </a:p>
          <a:p>
            <a:pPr marL="342900" indent="-342900">
              <a:lnSpc>
                <a:spcPct val="112000"/>
              </a:lnSpc>
              <a:spcAft>
                <a:spcPts val="1200"/>
              </a:spcAft>
              <a:buSzPct val="100000"/>
              <a:buChar char="•"/>
            </a:pPr>
            <a:r>
              <a:rPr lang="en-US" sz="1700" dirty="0">
                <a:solidFill>
                  <a:srgbClr val="1A1A2E"/>
                </a:solidFill>
                <a:latin typeface="Arial" pitchFamily="34" charset="0"/>
                <a:ea typeface="Arial" pitchFamily="34" charset="-122"/>
                <a:cs typeface="Arial" pitchFamily="34" charset="-120"/>
              </a:rPr>
              <a:t>T1-T3 regress a continuous quantity, so RMSE is the natural metric.</a:t>
            </a:r>
            <a:endParaRPr lang="en-US" sz="1700" dirty="0"/>
          </a:p>
          <a:p>
            <a:pPr marL="342900" indent="-342900">
              <a:lnSpc>
                <a:spcPct val="112000"/>
              </a:lnSpc>
              <a:spcAft>
                <a:spcPts val="1200"/>
              </a:spcAft>
              <a:buSzPct val="100000"/>
              <a:buChar char="•"/>
            </a:pPr>
            <a:r>
              <a:rPr lang="en-US" sz="1700" dirty="0">
                <a:solidFill>
                  <a:srgbClr val="1A1A2E"/>
                </a:solidFill>
                <a:latin typeface="Arial" pitchFamily="34" charset="0"/>
                <a:ea typeface="Arial" pitchFamily="34" charset="-122"/>
                <a:cs typeface="Arial" pitchFamily="34" charset="-120"/>
              </a:rPr>
              <a:t>T4 is binary classification. RMSE against a 0/1 label equals the square root of the Brier score - a proper scoring rule - so all four panels share one axis. AUROC is reported alongside it, and slide 7 shows why that matters.</a:t>
            </a:r>
            <a:endParaRPr lang="en-US" sz="1700" dirty="0"/>
          </a:p>
        </p:txBody>
      </p:sp>
      <p:sp>
        <p:nvSpPr>
          <p:cNvPr id="5" name="Shape 3"/>
          <p:cNvSpPr/>
          <p:nvPr/>
        </p:nvSpPr>
        <p:spPr>
          <a:xfrm>
            <a:off x="640080" y="4434840"/>
            <a:ext cx="10881360" cy="1371600"/>
          </a:xfrm>
          <a:prstGeom prst="roundRect">
            <a:avLst>
              <a:gd name="adj" fmla="val 6667"/>
            </a:avLst>
          </a:prstGeom>
          <a:solidFill>
            <a:srgbClr val="FDF6E8"/>
          </a:solidFill>
          <a:ln w="15240">
            <a:solidFill>
              <a:srgbClr val="B8860B"/>
            </a:solidFill>
            <a:prstDash val="solid"/>
          </a:ln>
        </p:spPr>
      </p:sp>
      <p:sp>
        <p:nvSpPr>
          <p:cNvPr id="6" name="Text 4"/>
          <p:cNvSpPr/>
          <p:nvPr/>
        </p:nvSpPr>
        <p:spPr>
          <a:xfrm>
            <a:off x="868680" y="4572000"/>
            <a:ext cx="10424160" cy="1097280"/>
          </a:xfrm>
          <a:prstGeom prst="rect">
            <a:avLst/>
          </a:prstGeom>
          <a:noFill/>
          <a:ln/>
        </p:spPr>
        <p:txBody>
          <a:bodyPr wrap="square" lIns="0" tIns="0" rIns="0" bIns="0" rtlCol="0" anchor="ctr"/>
          <a:lstStyle/>
          <a:p>
            <a:pPr indent="0" marL="0">
              <a:buNone/>
            </a:pPr>
            <a:r>
              <a:rPr lang="en-US" sz="1700" b="1" dirty="0">
                <a:solidFill>
                  <a:srgbClr val="1A1A2E"/>
                </a:solidFill>
                <a:latin typeface="Arial" pitchFamily="34" charset="0"/>
                <a:ea typeface="Arial" pitchFamily="34" charset="-122"/>
                <a:cs typeface="Arial" pitchFamily="34" charset="-120"/>
              </a:rPr>
              <a:t>RMSE is comparable between arms within one task, never between tasks.  </a:t>
            </a:r>
            <a:pPr indent="0" marL="0">
              <a:buNone/>
            </a:pPr>
            <a:r>
              <a:rPr lang="en-US" sz="1700" dirty="0">
                <a:solidFill>
                  <a:srgbClr val="1A1A2E"/>
                </a:solidFill>
                <a:latin typeface="Arial" pitchFamily="34" charset="0"/>
                <a:ea typeface="Arial" pitchFamily="34" charset="-122"/>
                <a:cs typeface="Arial" pitchFamily="34" charset="-120"/>
              </a:rPr>
              <a:t>T1, T2, T3 and T4 predict different quantities on different scales, so the panels each carry their own y-axis and a T1 value must not be read against a T3 value.</a:t>
            </a:r>
            <a:endParaRPr lang="en-US" sz="1700" dirty="0"/>
          </a:p>
        </p:txBody>
      </p:sp>
      <p:sp>
        <p:nvSpPr>
          <p:cNvPr id="7" name="Text 5"/>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256 train / 256 validation / 2048 test per replicate, regenerated per seed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DESIGN</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Five arms, one shared budget of unique candidates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109960" cy="914400"/>
        </p:xfrm>
        <a:graphic>
          <a:graphicData uri="http://schemas.openxmlformats.org/drawingml/2006/table">
            <a:tbl>
              <a:tblPr/>
              <a:tblGrid>
                <a:gridCol w="2286000"/>
                <a:gridCol w="6949440"/>
                <a:gridCol w="1874520"/>
              </a:tblGrid>
              <a:tr h="420624">
                <a:tc>
                  <a:txBody>
                    <a:bodyPr/>
                    <a:lstStyle/>
                    <a:p>
                      <a:pPr indent="0" marL="0">
                        <a:buNone/>
                      </a:pPr>
                      <a:r>
                        <a:rPr lang="en-US" sz="1450" b="1" dirty="0">
                          <a:solidFill>
                            <a:srgbClr val="FFFFFF"/>
                          </a:solidFill>
                          <a:latin typeface="Arial" pitchFamily="34" charset="0"/>
                          <a:ea typeface="Arial" pitchFamily="34" charset="-122"/>
                          <a:cs typeface="Arial" pitchFamily="34" charset="-120"/>
                        </a:rPr>
                        <a:t>Arm</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c>
                  <a:txBody>
                    <a:bodyPr/>
                    <a:lstStyle/>
                    <a:p>
                      <a:pPr indent="0" marL="0">
                        <a:buNone/>
                      </a:pPr>
                      <a:r>
                        <a:rPr lang="en-US" sz="1450" b="1" dirty="0">
                          <a:solidFill>
                            <a:srgbClr val="FFFFFF"/>
                          </a:solidFill>
                          <a:latin typeface="Arial" pitchFamily="34" charset="0"/>
                          <a:ea typeface="Arial" pitchFamily="34" charset="-122"/>
                          <a:cs typeface="Arial" pitchFamily="34" charset="-120"/>
                        </a:rPr>
                        <a:t>How it proposes</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c>
                  <a:txBody>
                    <a:bodyPr/>
                    <a:lstStyle/>
                    <a:p>
                      <a:pPr indent="0" marL="0">
                        <a:buNone/>
                      </a:pPr>
                      <a:r>
                        <a:rPr lang="en-US" sz="1450" b="1" dirty="0">
                          <a:solidFill>
                            <a:srgbClr val="FFFFFF"/>
                          </a:solidFill>
                          <a:latin typeface="Arial" pitchFamily="34" charset="0"/>
                          <a:ea typeface="Arial" pitchFamily="34" charset="-122"/>
                          <a:cs typeface="Arial" pitchFamily="34" charset="-120"/>
                        </a:rPr>
                        <a:t>API calls</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r>
              <a:tr h="420624">
                <a:tc>
                  <a:txBody>
                    <a:bodyPr/>
                    <a:lstStyle/>
                    <a:p>
                      <a:pPr indent="0" marL="0">
                        <a:buNone/>
                      </a:pPr>
                      <a:r>
                        <a:rPr lang="en-US" sz="1450" dirty="0">
                          <a:solidFill>
                            <a:srgbClr val="000000"/>
                          </a:solidFill>
                          <a:latin typeface="Arial" pitchFamily="34" charset="0"/>
                          <a:ea typeface="Arial" pitchFamily="34" charset="-122"/>
                          <a:cs typeface="Arial" pitchFamily="34" charset="-120"/>
                        </a:rPr>
                        <a:t>Random</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draws 5 gates, wires and angles uniformly</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none</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20624">
                <a:tc>
                  <a:txBody>
                    <a:bodyPr/>
                    <a:lstStyle/>
                    <a:p>
                      <a:pPr indent="0" marL="0">
                        <a:buNone/>
                      </a:pPr>
                      <a:r>
                        <a:rPr lang="en-US" sz="1450" dirty="0">
                          <a:solidFill>
                            <a:srgbClr val="000000"/>
                          </a:solidFill>
                          <a:latin typeface="Arial" pitchFamily="34" charset="0"/>
                          <a:ea typeface="Arial" pitchFamily="34" charset="-122"/>
                          <a:cs typeface="Arial" pitchFamily="34" charset="-120"/>
                        </a:rPr>
                        <a:t>Evolutionary</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(mu+lambda), mu=4: seed 4 at random, then mutate a survivor</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none</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20624">
                <a:tc>
                  <a:txBody>
                    <a:bodyPr/>
                    <a:lstStyle/>
                    <a:p>
                      <a:pPr indent="0" marL="0">
                        <a:buNone/>
                      </a:pPr>
                      <a:r>
                        <a:rPr lang="en-US" sz="1450" dirty="0">
                          <a:solidFill>
                            <a:srgbClr val="000000"/>
                          </a:solidFill>
                          <a:latin typeface="Arial" pitchFamily="34" charset="0"/>
                          <a:ea typeface="Arial" pitchFamily="34" charset="-122"/>
                          <a:cs typeface="Arial" pitchFamily="34" charset="-120"/>
                        </a:rPr>
                        <a:t>Greedy</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hill climbing: mutate the incumbent, keep it only if validation improves</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none</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20624">
                <a:tc>
                  <a:txBody>
                    <a:bodyPr/>
                    <a:lstStyle/>
                    <a:p>
                      <a:pPr indent="0" marL="0">
                        <a:buNone/>
                      </a:pPr>
                      <a:r>
                        <a:rPr lang="en-US" sz="1450" dirty="0">
                          <a:solidFill>
                            <a:srgbClr val="000000"/>
                          </a:solidFill>
                          <a:latin typeface="Arial" pitchFamily="34" charset="0"/>
                          <a:ea typeface="Arial" pitchFamily="34" charset="-122"/>
                          <a:cs typeface="Arial" pitchFamily="34" charset="-120"/>
                        </a:rPr>
                        <a:t>LLM open-loop</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one request per candidate; sees only the model contract and n</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1 per candidate</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20624">
                <a:tc>
                  <a:txBody>
                    <a:bodyPr/>
                    <a:lstStyle/>
                    <a:p>
                      <a:pPr indent="0" marL="0">
                        <a:buNone/>
                      </a:pPr>
                      <a:r>
                        <a:rPr lang="en-US" sz="1450" dirty="0">
                          <a:solidFill>
                            <a:srgbClr val="000000"/>
                          </a:solidFill>
                          <a:latin typeface="Arial" pitchFamily="34" charset="0"/>
                          <a:ea typeface="Arial" pitchFamily="34" charset="-122"/>
                          <a:cs typeface="Arial" pitchFamily="34" charset="-120"/>
                        </a:rPr>
                        <a:t>LLM closed-loop</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same, plus validation-only results for what it already tried</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450" dirty="0">
                          <a:solidFill>
                            <a:srgbClr val="000000"/>
                          </a:solidFill>
                          <a:latin typeface="Arial" pitchFamily="34" charset="0"/>
                          <a:ea typeface="Arial" pitchFamily="34" charset="-122"/>
                          <a:cs typeface="Arial" pitchFamily="34" charset="-120"/>
                        </a:rPr>
                        <a:t>1 per candidate</a:t>
                      </a:r>
                      <a:endParaRPr lang="en-US" sz="14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bl>
          </a:graphicData>
        </a:graphic>
      </p:graphicFrame>
      <p:sp>
        <p:nvSpPr>
          <p:cNvPr id="5" name="Shape 2"/>
          <p:cNvSpPr/>
          <p:nvPr/>
        </p:nvSpPr>
        <p:spPr>
          <a:xfrm>
            <a:off x="548640" y="4114800"/>
            <a:ext cx="11109960" cy="1691640"/>
          </a:xfrm>
          <a:prstGeom prst="roundRect">
            <a:avLst>
              <a:gd name="adj" fmla="val 5405"/>
            </a:avLst>
          </a:prstGeom>
          <a:solidFill>
            <a:srgbClr val="F4F6FA"/>
          </a:solidFill>
          <a:ln w="12700">
            <a:solidFill>
              <a:srgbClr val="D8DDE6"/>
            </a:solidFill>
            <a:prstDash val="solid"/>
          </a:ln>
        </p:spPr>
      </p:sp>
      <p:sp>
        <p:nvSpPr>
          <p:cNvPr id="6" name="Text 3"/>
          <p:cNvSpPr/>
          <p:nvPr/>
        </p:nvSpPr>
        <p:spPr>
          <a:xfrm>
            <a:off x="777240" y="4224528"/>
            <a:ext cx="10607040" cy="1463040"/>
          </a:xfrm>
          <a:prstGeom prst="rect">
            <a:avLst/>
          </a:prstGeom>
          <a:noFill/>
          <a:ln/>
        </p:spPr>
        <p:txBody>
          <a:bodyPr wrap="square" lIns="0" tIns="0" rIns="0" bIns="0" rtlCol="0" anchor="ctr"/>
          <a:lstStyle/>
          <a:p>
            <a:pPr indent="0" marL="0">
              <a:buNone/>
            </a:pPr>
            <a:r>
              <a:rPr lang="en-US" sz="1700" b="1" dirty="0">
                <a:solidFill>
                  <a:srgbClr val="1E3A5F"/>
                </a:solidFill>
                <a:latin typeface="Arial" pitchFamily="34" charset="0"/>
                <a:ea typeface="Arial" pitchFamily="34" charset="-122"/>
                <a:cs typeface="Arial" pitchFamily="34" charset="-120"/>
              </a:rPr>
              <a:t>B = 8 unique evaluated candidates per arm, 10 seeds.  </a:t>
            </a:r>
            <a:pPr indent="0" marL="0">
              <a:buNone/>
            </a:pPr>
            <a:r>
              <a:rPr lang="en-US" sz="1700" dirty="0">
                <a:solidFill>
                  <a:srgbClr val="1A1A2E"/>
                </a:solidFill>
                <a:latin typeface="Arial" pitchFamily="34" charset="0"/>
                <a:ea typeface="Arial" pitchFamily="34" charset="-122"/>
                <a:cs typeface="Arial" pitchFamily="34" charset="-120"/>
              </a:rPr>
              <a:t>A duplicate or an ungrammatical proposal is recorded but consumes no budget, so no method can buy extra evaluations by proposing badly - and no method gets fewer because it proposes well. One candidate per request, so the closed loop is genuinely sequential: propose, see the result, propose again, eight times.</a:t>
            </a:r>
            <a:endParaRPr lang="en-US" sz="170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Greedy growth cannot apply at fixed length, so Greedy here is fixed-length hill climbing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RESULT</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Random search wins on three of four tasks</a:t>
            </a:r>
            <a:endParaRPr lang="en-US" sz="3000" dirty="0"/>
          </a:p>
        </p:txBody>
      </p:sp>
      <p:pic>
        <p:nvPicPr>
          <p:cNvPr id="4" name="Image 0" descr="/Users/hatanakatomoya/Developer/Sim/llm-vqc/.claude/worktrees/github-author-config-faee6e/docs/presentation/mini5/figures/fig_main.png">    </p:cNvPr>
          <p:cNvPicPr>
            <a:picLocks noChangeAspect="1"/>
          </p:cNvPicPr>
          <p:nvPr/>
        </p:nvPicPr>
        <p:blipFill>
          <a:blip r:embed="rId1"/>
          <a:stretch>
            <a:fillRect/>
          </a:stretch>
        </p:blipFill>
        <p:spPr>
          <a:xfrm>
            <a:off x="320040" y="1371600"/>
            <a:ext cx="11521440" cy="3611880"/>
          </a:xfrm>
          <a:prstGeom prst="rect">
            <a:avLst/>
          </a:prstGeom>
        </p:spPr>
      </p:pic>
      <p:sp>
        <p:nvSpPr>
          <p:cNvPr id="5" name="Shape 2"/>
          <p:cNvSpPr/>
          <p:nvPr/>
        </p:nvSpPr>
        <p:spPr>
          <a:xfrm>
            <a:off x="548640" y="5230368"/>
            <a:ext cx="11109960" cy="914400"/>
          </a:xfrm>
          <a:prstGeom prst="roundRect">
            <a:avLst>
              <a:gd name="adj" fmla="val 8000"/>
            </a:avLst>
          </a:prstGeom>
          <a:solidFill>
            <a:srgbClr val="F4F6FA"/>
          </a:solidFill>
          <a:ln w="12700">
            <a:solidFill>
              <a:srgbClr val="D8DDE6"/>
            </a:solidFill>
            <a:prstDash val="solid"/>
          </a:ln>
        </p:spPr>
      </p:sp>
      <p:sp>
        <p:nvSpPr>
          <p:cNvPr id="6" name="Text 3"/>
          <p:cNvSpPr/>
          <p:nvPr/>
        </p:nvSpPr>
        <p:spPr>
          <a:xfrm>
            <a:off x="777240" y="5340096"/>
            <a:ext cx="10607040" cy="731520"/>
          </a:xfrm>
          <a:prstGeom prst="rect">
            <a:avLst/>
          </a:prstGeom>
          <a:noFill/>
          <a:ln/>
        </p:spPr>
        <p:txBody>
          <a:bodyPr wrap="square" lIns="0" tIns="0" rIns="0" bIns="0" rtlCol="0" anchor="ctr"/>
          <a:lstStyle/>
          <a:p>
            <a:pPr indent="0" marL="0">
              <a:buNone/>
            </a:pPr>
            <a:r>
              <a:rPr lang="en-US" sz="1600" b="1" dirty="0">
                <a:solidFill>
                  <a:srgbClr val="0B7A4B"/>
                </a:solidFill>
                <a:latin typeface="Arial" pitchFamily="34" charset="0"/>
                <a:ea typeface="Arial" pitchFamily="34" charset="-122"/>
                <a:cs typeface="Arial" pitchFamily="34" charset="-120"/>
              </a:rPr>
              <a:t>The LLM wins on T2 alone, and there it wins clearly </a:t>
            </a:r>
            <a:pPr indent="0" marL="0">
              <a:buNone/>
            </a:pPr>
            <a:r>
              <a:rPr lang="en-US" sz="1600" dirty="0">
                <a:solidFill>
                  <a:srgbClr val="1A1A2E"/>
                </a:solidFill>
                <a:latin typeface="Arial" pitchFamily="34" charset="0"/>
                <a:ea typeface="Arial" pitchFamily="34" charset="-122"/>
                <a:cs typeface="Arial" pitchFamily="34" charset="-120"/>
              </a:rPr>
              <a:t>(0.204 vs 0.295).   </a:t>
            </a:r>
            <a:pPr indent="0" marL="0">
              <a:buNone/>
            </a:pPr>
            <a:r>
              <a:rPr lang="en-US" sz="1600" b="1" dirty="0">
                <a:solidFill>
                  <a:srgbClr val="B3261E"/>
                </a:solidFill>
                <a:latin typeface="Arial" pitchFamily="34" charset="0"/>
                <a:ea typeface="Arial" pitchFamily="34" charset="-122"/>
                <a:cs typeface="Arial" pitchFamily="34" charset="-120"/>
              </a:rPr>
              <a:t>Closed-loop never beats open-loop on any task: eight rounds of feedback did not help this model at this budget.</a:t>
            </a:r>
            <a:endParaRPr lang="en-US" sz="160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10 seeds per arm, B = 8, exactly 5 gates · data/per_cell.csv</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METRIC CHECK</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 T4 the metric, not the method, picks the winner</a:t>
            </a:r>
            <a:endParaRPr lang="en-US" sz="3000" dirty="0"/>
          </a:p>
        </p:txBody>
      </p:sp>
      <p:pic>
        <p:nvPicPr>
          <p:cNvPr id="4" name="Image 0" descr="/Users/hatanakatomoya/Developer/Sim/llm-vqc/.claude/worktrees/github-author-config-faee6e/docs/presentation/mini5/figures/fig_t4_check.png">    </p:cNvPr>
          <p:cNvPicPr>
            <a:picLocks noChangeAspect="1"/>
          </p:cNvPicPr>
          <p:nvPr/>
        </p:nvPicPr>
        <p:blipFill>
          <a:blip r:embed="rId1"/>
          <a:stretch>
            <a:fillRect/>
          </a:stretch>
        </p:blipFill>
        <p:spPr>
          <a:xfrm>
            <a:off x="731520" y="1417320"/>
            <a:ext cx="6675120" cy="3017520"/>
          </a:xfrm>
          <a:prstGeom prst="rect">
            <a:avLst/>
          </a:prstGeom>
        </p:spPr>
      </p:pic>
      <p:sp>
        <p:nvSpPr>
          <p:cNvPr id="5" name="Text 2"/>
          <p:cNvSpPr/>
          <p:nvPr/>
        </p:nvSpPr>
        <p:spPr>
          <a:xfrm>
            <a:off x="7680960" y="1554480"/>
            <a:ext cx="4023360" cy="3017520"/>
          </a:xfrm>
          <a:prstGeom prst="rect">
            <a:avLst/>
          </a:prstGeom>
          <a:noFill/>
          <a:ln/>
        </p:spPr>
        <p:txBody>
          <a:bodyPr wrap="square" lIns="0" tIns="0" rIns="0" bIns="0" rtlCol="0" anchor="t"/>
          <a:lstStyle/>
          <a:p>
            <a:pPr marL="342900" indent="-342900">
              <a:lnSpc>
                <a:spcPct val="112000"/>
              </a:lnSpc>
              <a:spcAft>
                <a:spcPts val="1000"/>
              </a:spcAft>
              <a:buSzPct val="100000"/>
              <a:buChar char="•"/>
            </a:pPr>
            <a:r>
              <a:rPr lang="en-US" sz="1450" dirty="0">
                <a:solidFill>
                  <a:srgbClr val="1A1A2E"/>
                </a:solidFill>
                <a:latin typeface="Arial" pitchFamily="34" charset="0"/>
                <a:ea typeface="Arial" pitchFamily="34" charset="-122"/>
                <a:cs typeface="Arial" pitchFamily="34" charset="-120"/>
              </a:rPr>
              <a:t>By RMSE, Random leads. By AUROC, LLM open-loop leads. Same predictions, opposite ranking.</a:t>
            </a:r>
            <a:endParaRPr lang="en-US" sz="1450" dirty="0"/>
          </a:p>
          <a:p>
            <a:pPr marL="342900" indent="-342900">
              <a:lnSpc>
                <a:spcPct val="112000"/>
              </a:lnSpc>
              <a:spcAft>
                <a:spcPts val="1000"/>
              </a:spcAft>
              <a:buSzPct val="100000"/>
              <a:buChar char="•"/>
            </a:pPr>
            <a:r>
              <a:rPr lang="en-US" sz="1450" dirty="0">
                <a:solidFill>
                  <a:srgbClr val="1A1A2E"/>
                </a:solidFill>
                <a:latin typeface="Arial" pitchFamily="34" charset="0"/>
                <a:ea typeface="Arial" pitchFamily="34" charset="-122"/>
                <a:cs typeface="Arial" pitchFamily="34" charset="-120"/>
              </a:rPr>
              <a:t>RMSE punishes a circuit that ranks the two classes correctly but outputs 0.45 and 0.55 instead of 0 and 1. AUROC does not.</a:t>
            </a:r>
            <a:endParaRPr lang="en-US" sz="1450" dirty="0"/>
          </a:p>
          <a:p>
            <a:pPr marL="342900" indent="-342900">
              <a:lnSpc>
                <a:spcPct val="112000"/>
              </a:lnSpc>
              <a:spcAft>
                <a:spcPts val="1000"/>
              </a:spcAft>
              <a:buSzPct val="100000"/>
              <a:buChar char="•"/>
            </a:pPr>
            <a:r>
              <a:rPr lang="en-US" sz="1450" dirty="0">
                <a:solidFill>
                  <a:srgbClr val="1A1A2E"/>
                </a:solidFill>
                <a:latin typeface="Arial" pitchFamily="34" charset="0"/>
                <a:ea typeface="Arial" pitchFamily="34" charset="-122"/>
                <a:cs typeface="Arial" pitchFamily="34" charset="-120"/>
              </a:rPr>
              <a:t>With five gates and no optimizer the outputs sit near 0.5, so this failure mode is live here, not hypothetical.</a:t>
            </a:r>
            <a:endParaRPr lang="en-US" sz="1450" dirty="0"/>
          </a:p>
          <a:p>
            <a:pPr marL="342900" indent="-342900">
              <a:lnSpc>
                <a:spcPct val="112000"/>
              </a:lnSpc>
              <a:spcAft>
                <a:spcPts val="1000"/>
              </a:spcAft>
              <a:buSzPct val="100000"/>
              <a:buChar char="•"/>
            </a:pPr>
            <a:r>
              <a:rPr lang="en-US" sz="1450" dirty="0">
                <a:solidFill>
                  <a:srgbClr val="1A1A2E"/>
                </a:solidFill>
                <a:latin typeface="Arial" pitchFamily="34" charset="0"/>
                <a:ea typeface="Arial" pitchFamily="34" charset="-122"/>
                <a:cs typeface="Arial" pitchFamily="34" charset="-120"/>
              </a:rPr>
              <a:t>Both numbers are shown because either one alone asserts a different answer.</a:t>
            </a:r>
            <a:endParaRPr lang="en-US" sz="1450" dirty="0"/>
          </a:p>
        </p:txBody>
      </p:sp>
      <p:sp>
        <p:nvSpPr>
          <p:cNvPr id="6" name="Shape 3"/>
          <p:cNvSpPr/>
          <p:nvPr/>
        </p:nvSpPr>
        <p:spPr>
          <a:xfrm>
            <a:off x="548640" y="4754880"/>
            <a:ext cx="11109960" cy="1280160"/>
          </a:xfrm>
          <a:prstGeom prst="roundRect">
            <a:avLst>
              <a:gd name="adj" fmla="val 7143"/>
            </a:avLst>
          </a:prstGeom>
          <a:solidFill>
            <a:srgbClr val="FDF6E8"/>
          </a:solidFill>
          <a:ln w="15240">
            <a:solidFill>
              <a:srgbClr val="B8860B"/>
            </a:solidFill>
            <a:prstDash val="solid"/>
          </a:ln>
        </p:spPr>
      </p:sp>
      <p:sp>
        <p:nvSpPr>
          <p:cNvPr id="7" name="Text 4"/>
          <p:cNvSpPr/>
          <p:nvPr/>
        </p:nvSpPr>
        <p:spPr>
          <a:xfrm>
            <a:off x="777240" y="4864608"/>
            <a:ext cx="10607040" cy="1097280"/>
          </a:xfrm>
          <a:prstGeom prst="rect">
            <a:avLst/>
          </a:prstGeom>
          <a:noFill/>
          <a:ln/>
        </p:spPr>
        <p:txBody>
          <a:bodyPr wrap="square" lIns="0" tIns="0" rIns="0" bIns="0" rtlCol="0" anchor="ctr"/>
          <a:lstStyle/>
          <a:p>
            <a:pPr indent="0" marL="0">
              <a:buNone/>
            </a:pPr>
            <a:r>
              <a:rPr lang="en-US" sz="1650" b="1" dirty="0">
                <a:solidFill>
                  <a:srgbClr val="1A1A2E"/>
                </a:solidFill>
                <a:latin typeface="Arial" pitchFamily="34" charset="0"/>
                <a:ea typeface="Arial" pitchFamily="34" charset="-122"/>
                <a:cs typeface="Arial" pitchFamily="34" charset="-120"/>
              </a:rPr>
              <a:t>Neither reading is strong.  </a:t>
            </a:r>
            <a:pPr indent="0" marL="0">
              <a:buNone/>
            </a:pPr>
            <a:r>
              <a:rPr lang="en-US" sz="1650" dirty="0">
                <a:solidFill>
                  <a:srgbClr val="1A1A2E"/>
                </a:solidFill>
                <a:latin typeface="Arial" pitchFamily="34" charset="0"/>
                <a:ea typeface="Arial" pitchFamily="34" charset="-122"/>
                <a:cs typeface="Arial" pitchFamily="34" charset="-120"/>
              </a:rPr>
              <a:t>AUROC spans roughly 0.59 to 0.62 against 0.5 for chance. The honest summary of T4 is that five gates without training barely solve it at all, and that no arm separates convincingly.</a:t>
            </a:r>
            <a:endParaRPr lang="en-US" sz="1650" dirty="0"/>
          </a:p>
        </p:txBody>
      </p:sp>
      <p:sp>
        <p:nvSpPr>
          <p:cNvPr id="8" name="Text 5"/>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AUROC computed from the identical predictions used for the RMSE, on the same single test evaluation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ATTRIBUTION</a:t>
            </a:r>
            <a:endParaRPr lang="en-US" sz="1300" dirty="0"/>
          </a:p>
        </p:txBody>
      </p:sp>
      <p:sp>
        <p:nvSpPr>
          <p:cNvPr id="3" name="Text 1"/>
          <p:cNvSpPr/>
          <p:nvPr/>
        </p:nvSpPr>
        <p:spPr>
          <a:xfrm>
            <a:off x="502920" y="548640"/>
            <a:ext cx="11185855" cy="822960"/>
          </a:xfrm>
          <a:prstGeom prst="rect">
            <a:avLst/>
          </a:prstGeom>
          <a:noFill/>
          <a:ln/>
        </p:spPr>
        <p:txBody>
          <a:bodyPr wrap="square" lIns="0" tIns="0" rIns="0" bIns="0" rtlCol="0" anchor="ctr"/>
          <a:lstStyle/>
          <a:p>
            <a:pPr indent="0" marL="0">
              <a:buNone/>
            </a:pPr>
            <a:r>
              <a:rPr lang="en-US" sz="2400" b="1" dirty="0">
                <a:solidFill>
                  <a:srgbClr val="1E3A5F"/>
                </a:solidFill>
                <a:latin typeface="Arial" pitchFamily="34" charset="0"/>
                <a:ea typeface="Arial" pitchFamily="34" charset="-122"/>
                <a:cs typeface="Arial" pitchFamily="34" charset="-120"/>
              </a:rPr>
              <a:t>Last week's advantage was a size decision, not a design one</a:t>
            </a:r>
            <a:endParaRPr lang="en-US" sz="2400" dirty="0"/>
          </a:p>
        </p:txBody>
      </p:sp>
      <p:pic>
        <p:nvPicPr>
          <p:cNvPr id="4" name="Image 0" descr="/Users/hatanakatomoya/Developer/Sim/llm-vqc/.claude/worktrees/github-author-config-faee6e/docs/presentation/mini5/figures/fig_size_confound.png">    </p:cNvPr>
          <p:cNvPicPr>
            <a:picLocks noChangeAspect="1"/>
          </p:cNvPicPr>
          <p:nvPr/>
        </p:nvPicPr>
        <p:blipFill>
          <a:blip r:embed="rId1"/>
          <a:stretch>
            <a:fillRect/>
          </a:stretch>
        </p:blipFill>
        <p:spPr>
          <a:xfrm>
            <a:off x="274320" y="1371600"/>
            <a:ext cx="11658600" cy="3474720"/>
          </a:xfrm>
          <a:prstGeom prst="rect">
            <a:avLst/>
          </a:prstGeom>
        </p:spPr>
      </p:pic>
      <p:sp>
        <p:nvSpPr>
          <p:cNvPr id="5" name="Shape 2"/>
          <p:cNvSpPr/>
          <p:nvPr/>
        </p:nvSpPr>
        <p:spPr>
          <a:xfrm>
            <a:off x="548640" y="5074920"/>
            <a:ext cx="11109960" cy="1097280"/>
          </a:xfrm>
          <a:prstGeom prst="roundRect">
            <a:avLst>
              <a:gd name="adj" fmla="val 6667"/>
            </a:avLst>
          </a:prstGeom>
          <a:solidFill>
            <a:srgbClr val="F4F6FA"/>
          </a:solidFill>
          <a:ln w="12700">
            <a:solidFill>
              <a:srgbClr val="D8DDE6"/>
            </a:solidFill>
            <a:prstDash val="solid"/>
          </a:ln>
        </p:spPr>
      </p:sp>
      <p:sp>
        <p:nvSpPr>
          <p:cNvPr id="6" name="Text 3"/>
          <p:cNvSpPr/>
          <p:nvPr/>
        </p:nvSpPr>
        <p:spPr>
          <a:xfrm>
            <a:off x="777240" y="5166360"/>
            <a:ext cx="10607040" cy="914400"/>
          </a:xfrm>
          <a:prstGeom prst="rect">
            <a:avLst/>
          </a:prstGeom>
          <a:noFill/>
          <a:ln/>
        </p:spPr>
        <p:txBody>
          <a:bodyPr wrap="square" lIns="0" tIns="0" rIns="0" bIns="0" rtlCol="0" anchor="ctr"/>
          <a:lstStyle/>
          <a:p>
            <a:pPr indent="0" marL="0">
              <a:buNone/>
            </a:pPr>
            <a:r>
              <a:rPr lang="en-US" sz="1550" b="1" dirty="0">
                <a:solidFill>
                  <a:srgbClr val="1A1A2E"/>
                </a:solidFill>
                <a:latin typeface="Arial" pitchFamily="34" charset="0"/>
                <a:ea typeface="Arial" pitchFamily="34" charset="-122"/>
                <a:cs typeface="Arial" pitchFamily="34" charset="-120"/>
              </a:rPr>
              <a:t>Right panel: </a:t>
            </a:r>
            <a:pPr indent="0" marL="0">
              <a:buNone/>
            </a:pPr>
            <a:r>
              <a:rPr lang="en-US" sz="1550" dirty="0">
                <a:solidFill>
                  <a:srgbClr val="1A1A2E"/>
                </a:solidFill>
                <a:latin typeface="Arial" pitchFamily="34" charset="0"/>
                <a:ea typeface="Arial" pitchFamily="34" charset="-122"/>
                <a:cs typeface="Arial" pitchFamily="34" charset="-120"/>
              </a:rPr>
              <a:t>when length is free the LLM picks the maximum in about 7 of 10 cells while the classical arms spread over 1 to 5.   </a:t>
            </a:r>
            <a:pPr indent="0" marL="0">
              <a:buNone/>
            </a:pPr>
            <a:r>
              <a:rPr lang="en-US" sz="1550" b="1" dirty="0">
                <a:solidFill>
                  <a:srgbClr val="1A1A2E"/>
                </a:solidFill>
                <a:latin typeface="Arial" pitchFamily="34" charset="0"/>
                <a:ea typeface="Arial" pitchFamily="34" charset="-122"/>
                <a:cs typeface="Arial" pitchFamily="34" charset="-120"/>
              </a:rPr>
              <a:t>Left three: </a:t>
            </a:r>
            <a:pPr indent="0" marL="0">
              <a:buNone/>
            </a:pPr>
            <a:r>
              <a:rPr lang="en-US" sz="1550" dirty="0">
                <a:solidFill>
                  <a:srgbClr val="1A1A2E"/>
                </a:solidFill>
                <a:latin typeface="Arial" pitchFamily="34" charset="0"/>
                <a:ea typeface="Arial" pitchFamily="34" charset="-122"/>
                <a:cs typeface="Arial" pitchFamily="34" charset="-120"/>
              </a:rPr>
              <a:t>only Random degrades as length is freed and the budget shrinks (T1 median 0.139 → 0.167), while the LLM barely moves (0.170 → 0.170). At the pilot's setting they meet.</a:t>
            </a:r>
            <a:endParaRPr lang="en-US" sz="155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Three conditions, same code, same model, same tasks, 10 seeds each · data/condition_comparison.json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SEARCH DYNAMICS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More feedback did not translate into better circuits</a:t>
            </a:r>
            <a:endParaRPr lang="en-US" sz="3000" dirty="0"/>
          </a:p>
        </p:txBody>
      </p:sp>
      <p:pic>
        <p:nvPicPr>
          <p:cNvPr id="4" name="Image 0" descr="/Users/hatanakatomoya/Developer/Sim/llm-vqc/.claude/worktrees/github-author-config-faee6e/docs/presentation/mini5/figures/fig_anytime.png">    </p:cNvPr>
          <p:cNvPicPr>
            <a:picLocks noChangeAspect="1"/>
          </p:cNvPicPr>
          <p:nvPr/>
        </p:nvPicPr>
        <p:blipFill>
          <a:blip r:embed="rId1"/>
          <a:stretch>
            <a:fillRect/>
          </a:stretch>
        </p:blipFill>
        <p:spPr>
          <a:xfrm>
            <a:off x="320040" y="1371600"/>
            <a:ext cx="11521440" cy="3200400"/>
          </a:xfrm>
          <a:prstGeom prst="rect">
            <a:avLst/>
          </a:prstGeom>
        </p:spPr>
      </p:pic>
      <p:sp>
        <p:nvSpPr>
          <p:cNvPr id="5" name="Text 2"/>
          <p:cNvSpPr/>
          <p:nvPr/>
        </p:nvSpPr>
        <p:spPr>
          <a:xfrm>
            <a:off x="640080" y="4709160"/>
            <a:ext cx="10972800" cy="137160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550" dirty="0">
                <a:solidFill>
                  <a:srgbClr val="1A1A2E"/>
                </a:solidFill>
                <a:latin typeface="Arial" pitchFamily="34" charset="0"/>
                <a:ea typeface="Arial" pitchFamily="34" charset="-122"/>
                <a:cs typeface="Arial" pitchFamily="34" charset="-120"/>
              </a:rPr>
              <a:t>Closed-loop received eight rounds of validation-only feedback on its own candidates and still did not beat open-loop on any task.</a:t>
            </a:r>
            <a:endParaRPr lang="en-US" sz="1550" dirty="0"/>
          </a:p>
          <a:p>
            <a:pPr marL="342900" indent="-342900">
              <a:lnSpc>
                <a:spcPct val="112000"/>
              </a:lnSpc>
              <a:spcAft>
                <a:spcPts val="900"/>
              </a:spcAft>
              <a:buSzPct val="100000"/>
              <a:buChar char="•"/>
            </a:pPr>
            <a:r>
              <a:rPr lang="en-US" sz="1550" dirty="0">
                <a:solidFill>
                  <a:srgbClr val="1A1A2E"/>
                </a:solidFill>
                <a:latin typeface="Arial" pitchFamily="34" charset="0"/>
                <a:ea typeface="Arial" pitchFamily="34" charset="-122"/>
                <a:cs typeface="Arial" pitchFamily="34" charset="-120"/>
              </a:rPr>
              <a:t>A first attempt measured a 74% duplicate rate for closed-loop, with 11 of 40 cells starved of budget. The prompt now lists every circuit already tried; duplicates fell to 16% and every cell reached its full budget. The numbers here are from the corrected run.</a:t>
            </a:r>
            <a:endParaRPr lang="en-US" sz="1550" dirty="0"/>
          </a:p>
        </p:txBody>
      </p:sp>
      <p:sp>
        <p:nvSpPr>
          <p:cNvPr id="6" name="Text 3"/>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Curves are the median best-so-far validation RMSE over 10 seeds; the x-axis is unique candidates, not API calls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I can and cannot claim</a:t>
            </a:r>
            <a:endParaRPr lang="en-US" sz="3000" dirty="0"/>
          </a:p>
        </p:txBody>
      </p:sp>
      <p:sp>
        <p:nvSpPr>
          <p:cNvPr id="3" name="Shape 1"/>
          <p:cNvSpPr/>
          <p:nvPr/>
        </p:nvSpPr>
        <p:spPr>
          <a:xfrm>
            <a:off x="64008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4" name="Text 2"/>
          <p:cNvSpPr/>
          <p:nvPr/>
        </p:nvSpPr>
        <p:spPr>
          <a:xfrm>
            <a:off x="868680" y="1298448"/>
            <a:ext cx="4937760" cy="365760"/>
          </a:xfrm>
          <a:prstGeom prst="rect">
            <a:avLst/>
          </a:prstGeom>
          <a:noFill/>
          <a:ln/>
        </p:spPr>
        <p:txBody>
          <a:bodyPr wrap="square" lIns="0" tIns="0" rIns="0" bIns="0" rtlCol="0" anchor="ctr"/>
          <a:lstStyle/>
          <a:p>
            <a:pPr indent="0" marL="0">
              <a:buNone/>
            </a:pPr>
            <a:r>
              <a:rPr lang="en-US" sz="1900" b="1" dirty="0">
                <a:solidFill>
                  <a:srgbClr val="9FE3C0"/>
                </a:solidFill>
                <a:latin typeface="Arial" pitchFamily="34" charset="0"/>
                <a:ea typeface="Arial" pitchFamily="34" charset="-122"/>
                <a:cs typeface="Arial" pitchFamily="34" charset="-120"/>
              </a:rPr>
              <a:t>Supported by this run</a:t>
            </a:r>
            <a:endParaRPr lang="en-US" sz="1900" dirty="0"/>
          </a:p>
        </p:txBody>
      </p:sp>
      <p:sp>
        <p:nvSpPr>
          <p:cNvPr id="5" name="Text 3"/>
          <p:cNvSpPr/>
          <p:nvPr/>
        </p:nvSpPr>
        <p:spPr>
          <a:xfrm>
            <a:off x="93268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With circuit length fixed, gpt-5-nano does not beat random search on 3 of 4 tasks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It does beat every classical arm on T2, clearly and across all 10 seeds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When length is free it picks the maximum ~70% of the time; uniform sampling does not</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That single decision explains most of last week's reported advantage</a:t>
            </a:r>
            <a:endParaRPr lang="en-US" sz="1450" dirty="0"/>
          </a:p>
        </p:txBody>
      </p:sp>
      <p:sp>
        <p:nvSpPr>
          <p:cNvPr id="6" name="Shape 4"/>
          <p:cNvSpPr/>
          <p:nvPr/>
        </p:nvSpPr>
        <p:spPr>
          <a:xfrm>
            <a:off x="626364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7" name="Text 5"/>
          <p:cNvSpPr/>
          <p:nvPr/>
        </p:nvSpPr>
        <p:spPr>
          <a:xfrm>
            <a:off x="6492240" y="1298448"/>
            <a:ext cx="4937760" cy="365760"/>
          </a:xfrm>
          <a:prstGeom prst="rect">
            <a:avLst/>
          </a:prstGeom>
          <a:noFill/>
          <a:ln/>
        </p:spPr>
        <p:txBody>
          <a:bodyPr wrap="square" lIns="0" tIns="0" rIns="0" bIns="0" rtlCol="0" anchor="ctr"/>
          <a:lstStyle/>
          <a:p>
            <a:pPr indent="0" marL="0">
              <a:buNone/>
            </a:pPr>
            <a:r>
              <a:rPr lang="en-US" sz="1900" b="1" dirty="0">
                <a:solidFill>
                  <a:srgbClr val="FFC4B8"/>
                </a:solidFill>
                <a:latin typeface="Arial" pitchFamily="34" charset="0"/>
                <a:ea typeface="Arial" pitchFamily="34" charset="-122"/>
                <a:cs typeface="Arial" pitchFamily="34" charset="-120"/>
              </a:rPr>
              <a:t>NOT supported</a:t>
            </a:r>
            <a:endParaRPr lang="en-US" sz="1900" dirty="0"/>
          </a:p>
        </p:txBody>
      </p:sp>
      <p:sp>
        <p:nvSpPr>
          <p:cNvPr id="8" name="Text 6"/>
          <p:cNvSpPr/>
          <p:nvPr/>
        </p:nvSpPr>
        <p:spPr>
          <a:xfrm>
            <a:off x="655624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"LLMs cannot design quantum circuits" - one small model, one budget, four tiny tasks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"Closed-loop feedback does not work" - it failed here at 8 rounds on 5-gate circuits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Any claim about hardware: this is noiseless statevector simulation throughout</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Any cross-task comparison of RMSE values</a:t>
            </a:r>
            <a:endParaRPr lang="en-US" sz="1450" dirty="0"/>
          </a:p>
        </p:txBody>
      </p:sp>
      <p:sp>
        <p:nvSpPr>
          <p:cNvPr id="9" name="Shape 7"/>
          <p:cNvSpPr/>
          <p:nvPr/>
        </p:nvSpPr>
        <p:spPr>
          <a:xfrm>
            <a:off x="640080" y="4983480"/>
            <a:ext cx="10972800" cy="1051560"/>
          </a:xfrm>
          <a:prstGeom prst="roundRect">
            <a:avLst>
              <a:gd name="adj" fmla="val 8696"/>
            </a:avLst>
          </a:prstGeom>
          <a:solidFill>
            <a:srgbClr val="FFFFFF"/>
          </a:solidFill>
          <a:ln w="20320">
            <a:solidFill>
              <a:srgbClr val="B3261E"/>
            </a:solidFill>
            <a:prstDash val="solid"/>
          </a:ln>
        </p:spPr>
      </p:sp>
      <p:sp>
        <p:nvSpPr>
          <p:cNvPr id="10" name="Text 8"/>
          <p:cNvSpPr/>
          <p:nvPr/>
        </p:nvSpPr>
        <p:spPr>
          <a:xfrm>
            <a:off x="868680" y="5093208"/>
            <a:ext cx="10515600" cy="868680"/>
          </a:xfrm>
          <a:prstGeom prst="rect">
            <a:avLst/>
          </a:prstGeom>
          <a:noFill/>
          <a:ln/>
        </p:spPr>
        <p:txBody>
          <a:bodyPr wrap="square" lIns="0" tIns="0" rIns="0" bIns="0" rtlCol="0" anchor="ctr"/>
          <a:lstStyle/>
          <a:p>
            <a:pPr indent="0" marL="0">
              <a:buNone/>
            </a:pPr>
            <a:r>
              <a:rPr lang="en-US" sz="1700" b="1" dirty="0">
                <a:solidFill>
                  <a:srgbClr val="B3261E"/>
                </a:solidFill>
                <a:latin typeface="Arial" pitchFamily="34" charset="0"/>
                <a:ea typeface="Arial" pitchFamily="34" charset="-122"/>
                <a:cs typeface="Arial" pitchFamily="34" charset="-120"/>
              </a:rPr>
              <a:t>Next: </a:t>
            </a:r>
            <a:pPr indent="0" marL="0">
              <a:buNone/>
            </a:pPr>
            <a:r>
              <a:rPr lang="en-US" sz="1700" dirty="0">
                <a:solidFill>
                  <a:srgbClr val="1A1A2E"/>
                </a:solidFill>
                <a:latin typeface="Arial" pitchFamily="34" charset="0"/>
                <a:ea typeface="Arial" pitchFamily="34" charset="-122"/>
                <a:cs typeface="Arial" pitchFamily="34" charset="-120"/>
              </a:rPr>
              <a:t>give the LLM a decision that is actually hard. Fixed length removed the easy win; the open question is whether a larger budget, a stronger model, or a task where structure matters more can produce an advantage that survives this kind of attribution check.</a:t>
            </a:r>
            <a:endParaRPr lang="en-US" sz="1700" dirty="0"/>
          </a:p>
        </p:txBody>
      </p:sp>
      <p:sp>
        <p:nvSpPr>
          <p:cNvPr id="11" name="Text 9"/>
          <p:cNvSpPr/>
          <p:nvPr/>
        </p:nvSpPr>
        <p:spPr>
          <a:xfrm>
            <a:off x="640080" y="6263640"/>
            <a:ext cx="109728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600 cells across 3 conditions · 2.9 min for the main run · gpt-5-nano-2025-08-07 · $0.23 total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2026-07-30T21:55:44Z</dcterms:created>
  <dcterms:modified xsi:type="dcterms:W3CDTF">2026-07-30T21:55:44Z</dcterms:modified>
</cp:coreProperties>
</file>