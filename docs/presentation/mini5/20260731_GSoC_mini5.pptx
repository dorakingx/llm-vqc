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deliberately narrow. Last week I reported that LLM-proposed circuits beat random search. This week I removed one degree of freedom from the search space and the advantage largely went away, which changes what that earlier result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allowed one to five gates. That hands the proposer a free decision that correlates with performance. This week the length is pinned so the decision cannot be made, and two controls put it back so we can measure what it was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on this slide on purpose. Three or five qubits, seven gate types, exactly five gates, one angle per gate, no optimizer, no classical parameters. A reader can verify any proposed circuit against these seven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RMSE is the typical size of the error, lower is better. The split matters: validation drives the search, and the test set is touched once after the winner is chosen, so the reported number never influenced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is distinct scored circuits because that is what every method spends and what dominates cost. Duplicates and invalid proposals are the proposer's own problem; they do not earn extra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medians, not the individual dots. Random is best on T1, T3 and T4. The LLM arms win on T2 and only there. I am reporting this as measured; it is a negative result for the LLM hypothesis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kept AUROC even though the request was to use plain RMSE everywhere. On T4 the two metrics disagree about who wins, so reporting only one would have asserted something the data does not 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defend hardest. The pilot rewarded a single decision - ask for the maximum number of gates - and the LLM makes that decision almost every time while a uniform sampler does not. Pin the length and the advantage goes; restore the length and shrink the budget to the pilot's and the two meet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the first version of this experiment handicapped closed-loop through a prompt defect. I fixed it and re-ran rather than reporting the handicapped numbers. Even after the fix, feedback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is that I removed a confound and a positive result mostly went away. That is a useful outcome: it tells us the earlier benchmark was rewarding the wrong thing, and it tells us what a fair test has to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371600"/>
            <a:ext cx="10515600" cy="155448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Does an LLM design better quantum circuits,</a:t>
            </a:r>
            <a:endParaRPr lang="en-US" sz="4000" dirty="0"/>
          </a:p>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or just bigger ones?</a:t>
            </a:r>
            <a:endParaRPr lang="en-US" sz="4000" dirty="0"/>
          </a:p>
        </p:txBody>
      </p:sp>
      <p:sp>
        <p:nvSpPr>
          <p:cNvPr id="3" name="Text 1"/>
          <p:cNvSpPr/>
          <p:nvPr/>
        </p:nvSpPr>
        <p:spPr>
          <a:xfrm>
            <a:off x="822960" y="3063240"/>
            <a:ext cx="10515600" cy="548640"/>
          </a:xfrm>
          <a:prstGeom prst="rect">
            <a:avLst/>
          </a:prstGeom>
          <a:noFill/>
          <a:ln/>
        </p:spPr>
        <p:txBody>
          <a:bodyPr wrap="square" lIns="0" tIns="0" rIns="0" bIns="0" rtlCol="0" anchor="ctr"/>
          <a:lstStyle/>
          <a:p>
            <a:pPr indent="0" marL="0">
              <a:buNone/>
            </a:pPr>
            <a:r>
              <a:rPr lang="en-US" sz="2000" dirty="0">
                <a:solidFill>
                  <a:srgbClr val="CADCFC"/>
                </a:solidFill>
                <a:latin typeface="Arial" pitchFamily="34" charset="0"/>
                <a:ea typeface="Arial" pitchFamily="34" charset="-122"/>
                <a:cs typeface="Arial" pitchFamily="34" charset="-120"/>
              </a:rPr>
              <a:t>A five-gate, fixed-length comparison of LLM-guided and classical circuit search</a:t>
            </a:r>
            <a:endParaRPr lang="en-US" sz="2000" dirty="0"/>
          </a:p>
        </p:txBody>
      </p:sp>
      <p:sp>
        <p:nvSpPr>
          <p:cNvPr id="4" name="Shape 2"/>
          <p:cNvSpPr/>
          <p:nvPr/>
        </p:nvSpPr>
        <p:spPr>
          <a:xfrm>
            <a:off x="822960" y="3886200"/>
            <a:ext cx="10515600" cy="914400"/>
          </a:xfrm>
          <a:prstGeom prst="roundRect">
            <a:avLst>
              <a:gd name="adj" fmla="val 10000"/>
            </a:avLst>
          </a:prstGeom>
          <a:solidFill>
            <a:srgbClr val="FFFFFF">
              <a:alpha val="12000"/>
            </a:srgbClr>
          </a:solidFill>
          <a:ln w="12700">
            <a:solidFill>
              <a:srgbClr val="8FA6C4"/>
            </a:solidFill>
            <a:prstDash val="solid"/>
          </a:ln>
        </p:spPr>
      </p:sp>
      <p:sp>
        <p:nvSpPr>
          <p:cNvPr id="5" name="Text 3"/>
          <p:cNvSpPr/>
          <p:nvPr/>
        </p:nvSpPr>
        <p:spPr>
          <a:xfrm>
            <a:off x="1051560" y="3977640"/>
            <a:ext cx="10058400" cy="731520"/>
          </a:xfrm>
          <a:prstGeom prst="rect">
            <a:avLst/>
          </a:prstGeom>
          <a:noFill/>
          <a:ln/>
        </p:spPr>
        <p:txBody>
          <a:bodyPr wrap="square" lIns="0" tIns="0" rIns="0" bIns="0" rtlCol="0" anchor="ctr"/>
          <a:lstStyle/>
          <a:p>
            <a:pPr indent="0" marL="0">
              <a:buNone/>
            </a:pPr>
            <a:r>
              <a:rPr lang="en-US" sz="1800" b="1" dirty="0">
                <a:solidFill>
                  <a:srgbClr val="FFD9A0"/>
                </a:solidFill>
                <a:latin typeface="Arial" pitchFamily="34" charset="0"/>
                <a:ea typeface="Arial" pitchFamily="34" charset="-122"/>
                <a:cs typeface="Arial" pitchFamily="34" charset="-120"/>
              </a:rPr>
              <a:t>Headline: </a:t>
            </a:r>
            <a:pPr indent="0" marL="0">
              <a:buNone/>
            </a:pPr>
            <a:r>
              <a:rPr lang="en-US" sz="1800" dirty="0">
                <a:solidFill>
                  <a:srgbClr val="FFFFFF"/>
                </a:solidFill>
                <a:latin typeface="Arial" pitchFamily="34" charset="0"/>
                <a:ea typeface="Arial" pitchFamily="34" charset="-122"/>
                <a:cs typeface="Arial" pitchFamily="34" charset="-120"/>
              </a:rPr>
              <a:t>last week's LLM advantage was mostly a circuit-size decision. Remove that one degree of freedom and it disappears on three of four tasks.</a:t>
            </a:r>
            <a:endParaRPr lang="en-US" sz="1800" dirty="0"/>
          </a:p>
        </p:txBody>
      </p:sp>
      <p:sp>
        <p:nvSpPr>
          <p:cNvPr id="6" name="Text 4"/>
          <p:cNvSpPr/>
          <p:nvPr/>
        </p:nvSpPr>
        <p:spPr>
          <a:xfrm>
            <a:off x="822960" y="539496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Tomoya Hatanaka</a:t>
            </a:r>
            <a:endParaRPr lang="en-US" sz="1800" dirty="0"/>
          </a:p>
        </p:txBody>
      </p:sp>
      <p:sp>
        <p:nvSpPr>
          <p:cNvPr id="7" name="Text 5"/>
          <p:cNvSpPr/>
          <p:nvPr/>
        </p:nvSpPr>
        <p:spPr>
          <a:xfrm>
            <a:off x="822960" y="5715000"/>
            <a:ext cx="7315200" cy="320040"/>
          </a:xfrm>
          <a:prstGeom prst="rect">
            <a:avLst/>
          </a:prstGeom>
          <a:noFill/>
          <a:ln/>
        </p:spPr>
        <p:txBody>
          <a:bodyPr wrap="square" lIns="0" tIns="0" rIns="0" bIns="0" rtlCol="0" anchor="ctr"/>
          <a:lstStyle/>
          <a:p>
            <a:pPr indent="0" marL="0">
              <a:buNone/>
            </a:pPr>
            <a:r>
              <a:rPr lang="en-US" sz="1600" dirty="0">
                <a:solidFill>
                  <a:srgbClr val="CADCFC"/>
                </a:solidFill>
                <a:latin typeface="Arial" pitchFamily="34" charset="0"/>
                <a:ea typeface="Arial" pitchFamily="34" charset="-122"/>
                <a:cs typeface="Arial" pitchFamily="34" charset="-120"/>
              </a:rPr>
              <a:t>ML4SCI / Google Summer of Code 2026</a:t>
            </a:r>
            <a:endParaRPr lang="en-US" sz="1600" dirty="0"/>
          </a:p>
        </p:txBody>
      </p:sp>
      <p:sp>
        <p:nvSpPr>
          <p:cNvPr id="8" name="Text 6"/>
          <p:cNvSpPr/>
          <p:nvPr/>
        </p:nvSpPr>
        <p:spPr>
          <a:xfrm>
            <a:off x="822960" y="6035040"/>
            <a:ext cx="91440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July 31, 2026  ·  commit cb5c29e  ·  experiment/bench-v2-real-llm-cost-minimal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CHANGED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Last week the LLM could choose how big the circuit was</a:t>
            </a:r>
            <a:endParaRPr lang="en-US" sz="3000" dirty="0"/>
          </a:p>
        </p:txBody>
      </p:sp>
      <p:pic>
        <p:nvPicPr>
          <p:cNvPr id="4" name="Image 0" descr="/Users/hatanakatomoya/Developer/Sim/llm-vqc/.claude/worktrees/github-author-config-faee6e/docs/presentation/mini5/figures/fig_conditions.png">    </p:cNvPr>
          <p:cNvPicPr>
            <a:picLocks noChangeAspect="1"/>
          </p:cNvPicPr>
          <p:nvPr/>
        </p:nvPicPr>
        <p:blipFill>
          <a:blip r:embed="rId1"/>
          <a:stretch>
            <a:fillRect/>
          </a:stretch>
        </p:blipFill>
        <p:spPr>
          <a:xfrm>
            <a:off x="411480" y="1508760"/>
            <a:ext cx="11384280" cy="3246120"/>
          </a:xfrm>
          <a:prstGeom prst="rect">
            <a:avLst/>
          </a:prstGeom>
        </p:spPr>
      </p:pic>
      <p:sp>
        <p:nvSpPr>
          <p:cNvPr id="5" name="Shape 2"/>
          <p:cNvSpPr/>
          <p:nvPr/>
        </p:nvSpPr>
        <p:spPr>
          <a:xfrm>
            <a:off x="548640" y="4983480"/>
            <a:ext cx="11109960" cy="1051560"/>
          </a:xfrm>
          <a:prstGeom prst="roundRect">
            <a:avLst>
              <a:gd name="adj" fmla="val 8696"/>
            </a:avLst>
          </a:prstGeom>
          <a:solidFill>
            <a:srgbClr val="FDF6E8"/>
          </a:solidFill>
          <a:ln w="15240">
            <a:solidFill>
              <a:srgbClr val="B8860B"/>
            </a:solidFill>
            <a:prstDash val="solid"/>
          </a:ln>
        </p:spPr>
      </p:sp>
      <p:sp>
        <p:nvSpPr>
          <p:cNvPr id="6" name="Text 3"/>
          <p:cNvSpPr/>
          <p:nvPr/>
        </p:nvSpPr>
        <p:spPr>
          <a:xfrm>
            <a:off x="822960" y="5102352"/>
            <a:ext cx="10607040" cy="822960"/>
          </a:xfrm>
          <a:prstGeom prst="rect">
            <a:avLst/>
          </a:prstGeom>
          <a:noFill/>
          <a:ln/>
        </p:spPr>
        <p:txBody>
          <a:bodyPr wrap="square" lIns="0" tIns="0" rIns="0" bIns="0" rtlCol="0" anchor="ctr"/>
          <a:lstStyle/>
          <a:p>
            <a:pPr indent="0" marL="0">
              <a:buNone/>
            </a:pPr>
            <a:r>
              <a:rPr lang="en-US" sz="1800" b="1" dirty="0">
                <a:solidFill>
                  <a:srgbClr val="1A1A2E"/>
                </a:solidFill>
                <a:latin typeface="Arial" pitchFamily="34" charset="0"/>
                <a:ea typeface="Arial" pitchFamily="34" charset="-122"/>
                <a:cs typeface="Arial" pitchFamily="34" charset="-120"/>
              </a:rPr>
              <a:t>Longer circuits usually score better. </a:t>
            </a:r>
            <a:pPr indent="0" marL="0">
              <a:buNone/>
            </a:pPr>
            <a:r>
              <a:rPr lang="en-US" sz="1800" dirty="0">
                <a:solidFill>
                  <a:srgbClr val="1A1A2E"/>
                </a:solidFill>
                <a:latin typeface="Arial" pitchFamily="34" charset="0"/>
                <a:ea typeface="Arial" pitchFamily="34" charset="-122"/>
                <a:cs typeface="Arial" pitchFamily="34" charset="-120"/>
              </a:rPr>
              <a:t>So a proposer that always asks for the maximum length wins without designing anything. Fixing the length takes that move away.</a:t>
            </a:r>
            <a:endParaRPr lang="en-US" sz="18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seed = one paired data + search random seed; a condition is re-run once per seed. Pilot values verified in its EXPERIMENT_CONFIG.json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SEARCH SPACE</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Every rule, stated so you can check any circuit by eye</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Applies to all three conditions</a:t>
            </a:r>
            <a:pPr algn="r" indent="0" marL="0">
              <a:buNone/>
            </a:pPr>
            <a:r>
              <a:rPr lang="en-US" sz="1150" dirty="0">
                <a:solidFill>
                  <a:srgbClr val="55606E"/>
                </a:solidFill>
                <a:latin typeface="Arial" pitchFamily="34" charset="0"/>
                <a:ea typeface="Arial" pitchFamily="34" charset="-122"/>
                <a:cs typeface="Arial" pitchFamily="34" charset="-120"/>
              </a:rPr>
              <a:t>   only gate count and B differ between them</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09960" cy="914400"/>
        </p:xfrm>
        <a:graphic>
          <a:graphicData uri="http://schemas.openxmlformats.org/drawingml/2006/table">
            <a:tbl>
              <a:tblPr/>
              <a:tblGrid>
                <a:gridCol w="2377440"/>
                <a:gridCol w="8732520"/>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Constraint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Tasks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T1 peak position · T2 sinusoid frequency · T3 change-point location · T4 one peak vs two (binary)</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Qubits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3 for T1, T2   ·   5 for T3, T4   (a circuit on n qubits holds 2^n numbers)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Gate count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5 exactly (PRIMARY)   ·   1 to 5 (both controls)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Gate set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H, RX, RY, RZ (one qubit)   ·   CRX, CRY, CRZ (two qubits)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Angles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one number per gate, anywhere in [-pi, pi]   (H has none)</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Budget B</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8 distinct circuits scored per method (4 in Control B)   ·   10 seeds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Training</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none - proposed angles are used exactly as written</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Encoding / readout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amplitude encoding; measure Z on qubit 0</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Classical params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zero - nothing outside the circuit can fix a bad circuit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One operation = one physical gate; a 5-gate circuit compiles to 5 gates. The same grammar check is applied to classical samplers and LLM replies alike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IS MEASURED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number: RMSE, the typical size of the error</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Applies to all three conditions</a:t>
            </a:r>
            <a:pPr algn="r" indent="0" marL="0">
              <a:buNone/>
            </a:pPr>
            <a:r>
              <a:rPr lang="en-US" sz="1150" dirty="0">
                <a:solidFill>
                  <a:srgbClr val="55606E"/>
                </a:solidFill>
                <a:latin typeface="Arial" pitchFamily="34" charset="0"/>
                <a:ea typeface="Arial" pitchFamily="34" charset="-122"/>
                <a:cs typeface="Arial" pitchFamily="34" charset="-120"/>
              </a:rPr>
              <a:t>   same pipeline throughout</a:t>
            </a:r>
            <a:endParaRPr lang="en-US" sz="1150" dirty="0"/>
          </a:p>
        </p:txBody>
      </p:sp>
      <p:pic>
        <p:nvPicPr>
          <p:cNvPr id="6" name="Image 0" descr="/Users/hatanakatomoya/Developer/Sim/llm-vqc/.claude/worktrees/github-author-config-faee6e/docs/presentation/mini5/figures/fig_contract.png">    </p:cNvPr>
          <p:cNvPicPr>
            <a:picLocks noChangeAspect="1"/>
          </p:cNvPicPr>
          <p:nvPr/>
        </p:nvPicPr>
        <p:blipFill>
          <a:blip r:embed="rId1"/>
          <a:stretch>
            <a:fillRect/>
          </a:stretch>
        </p:blipFill>
        <p:spPr>
          <a:xfrm>
            <a:off x="411480" y="1371600"/>
            <a:ext cx="11384280" cy="2624328"/>
          </a:xfrm>
          <a:prstGeom prst="rect">
            <a:avLst/>
          </a:prstGeom>
        </p:spPr>
      </p:pic>
      <p:sp>
        <p:nvSpPr>
          <p:cNvPr id="7" name="Shape 4"/>
          <p:cNvSpPr/>
          <p:nvPr/>
        </p:nvSpPr>
        <p:spPr>
          <a:xfrm>
            <a:off x="548640" y="4206240"/>
            <a:ext cx="3520440" cy="1600200"/>
          </a:xfrm>
          <a:prstGeom prst="roundRect">
            <a:avLst>
              <a:gd name="adj" fmla="val 5714"/>
            </a:avLst>
          </a:prstGeom>
          <a:solidFill>
            <a:srgbClr val="F4F6FA"/>
          </a:solidFill>
          <a:ln w="19050">
            <a:solidFill>
              <a:srgbClr val="1E3A5F"/>
            </a:solidFill>
            <a:prstDash val="solid"/>
          </a:ln>
        </p:spPr>
      </p:sp>
      <p:sp>
        <p:nvSpPr>
          <p:cNvPr id="8" name="Text 5"/>
          <p:cNvSpPr/>
          <p:nvPr/>
        </p:nvSpPr>
        <p:spPr>
          <a:xfrm>
            <a:off x="777240" y="4315968"/>
            <a:ext cx="3108960" cy="320040"/>
          </a:xfrm>
          <a:prstGeom prst="rect">
            <a:avLst/>
          </a:prstGeom>
          <a:noFill/>
          <a:ln/>
        </p:spPr>
        <p:txBody>
          <a:bodyPr wrap="square" lIns="0" tIns="0" rIns="0" bIns="0" rtlCol="0" anchor="ctr"/>
          <a:lstStyle/>
          <a:p>
            <a:pPr indent="0" marL="0">
              <a:buNone/>
            </a:pPr>
            <a:r>
              <a:rPr lang="en-US" sz="1500" b="1" dirty="0">
                <a:solidFill>
                  <a:srgbClr val="1E3A5F"/>
                </a:solidFill>
                <a:latin typeface="Arial" pitchFamily="34" charset="0"/>
                <a:ea typeface="Arial" pitchFamily="34" charset="-122"/>
                <a:cs typeface="Arial" pitchFamily="34" charset="-120"/>
              </a:rPr>
              <a:t>Validation RMSE</a:t>
            </a:r>
            <a:endParaRPr lang="en-US" sz="1500" dirty="0"/>
          </a:p>
        </p:txBody>
      </p:sp>
      <p:sp>
        <p:nvSpPr>
          <p:cNvPr id="9" name="Text 6"/>
          <p:cNvSpPr/>
          <p:nvPr/>
        </p:nvSpPr>
        <p:spPr>
          <a:xfrm>
            <a:off x="777240" y="4681728"/>
            <a:ext cx="310896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drives the search - each method keeps its own best</a:t>
            </a:r>
            <a:endParaRPr lang="en-US" sz="1350" dirty="0"/>
          </a:p>
        </p:txBody>
      </p:sp>
      <p:sp>
        <p:nvSpPr>
          <p:cNvPr id="10" name="Shape 7"/>
          <p:cNvSpPr/>
          <p:nvPr/>
        </p:nvSpPr>
        <p:spPr>
          <a:xfrm>
            <a:off x="4315968" y="4206240"/>
            <a:ext cx="3520440" cy="1600200"/>
          </a:xfrm>
          <a:prstGeom prst="roundRect">
            <a:avLst>
              <a:gd name="adj" fmla="val 5714"/>
            </a:avLst>
          </a:prstGeom>
          <a:solidFill>
            <a:srgbClr val="F4F6FA"/>
          </a:solidFill>
          <a:ln w="19050">
            <a:solidFill>
              <a:srgbClr val="0B7A4B"/>
            </a:solidFill>
            <a:prstDash val="solid"/>
          </a:ln>
        </p:spPr>
      </p:sp>
      <p:sp>
        <p:nvSpPr>
          <p:cNvPr id="11" name="Text 8"/>
          <p:cNvSpPr/>
          <p:nvPr/>
        </p:nvSpPr>
        <p:spPr>
          <a:xfrm>
            <a:off x="4544568" y="4315968"/>
            <a:ext cx="3108960" cy="320040"/>
          </a:xfrm>
          <a:prstGeom prst="rect">
            <a:avLst/>
          </a:prstGeom>
          <a:noFill/>
          <a:ln/>
        </p:spPr>
        <p:txBody>
          <a:bodyPr wrap="square" lIns="0" tIns="0" rIns="0" bIns="0" rtlCol="0" anchor="ctr"/>
          <a:lstStyle/>
          <a:p>
            <a:pPr indent="0" marL="0">
              <a:buNone/>
            </a:pPr>
            <a:r>
              <a:rPr lang="en-US" sz="1500" b="1" dirty="0">
                <a:solidFill>
                  <a:srgbClr val="0B7A4B"/>
                </a:solidFill>
                <a:latin typeface="Arial" pitchFamily="34" charset="0"/>
                <a:ea typeface="Arial" pitchFamily="34" charset="-122"/>
                <a:cs typeface="Arial" pitchFamily="34" charset="-120"/>
              </a:rPr>
              <a:t>Test RMSE</a:t>
            </a:r>
            <a:endParaRPr lang="en-US" sz="1500" dirty="0"/>
          </a:p>
        </p:txBody>
      </p:sp>
      <p:sp>
        <p:nvSpPr>
          <p:cNvPr id="12" name="Text 9"/>
          <p:cNvSpPr/>
          <p:nvPr/>
        </p:nvSpPr>
        <p:spPr>
          <a:xfrm>
            <a:off x="4544568" y="4681728"/>
            <a:ext cx="310896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reported once, after the choice is frozen. Never used to choose.</a:t>
            </a:r>
            <a:endParaRPr lang="en-US" sz="1350" dirty="0"/>
          </a:p>
        </p:txBody>
      </p:sp>
      <p:sp>
        <p:nvSpPr>
          <p:cNvPr id="13" name="Shape 10"/>
          <p:cNvSpPr/>
          <p:nvPr/>
        </p:nvSpPr>
        <p:spPr>
          <a:xfrm>
            <a:off x="8092440" y="4206240"/>
            <a:ext cx="3520440" cy="1600200"/>
          </a:xfrm>
          <a:prstGeom prst="roundRect">
            <a:avLst>
              <a:gd name="adj" fmla="val 5714"/>
            </a:avLst>
          </a:prstGeom>
          <a:solidFill>
            <a:srgbClr val="F4F6FA"/>
          </a:solidFill>
          <a:ln w="19050">
            <a:solidFill>
              <a:srgbClr val="B3261E"/>
            </a:solidFill>
            <a:prstDash val="solid"/>
          </a:ln>
        </p:spPr>
      </p:sp>
      <p:sp>
        <p:nvSpPr>
          <p:cNvPr id="14" name="Text 11"/>
          <p:cNvSpPr/>
          <p:nvPr/>
        </p:nvSpPr>
        <p:spPr>
          <a:xfrm>
            <a:off x="8321040" y="4315968"/>
            <a:ext cx="3108960" cy="320040"/>
          </a:xfrm>
          <a:prstGeom prst="rect">
            <a:avLst/>
          </a:prstGeom>
          <a:noFill/>
          <a:ln/>
        </p:spPr>
        <p:txBody>
          <a:bodyPr wrap="square" lIns="0" tIns="0" rIns="0" bIns="0" rtlCol="0" anchor="ctr"/>
          <a:lstStyle/>
          <a:p>
            <a:pPr indent="0" marL="0">
              <a:buNone/>
            </a:pPr>
            <a:r>
              <a:rPr lang="en-US" sz="1500" b="1" dirty="0">
                <a:solidFill>
                  <a:srgbClr val="B3261E"/>
                </a:solidFill>
                <a:latin typeface="Arial" pitchFamily="34" charset="0"/>
                <a:ea typeface="Arial" pitchFamily="34" charset="-122"/>
                <a:cs typeface="Arial" pitchFamily="34" charset="-120"/>
              </a:rPr>
              <a:t>T4 is yes/no</a:t>
            </a:r>
            <a:endParaRPr lang="en-US" sz="1500" dirty="0"/>
          </a:p>
        </p:txBody>
      </p:sp>
      <p:sp>
        <p:nvSpPr>
          <p:cNvPr id="15" name="Text 12"/>
          <p:cNvSpPr/>
          <p:nvPr/>
        </p:nvSpPr>
        <p:spPr>
          <a:xfrm>
            <a:off x="8321040" y="4681728"/>
            <a:ext cx="310896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so RMSE there is the error on a 0/1 label. AUROC is shown too - slide 7.</a:t>
            </a:r>
            <a:endParaRPr lang="en-US" sz="1350" dirty="0"/>
          </a:p>
        </p:txBody>
      </p:sp>
      <p:sp>
        <p:nvSpPr>
          <p:cNvPr id="16" name="Text 13"/>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RMSE compares arms WITHIN one task only: the four tasks predict different quantities on different scales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DESIGN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Five methods, one shared budget</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Applies to all three conditions</a:t>
            </a:r>
            <a:pPr algn="r" indent="0" marL="0">
              <a:buNone/>
            </a:pPr>
            <a:r>
              <a:rPr lang="en-US" sz="1150" dirty="0">
                <a:solidFill>
                  <a:srgbClr val="55606E"/>
                </a:solidFill>
                <a:latin typeface="Arial" pitchFamily="34" charset="0"/>
                <a:ea typeface="Arial" pitchFamily="34" charset="-122"/>
                <a:cs typeface="Arial" pitchFamily="34" charset="-120"/>
              </a:rPr>
              <a:t>   arms are identical throughout</a:t>
            </a:r>
            <a:endParaRPr lang="en-US" sz="1150" dirty="0"/>
          </a:p>
        </p:txBody>
      </p:sp>
      <p:pic>
        <p:nvPicPr>
          <p:cNvPr id="6" name="Image 0" descr="/Users/hatanakatomoya/Developer/Sim/llm-vqc/.claude/worktrees/github-author-config-faee6e/docs/presentation/mini5/figures/fig_arms.png">    </p:cNvPr>
          <p:cNvPicPr>
            <a:picLocks noChangeAspect="1"/>
          </p:cNvPicPr>
          <p:nvPr/>
        </p:nvPicPr>
        <p:blipFill>
          <a:blip r:embed="rId1"/>
          <a:stretch>
            <a:fillRect/>
          </a:stretch>
        </p:blipFill>
        <p:spPr>
          <a:xfrm>
            <a:off x="411480" y="1463040"/>
            <a:ext cx="11384280" cy="2980944"/>
          </a:xfrm>
          <a:prstGeom prst="rect">
            <a:avLst/>
          </a:prstGeom>
        </p:spPr>
      </p:pic>
      <p:sp>
        <p:nvSpPr>
          <p:cNvPr id="7" name="Shape 4"/>
          <p:cNvSpPr/>
          <p:nvPr/>
        </p:nvSpPr>
        <p:spPr>
          <a:xfrm>
            <a:off x="548640" y="4709160"/>
            <a:ext cx="11109960" cy="1280160"/>
          </a:xfrm>
          <a:prstGeom prst="roundRect">
            <a:avLst>
              <a:gd name="adj" fmla="val 7143"/>
            </a:avLst>
          </a:prstGeom>
          <a:solidFill>
            <a:srgbClr val="F4F6FA"/>
          </a:solidFill>
          <a:ln w="12700">
            <a:solidFill>
              <a:srgbClr val="D8DDE6"/>
            </a:solidFill>
            <a:prstDash val="solid"/>
          </a:ln>
        </p:spPr>
      </p:sp>
      <p:sp>
        <p:nvSpPr>
          <p:cNvPr id="8" name="Text 5"/>
          <p:cNvSpPr/>
          <p:nvPr/>
        </p:nvSpPr>
        <p:spPr>
          <a:xfrm>
            <a:off x="822960" y="4828032"/>
            <a:ext cx="10607040" cy="1051560"/>
          </a:xfrm>
          <a:prstGeom prst="rect">
            <a:avLst/>
          </a:prstGeom>
          <a:noFill/>
          <a:ln/>
        </p:spPr>
        <p:txBody>
          <a:bodyPr wrap="square" lIns="0" tIns="0" rIns="0" bIns="0" rtlCol="0" anchor="ctr"/>
          <a:lstStyle/>
          <a:p>
            <a:pPr indent="0" marL="0">
              <a:buNone/>
            </a:pPr>
            <a:r>
              <a:rPr lang="en-US" sz="1700" b="1" dirty="0">
                <a:solidFill>
                  <a:srgbClr val="1E3A5F"/>
                </a:solidFill>
                <a:latin typeface="Arial" pitchFamily="34" charset="0"/>
                <a:ea typeface="Arial" pitchFamily="34" charset="-122"/>
                <a:cs typeface="Arial" pitchFamily="34" charset="-120"/>
              </a:rPr>
              <a:t>Open-loop vs closed-loop: </a:t>
            </a:r>
            <a:pPr indent="0" marL="0">
              <a:buNone/>
            </a:pPr>
            <a:r>
              <a:rPr lang="en-US" sz="1700" dirty="0">
                <a:solidFill>
                  <a:srgbClr val="1A1A2E"/>
                </a:solidFill>
                <a:latin typeface="Arial" pitchFamily="34" charset="0"/>
                <a:ea typeface="Arial" pitchFamily="34" charset="-122"/>
                <a:cs typeface="Arial" pitchFamily="34" charset="-120"/>
              </a:rPr>
              <a:t>open-loop never sees how its own circuits scored; closed-loop does, eight times. That is the only difference between them.</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Greedy growth cannot apply at fixed length, so Greedy here is fixed-length hill climbing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Random search wins on three of four tasks</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PRIMARY: exactly 5 gates, B = 8, 10 seeds</a:t>
            </a:r>
            <a:pPr algn="r" indent="0" marL="0">
              <a:buNone/>
            </a:pPr>
            <a:r>
              <a:rPr lang="en-US" sz="1150" dirty="0">
                <a:solidFill>
                  <a:srgbClr val="55606E"/>
                </a:solidFill>
                <a:latin typeface="Arial" pitchFamily="34" charset="0"/>
                <a:ea typeface="Arial" pitchFamily="34" charset="-122"/>
                <a:cs typeface="Arial" pitchFamily="34" charset="-120"/>
              </a:rPr>
              <a:t>   all four tasks, T1-T4</a:t>
            </a:r>
            <a:endParaRPr lang="en-US" sz="1150" dirty="0"/>
          </a:p>
        </p:txBody>
      </p:sp>
      <p:pic>
        <p:nvPicPr>
          <p:cNvPr id="6" name="Image 0" descr="/Users/hatanakatomoya/Developer/Sim/llm-vqc/.claude/worktrees/github-author-config-faee6e/docs/presentation/mini5/figures/fig_main.png">    </p:cNvPr>
          <p:cNvPicPr>
            <a:picLocks noChangeAspect="1"/>
          </p:cNvPicPr>
          <p:nvPr/>
        </p:nvPicPr>
        <p:blipFill>
          <a:blip r:embed="rId1"/>
          <a:stretch>
            <a:fillRect/>
          </a:stretch>
        </p:blipFill>
        <p:spPr>
          <a:xfrm>
            <a:off x="320040" y="1371600"/>
            <a:ext cx="11521440" cy="3611880"/>
          </a:xfrm>
          <a:prstGeom prst="rect">
            <a:avLst/>
          </a:prstGeom>
        </p:spPr>
      </p:pic>
      <p:sp>
        <p:nvSpPr>
          <p:cNvPr id="7" name="Shape 4"/>
          <p:cNvSpPr/>
          <p:nvPr/>
        </p:nvSpPr>
        <p:spPr>
          <a:xfrm>
            <a:off x="548640" y="5230368"/>
            <a:ext cx="11109960" cy="914400"/>
          </a:xfrm>
          <a:prstGeom prst="roundRect">
            <a:avLst>
              <a:gd name="adj" fmla="val 8000"/>
            </a:avLst>
          </a:prstGeom>
          <a:solidFill>
            <a:srgbClr val="F4F6FA"/>
          </a:solidFill>
          <a:ln w="12700">
            <a:solidFill>
              <a:srgbClr val="D8DDE6"/>
            </a:solidFill>
            <a:prstDash val="solid"/>
          </a:ln>
        </p:spPr>
      </p:sp>
      <p:sp>
        <p:nvSpPr>
          <p:cNvPr id="8" name="Text 5"/>
          <p:cNvSpPr/>
          <p:nvPr/>
        </p:nvSpPr>
        <p:spPr>
          <a:xfrm>
            <a:off x="777240" y="5340096"/>
            <a:ext cx="10607040" cy="731520"/>
          </a:xfrm>
          <a:prstGeom prst="rect">
            <a:avLst/>
          </a:prstGeom>
          <a:noFill/>
          <a:ln/>
        </p:spPr>
        <p:txBody>
          <a:bodyPr wrap="square" lIns="0" tIns="0" rIns="0" bIns="0" rtlCol="0" anchor="ctr"/>
          <a:lstStyle/>
          <a:p>
            <a:pPr indent="0" marL="0">
              <a:buNone/>
            </a:pPr>
            <a:r>
              <a:rPr lang="en-US" sz="1600" b="1" dirty="0">
                <a:solidFill>
                  <a:srgbClr val="0B7A4B"/>
                </a:solidFill>
                <a:latin typeface="Arial" pitchFamily="34" charset="0"/>
                <a:ea typeface="Arial" pitchFamily="34" charset="-122"/>
                <a:cs typeface="Arial" pitchFamily="34" charset="-120"/>
              </a:rPr>
              <a:t>The LLM wins on T2 alone, and there it wins clearly </a:t>
            </a:r>
            <a:pPr indent="0" marL="0">
              <a:buNone/>
            </a:pPr>
            <a:r>
              <a:rPr lang="en-US" sz="1600" dirty="0">
                <a:solidFill>
                  <a:srgbClr val="1A1A2E"/>
                </a:solidFill>
                <a:latin typeface="Arial" pitchFamily="34" charset="0"/>
                <a:ea typeface="Arial" pitchFamily="34" charset="-122"/>
                <a:cs typeface="Arial" pitchFamily="34" charset="-120"/>
              </a:rPr>
              <a:t>(0.204 vs 0.295).   </a:t>
            </a:r>
            <a:pPr indent="0" marL="0">
              <a:buNone/>
            </a:pPr>
            <a:r>
              <a:rPr lang="en-US" sz="1600" b="1" dirty="0">
                <a:solidFill>
                  <a:srgbClr val="B3261E"/>
                </a:solidFill>
                <a:latin typeface="Arial" pitchFamily="34" charset="0"/>
                <a:ea typeface="Arial" pitchFamily="34" charset="-122"/>
                <a:cs typeface="Arial" pitchFamily="34" charset="-120"/>
              </a:rPr>
              <a:t>Closed-loop never beats open-loop on any task: eight rounds of feedback did not help this model at this budget.</a:t>
            </a:r>
            <a:endParaRPr lang="en-US" sz="16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10 seeds per arm, B = 8, exactly 5 gates · data/per_cell.csv</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METRIC CHECK</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 T4 the metric, not the method, picks the winner</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PRIMARY: exactly 5 gates, B = 8, 10 seeds</a:t>
            </a:r>
            <a:pPr algn="r" indent="0" marL="0">
              <a:buNone/>
            </a:pPr>
            <a:r>
              <a:rPr lang="en-US" sz="1150" dirty="0">
                <a:solidFill>
                  <a:srgbClr val="55606E"/>
                </a:solidFill>
                <a:latin typeface="Arial" pitchFamily="34" charset="0"/>
                <a:ea typeface="Arial" pitchFamily="34" charset="-122"/>
                <a:cs typeface="Arial" pitchFamily="34" charset="-120"/>
              </a:rPr>
              <a:t>   T4 only (peak count, 5 qubits)</a:t>
            </a:r>
            <a:endParaRPr lang="en-US" sz="1150" dirty="0"/>
          </a:p>
        </p:txBody>
      </p:sp>
      <p:pic>
        <p:nvPicPr>
          <p:cNvPr id="6" name="Image 0" descr="/Users/hatanakatomoya/Developer/Sim/llm-vqc/.claude/worktrees/github-author-config-faee6e/docs/presentation/mini5/figures/fig_t4_check.png">    </p:cNvPr>
          <p:cNvPicPr>
            <a:picLocks noChangeAspect="1"/>
          </p:cNvPicPr>
          <p:nvPr/>
        </p:nvPicPr>
        <p:blipFill>
          <a:blip r:embed="rId1"/>
          <a:stretch>
            <a:fillRect/>
          </a:stretch>
        </p:blipFill>
        <p:spPr>
          <a:xfrm>
            <a:off x="731520" y="1417320"/>
            <a:ext cx="6675120" cy="3017520"/>
          </a:xfrm>
          <a:prstGeom prst="rect">
            <a:avLst/>
          </a:prstGeom>
        </p:spPr>
      </p:pic>
      <p:sp>
        <p:nvSpPr>
          <p:cNvPr id="7" name="Text 4"/>
          <p:cNvSpPr/>
          <p:nvPr/>
        </p:nvSpPr>
        <p:spPr>
          <a:xfrm>
            <a:off x="7680960" y="1600200"/>
            <a:ext cx="4023360" cy="2926080"/>
          </a:xfrm>
          <a:prstGeom prst="rect">
            <a:avLst/>
          </a:prstGeom>
          <a:noFill/>
          <a:ln/>
        </p:spPr>
        <p:txBody>
          <a:bodyPr wrap="square" lIns="0" tIns="0" rIns="0" bIns="0" rtlCol="0" anchor="t"/>
          <a:lstStyle/>
          <a:p>
            <a:pPr indent="0" marL="0">
              <a:buNone/>
            </a:pPr>
            <a:r>
              <a:rPr lang="en-US" sz="1700" b="1" dirty="0">
                <a:solidFill>
                  <a:srgbClr val="1E3A5F"/>
                </a:solidFill>
                <a:latin typeface="Arial" pitchFamily="34" charset="0"/>
                <a:ea typeface="Arial" pitchFamily="34" charset="-122"/>
                <a:cs typeface="Arial" pitchFamily="34" charset="-120"/>
              </a:rPr>
              <a:t>AUROC
</a:t>
            </a:r>
            <a:pPr indent="0" marL="0">
              <a:buNone/>
            </a:pPr>
            <a:r>
              <a:rPr lang="en-US" sz="1500" dirty="0">
                <a:solidFill>
                  <a:srgbClr val="1A1A2E"/>
                </a:solidFill>
                <a:latin typeface="Arial" pitchFamily="34" charset="0"/>
                <a:ea typeface="Arial" pitchFamily="34" charset="-122"/>
                <a:cs typeface="Arial" pitchFamily="34" charset="-120"/>
              </a:rPr>
              <a:t>= how often the model ranks a two-peak signal above a one-peak one. 1.0 perfect, 0.5 coin flip.
</a:t>
            </a:r>
            <a:pPr indent="0" marL="0">
              <a:buNone/>
            </a:pPr>
            <a:r>
              <a:rPr lang="en-US" sz="1700" b="1" dirty="0">
                <a:solidFill>
                  <a:srgbClr val="1E3A5F"/>
                </a:solidFill>
                <a:latin typeface="Arial" pitchFamily="34" charset="0"/>
                <a:ea typeface="Arial" pitchFamily="34" charset="-122"/>
                <a:cs typeface="Arial" pitchFamily="34" charset="-120"/>
              </a:rPr>
              <a:t>Why they disagree
</a:t>
            </a:r>
            <a:pPr indent="0" marL="0">
              <a:buNone/>
            </a:pPr>
            <a:r>
              <a:rPr lang="en-US" sz="1500" dirty="0">
                <a:solidFill>
                  <a:srgbClr val="1A1A2E"/>
                </a:solidFill>
                <a:latin typeface="Arial" pitchFamily="34" charset="0"/>
                <a:ea typeface="Arial" pitchFamily="34" charset="-122"/>
                <a:cs typeface="Arial" pitchFamily="34" charset="-120"/>
              </a:rPr>
              <a:t>RMSE also punishes outputting 0.45 / 0.55 instead of 0 / 1. AUROC only cares about the order.</a:t>
            </a:r>
            <a:endParaRPr lang="en-US" sz="1700" dirty="0"/>
          </a:p>
        </p:txBody>
      </p:sp>
      <p:sp>
        <p:nvSpPr>
          <p:cNvPr id="8" name="Shape 5"/>
          <p:cNvSpPr/>
          <p:nvPr/>
        </p:nvSpPr>
        <p:spPr>
          <a:xfrm>
            <a:off x="548640" y="4754880"/>
            <a:ext cx="11109960" cy="1280160"/>
          </a:xfrm>
          <a:prstGeom prst="roundRect">
            <a:avLst>
              <a:gd name="adj" fmla="val 7143"/>
            </a:avLst>
          </a:prstGeom>
          <a:solidFill>
            <a:srgbClr val="FDF6E8"/>
          </a:solidFill>
          <a:ln w="15240">
            <a:solidFill>
              <a:srgbClr val="B8860B"/>
            </a:solidFill>
            <a:prstDash val="solid"/>
          </a:ln>
        </p:spPr>
      </p:sp>
      <p:sp>
        <p:nvSpPr>
          <p:cNvPr id="9" name="Text 6"/>
          <p:cNvSpPr/>
          <p:nvPr/>
        </p:nvSpPr>
        <p:spPr>
          <a:xfrm>
            <a:off x="777240" y="4864608"/>
            <a:ext cx="10607040" cy="109728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Neither reading is strong: </a:t>
            </a:r>
            <a:pPr indent="0" marL="0">
              <a:buNone/>
            </a:pPr>
            <a:r>
              <a:rPr lang="en-US" sz="1700" dirty="0">
                <a:solidFill>
                  <a:srgbClr val="1A1A2E"/>
                </a:solidFill>
                <a:latin typeface="Arial" pitchFamily="34" charset="0"/>
                <a:ea typeface="Arial" pitchFamily="34" charset="-122"/>
                <a:cs typeface="Arial" pitchFamily="34" charset="-120"/>
              </a:rPr>
              <a:t>AUROC spans 0.59 to 0.62 against 0.5 for chance. Five gates without training barely solve T4 at all.</a:t>
            </a:r>
            <a:endParaRPr lang="en-US" sz="1700" dirty="0"/>
          </a:p>
        </p:txBody>
      </p:sp>
      <p:sp>
        <p:nvSpPr>
          <p:cNvPr id="10" name="Text 7"/>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AUROC computed from the identical predictions used for the RMSE, on the same single test evaluation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ATTRIBUTION</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Last week's advantage was a size decision, not a design one</a:t>
            </a:r>
            <a:endParaRPr lang="en-US" sz="24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ALL THREE CONDITIONS side by side</a:t>
            </a:r>
            <a:pPr algn="r" indent="0" marL="0">
              <a:buNone/>
            </a:pPr>
            <a:r>
              <a:rPr lang="en-US" sz="1150" dirty="0">
                <a:solidFill>
                  <a:srgbClr val="55606E"/>
                </a:solidFill>
                <a:latin typeface="Arial" pitchFamily="34" charset="0"/>
                <a:ea typeface="Arial" pitchFamily="34" charset="-122"/>
                <a:cs typeface="Arial" pitchFamily="34" charset="-120"/>
              </a:rPr>
              <a:t>   T1 only (Gaussian peak, 3 qubits)</a:t>
            </a:r>
            <a:endParaRPr lang="en-US" sz="1150" dirty="0"/>
          </a:p>
        </p:txBody>
      </p:sp>
      <p:pic>
        <p:nvPicPr>
          <p:cNvPr id="6" name="Image 0" descr="/Users/hatanakatomoya/Developer/Sim/llm-vqc/.claude/worktrees/github-author-config-faee6e/docs/presentation/mini5/figures/fig_size_confound.png">    </p:cNvPr>
          <p:cNvPicPr>
            <a:picLocks noChangeAspect="1"/>
          </p:cNvPicPr>
          <p:nvPr/>
        </p:nvPicPr>
        <p:blipFill>
          <a:blip r:embed="rId1"/>
          <a:stretch>
            <a:fillRect/>
          </a:stretch>
        </p:blipFill>
        <p:spPr>
          <a:xfrm>
            <a:off x="274320" y="1371600"/>
            <a:ext cx="11658600" cy="3474720"/>
          </a:xfrm>
          <a:prstGeom prst="rect">
            <a:avLst/>
          </a:prstGeom>
        </p:spPr>
      </p:pic>
      <p:sp>
        <p:nvSpPr>
          <p:cNvPr id="7" name="Shape 4"/>
          <p:cNvSpPr/>
          <p:nvPr/>
        </p:nvSpPr>
        <p:spPr>
          <a:xfrm>
            <a:off x="548640" y="5074920"/>
            <a:ext cx="11109960" cy="1097280"/>
          </a:xfrm>
          <a:prstGeom prst="roundRect">
            <a:avLst>
              <a:gd name="adj" fmla="val 6667"/>
            </a:avLst>
          </a:prstGeom>
          <a:solidFill>
            <a:srgbClr val="F4F6FA"/>
          </a:solidFill>
          <a:ln w="12700">
            <a:solidFill>
              <a:srgbClr val="D8DDE6"/>
            </a:solidFill>
            <a:prstDash val="solid"/>
          </a:ln>
        </p:spPr>
      </p:sp>
      <p:sp>
        <p:nvSpPr>
          <p:cNvPr id="8" name="Text 5"/>
          <p:cNvSpPr/>
          <p:nvPr/>
        </p:nvSpPr>
        <p:spPr>
          <a:xfrm>
            <a:off x="777240" y="5166360"/>
            <a:ext cx="10607040" cy="91440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Free the length and only Random gets worse </a:t>
            </a:r>
            <a:pPr indent="0" marL="0">
              <a:buNone/>
            </a:pPr>
            <a:r>
              <a:rPr lang="en-US" sz="1700" dirty="0">
                <a:solidFill>
                  <a:srgbClr val="1A1A2E"/>
                </a:solidFill>
                <a:latin typeface="Arial" pitchFamily="34" charset="0"/>
                <a:ea typeface="Arial" pitchFamily="34" charset="-122"/>
                <a:cs typeface="Arial" pitchFamily="34" charset="-120"/>
              </a:rPr>
              <a:t>(0.139 → 0.167); the LLM does not move (0.170 → 0.170), because it was already asking for 5. At the pilot's setting they meet.</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All three conditions ran all four tasks with 10 seeds; T1 is shown here because it is the family the pilot used · data/condition_comparison.json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SEARCH DYNAMICS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More feedback did not translate into better circuits</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PRIMARY: exactly 5 gates, B = 8, 10 seeds</a:t>
            </a:r>
            <a:pPr algn="r" indent="0" marL="0">
              <a:buNone/>
            </a:pPr>
            <a:r>
              <a:rPr lang="en-US" sz="1150" dirty="0">
                <a:solidFill>
                  <a:srgbClr val="55606E"/>
                </a:solidFill>
                <a:latin typeface="Arial" pitchFamily="34" charset="0"/>
                <a:ea typeface="Arial" pitchFamily="34" charset="-122"/>
                <a:cs typeface="Arial" pitchFamily="34" charset="-120"/>
              </a:rPr>
              <a:t>   all four tasks, T1-T4</a:t>
            </a:r>
            <a:endParaRPr lang="en-US" sz="1150" dirty="0"/>
          </a:p>
        </p:txBody>
      </p:sp>
      <p:pic>
        <p:nvPicPr>
          <p:cNvPr id="6" name="Image 0" descr="/Users/hatanakatomoya/Developer/Sim/llm-vqc/.claude/worktrees/github-author-config-faee6e/docs/presentation/mini5/figures/fig_anytime.png">    </p:cNvPr>
          <p:cNvPicPr>
            <a:picLocks noChangeAspect="1"/>
          </p:cNvPicPr>
          <p:nvPr/>
        </p:nvPicPr>
        <p:blipFill>
          <a:blip r:embed="rId1"/>
          <a:stretch>
            <a:fillRect/>
          </a:stretch>
        </p:blipFill>
        <p:spPr>
          <a:xfrm>
            <a:off x="320040" y="1371600"/>
            <a:ext cx="11521440" cy="3200400"/>
          </a:xfrm>
          <a:prstGeom prst="rect">
            <a:avLst/>
          </a:prstGeom>
        </p:spPr>
      </p:pic>
      <p:sp>
        <p:nvSpPr>
          <p:cNvPr id="7" name="Shape 4"/>
          <p:cNvSpPr/>
          <p:nvPr/>
        </p:nvSpPr>
        <p:spPr>
          <a:xfrm>
            <a:off x="548640" y="4709160"/>
            <a:ext cx="11109960" cy="1280160"/>
          </a:xfrm>
          <a:prstGeom prst="roundRect">
            <a:avLst>
              <a:gd name="adj" fmla="val 7143"/>
            </a:avLst>
          </a:prstGeom>
          <a:solidFill>
            <a:srgbClr val="F4F6FA"/>
          </a:solidFill>
          <a:ln w="12700">
            <a:solidFill>
              <a:srgbClr val="D8DDE6"/>
            </a:solidFill>
            <a:prstDash val="solid"/>
          </a:ln>
        </p:spPr>
      </p:sp>
      <p:sp>
        <p:nvSpPr>
          <p:cNvPr id="8" name="Text 5"/>
          <p:cNvSpPr/>
          <p:nvPr/>
        </p:nvSpPr>
        <p:spPr>
          <a:xfrm>
            <a:off x="822960" y="4828032"/>
            <a:ext cx="10607040" cy="1051560"/>
          </a:xfrm>
          <a:prstGeom prst="rect">
            <a:avLst/>
          </a:prstGeom>
          <a:noFill/>
          <a:ln/>
        </p:spPr>
        <p:txBody>
          <a:bodyPr wrap="square" lIns="0" tIns="0" rIns="0" bIns="0" rtlCol="0" anchor="ctr"/>
          <a:lstStyle/>
          <a:p>
            <a:pPr indent="0" marL="0">
              <a:buNone/>
            </a:pPr>
            <a:r>
              <a:rPr lang="en-US" sz="1700" b="1" dirty="0">
                <a:solidFill>
                  <a:srgbClr val="B3261E"/>
                </a:solidFill>
                <a:latin typeface="Arial" pitchFamily="34" charset="0"/>
                <a:ea typeface="Arial" pitchFamily="34" charset="-122"/>
                <a:cs typeface="Arial" pitchFamily="34" charset="-120"/>
              </a:rPr>
              <a:t>Eight rounds of feedback, no gain on any task. </a:t>
            </a:r>
            <a:pPr indent="0" marL="0">
              <a:buNone/>
            </a:pPr>
            <a:r>
              <a:rPr lang="en-US" sz="1600" dirty="0">
                <a:solidFill>
                  <a:srgbClr val="1A1A2E"/>
                </a:solidFill>
                <a:latin typeface="Arial" pitchFamily="34" charset="0"/>
                <a:ea typeface="Arial" pitchFamily="34" charset="-122"/>
                <a:cs typeface="Arial" pitchFamily="34" charset="-120"/>
              </a:rPr>
              <a:t>A first run had closed-loop repeating itself 74% of the time and starved of budget; the prompt now lists what it already tried, repeats fell to 16%, and these are the corrected numbers.</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Curves are the median best-so-far validation RMSE over 10 seeds; the x-axis is unique candidates, not API calls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I can and cannot claim</a:t>
            </a:r>
            <a:endParaRPr lang="en-US" sz="3000" dirty="0"/>
          </a:p>
        </p:txBody>
      </p:sp>
      <p:sp>
        <p:nvSpPr>
          <p:cNvPr id="3" name="Shape 1"/>
          <p:cNvSpPr/>
          <p:nvPr/>
        </p:nvSpPr>
        <p:spPr>
          <a:xfrm>
            <a:off x="64008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4" name="Text 2"/>
          <p:cNvSpPr/>
          <p:nvPr/>
        </p:nvSpPr>
        <p:spPr>
          <a:xfrm>
            <a:off x="868680" y="1298448"/>
            <a:ext cx="4937760" cy="365760"/>
          </a:xfrm>
          <a:prstGeom prst="rect">
            <a:avLst/>
          </a:prstGeom>
          <a:noFill/>
          <a:ln/>
        </p:spPr>
        <p:txBody>
          <a:bodyPr wrap="square" lIns="0" tIns="0" rIns="0" bIns="0" rtlCol="0" anchor="ctr"/>
          <a:lstStyle/>
          <a:p>
            <a:pPr indent="0" marL="0">
              <a:buNone/>
            </a:pPr>
            <a:r>
              <a:rPr lang="en-US" sz="1700" b="1" dirty="0">
                <a:solidFill>
                  <a:srgbClr val="9FE3C0"/>
                </a:solidFill>
                <a:latin typeface="Arial" pitchFamily="34" charset="0"/>
                <a:ea typeface="Arial" pitchFamily="34" charset="-122"/>
                <a:cs typeface="Arial" pitchFamily="34" charset="-120"/>
              </a:rPr>
              <a:t>Supported</a:t>
            </a:r>
            <a:endParaRPr lang="en-US" sz="1700" dirty="0"/>
          </a:p>
        </p:txBody>
      </p:sp>
      <p:sp>
        <p:nvSpPr>
          <p:cNvPr id="5" name="Text 3"/>
          <p:cNvSpPr/>
          <p:nvPr/>
        </p:nvSpPr>
        <p:spPr>
          <a:xfrm>
            <a:off x="93268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Length fixed: no win over random on 3 of 4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Clear win on T2, across all 10 seeds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Length free: the LLM picks the maximum ~70% of the time</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That one choice explains most of last week's advantage</a:t>
            </a:r>
            <a:endParaRPr lang="en-US" sz="1450" dirty="0"/>
          </a:p>
        </p:txBody>
      </p:sp>
      <p:sp>
        <p:nvSpPr>
          <p:cNvPr id="6" name="Shape 4"/>
          <p:cNvSpPr/>
          <p:nvPr/>
        </p:nvSpPr>
        <p:spPr>
          <a:xfrm>
            <a:off x="626364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7" name="Text 5"/>
          <p:cNvSpPr/>
          <p:nvPr/>
        </p:nvSpPr>
        <p:spPr>
          <a:xfrm>
            <a:off x="6492240" y="1298448"/>
            <a:ext cx="4937760" cy="365760"/>
          </a:xfrm>
          <a:prstGeom prst="rect">
            <a:avLst/>
          </a:prstGeom>
          <a:noFill/>
          <a:ln/>
        </p:spPr>
        <p:txBody>
          <a:bodyPr wrap="square" lIns="0" tIns="0" rIns="0" bIns="0" rtlCol="0" anchor="ctr"/>
          <a:lstStyle/>
          <a:p>
            <a:pPr indent="0" marL="0">
              <a:buNone/>
            </a:pPr>
            <a:r>
              <a:rPr lang="en-US" sz="1700" b="1" dirty="0">
                <a:solidFill>
                  <a:srgbClr val="FFC4B8"/>
                </a:solidFill>
                <a:latin typeface="Arial" pitchFamily="34" charset="0"/>
                <a:ea typeface="Arial" pitchFamily="34" charset="-122"/>
                <a:cs typeface="Arial" pitchFamily="34" charset="-120"/>
              </a:rPr>
              <a:t>NOT supported</a:t>
            </a:r>
            <a:endParaRPr lang="en-US" sz="1700" dirty="0"/>
          </a:p>
        </p:txBody>
      </p:sp>
      <p:sp>
        <p:nvSpPr>
          <p:cNvPr id="8" name="Text 6"/>
          <p:cNvSpPr/>
          <p:nvPr/>
        </p:nvSpPr>
        <p:spPr>
          <a:xfrm>
            <a:off x="655624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"LLMs cannot design circuits" - one small model, one budget</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"Feedback does not work" - it failed here, at this scale</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Anything about hardware - this is exact simulation</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Comparing RMSE across different tasks</a:t>
            </a:r>
            <a:endParaRPr lang="en-US" sz="1450" dirty="0"/>
          </a:p>
        </p:txBody>
      </p:sp>
      <p:sp>
        <p:nvSpPr>
          <p:cNvPr id="9" name="Shape 7"/>
          <p:cNvSpPr/>
          <p:nvPr/>
        </p:nvSpPr>
        <p:spPr>
          <a:xfrm>
            <a:off x="640080" y="4983480"/>
            <a:ext cx="10972800" cy="1051560"/>
          </a:xfrm>
          <a:prstGeom prst="roundRect">
            <a:avLst>
              <a:gd name="adj" fmla="val 8696"/>
            </a:avLst>
          </a:prstGeom>
          <a:solidFill>
            <a:srgbClr val="FFFFFF"/>
          </a:solidFill>
          <a:ln w="20320">
            <a:solidFill>
              <a:srgbClr val="B3261E"/>
            </a:solidFill>
            <a:prstDash val="solid"/>
          </a:ln>
        </p:spPr>
      </p:sp>
      <p:sp>
        <p:nvSpPr>
          <p:cNvPr id="10" name="Text 8"/>
          <p:cNvSpPr/>
          <p:nvPr/>
        </p:nvSpPr>
        <p:spPr>
          <a:xfrm>
            <a:off x="868680" y="5093208"/>
            <a:ext cx="10515600" cy="868680"/>
          </a:xfrm>
          <a:prstGeom prst="rect">
            <a:avLst/>
          </a:prstGeom>
          <a:noFill/>
          <a:ln/>
        </p:spPr>
        <p:txBody>
          <a:bodyPr wrap="square" lIns="0" tIns="0" rIns="0" bIns="0" rtlCol="0" anchor="ctr"/>
          <a:lstStyle/>
          <a:p>
            <a:pPr indent="0" marL="0">
              <a:buNone/>
            </a:pPr>
            <a:r>
              <a:rPr lang="en-US" sz="1800" b="1" dirty="0">
                <a:solidFill>
                  <a:srgbClr val="B3261E"/>
                </a:solidFill>
                <a:latin typeface="Arial" pitchFamily="34" charset="0"/>
                <a:ea typeface="Arial" pitchFamily="34" charset="-122"/>
                <a:cs typeface="Arial" pitchFamily="34" charset="-120"/>
              </a:rPr>
              <a:t>Next: </a:t>
            </a:r>
            <a:pPr indent="0" marL="0">
              <a:buNone/>
            </a:pPr>
            <a:r>
              <a:rPr lang="en-US" sz="1800" dirty="0">
                <a:solidFill>
                  <a:srgbClr val="1A1A2E"/>
                </a:solidFill>
                <a:latin typeface="Arial" pitchFamily="34" charset="0"/>
                <a:ea typeface="Arial" pitchFamily="34" charset="-122"/>
                <a:cs typeface="Arial" pitchFamily="34" charset="-120"/>
              </a:rPr>
              <a:t>give the LLM a decision that is actually hard, and check any advantage the same way.</a:t>
            </a:r>
            <a:endParaRPr lang="en-US" sz="1800" dirty="0"/>
          </a:p>
        </p:txBody>
      </p:sp>
      <p:sp>
        <p:nvSpPr>
          <p:cNvPr id="11" name="Text 9"/>
          <p:cNvSpPr/>
          <p:nvPr/>
        </p:nvSpPr>
        <p:spPr>
          <a:xfrm>
            <a:off x="640080" y="6263640"/>
            <a:ext cx="109728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600 cells across 3 conditions · 2.9 min for the main run · gpt-5-nano-2025-08-07 · $0.23 total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2026-08-03T09:07:33Z</dcterms:created>
  <dcterms:modified xsi:type="dcterms:W3CDTF">2026-08-03T09:07:33Z</dcterms:modified>
</cp:coreProperties>
</file>