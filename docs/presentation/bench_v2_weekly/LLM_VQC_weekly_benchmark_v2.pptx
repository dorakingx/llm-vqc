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55448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LLM-Guided VQC Design: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Pilot to Rigorous Benchmark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822960" y="34290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Amplitude encoding, quantum readout, and budget-matched evaluation of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architecture search (QAS)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22960" y="502920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Tomoya Hatanaka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ML4SCI / Google Summer of Code 2026 — weekly update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29, 2026  ·  branch research/rigorous-qas-benchmark-v2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149840" y="4846320"/>
            <a:ext cx="1371600" cy="1371600"/>
          </a:xfrm>
          <a:prstGeom prst="ellipse">
            <a:avLst/>
          </a:prstGeom>
          <a:solidFill>
            <a:srgbClr val="CADCFC">
              <a:alpha val="18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149840" y="48463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|0⟩→Z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83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LLM guidance actually help quantum architecture search?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10698480" cy="1371600"/>
          </a:xfrm>
          <a:prstGeom prst="roundRect">
            <a:avLst>
              <a:gd name="adj" fmla="val 8000"/>
            </a:avLst>
          </a:prstGeom>
          <a:solidFill>
            <a:srgbClr val="CADCFC">
              <a:alpha val="55000"/>
            </a:srgbClr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572768"/>
            <a:ext cx="101498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“Does LLM guidance improve VQC architecture search over random, evolutionary, greedy, and reference ansätze under the same candidate-evaluation budget?”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325526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3255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3145536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agentic-VQC work motivates the direction</a:t>
            </a:r>
            <a:endParaRPr lang="en-US" sz="1450" dirty="0"/>
          </a:p>
          <a:p>
            <a:pPr indent="0" marL="0">
              <a:buNone/>
            </a:pPr>
            <a:r>
              <a:rPr lang="en-US" sz="12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Knipfer et al. 2026 and Sakka et al. 2026 show LLM agents can design VQCs — but with no budget-matched non-LLM baselines and no seed-replicated statistics.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777240" y="430682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4306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371600" y="4197096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Anytime improvement alone is uninterpretable</a:t>
            </a:r>
            <a:endParaRPr lang="en-US" sz="1450" dirty="0"/>
          </a:p>
          <a:p>
            <a:pPr indent="0" marL="0">
              <a:buNone/>
            </a:pPr>
            <a:r>
              <a:rPr lang="en-US" sz="12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search also improves over iterations; only equal-budget comparison isolates the value of the proposal strategy.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777240" y="535838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5358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71600" y="5248656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contribution: the controlled evaluation layer</a:t>
            </a:r>
            <a:endParaRPr lang="en-US" sz="1450" dirty="0"/>
          </a:p>
          <a:p>
            <a:pPr indent="0" marL="0">
              <a:buNone/>
            </a:pPr>
            <a:r>
              <a:rPr lang="en-US" sz="12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typed circuit grammar, same evaluator, same unique-candidate budget, paired seeds, protected test — for every arm, LLM or classical.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 review + claim discipline: docs/research/LITERATURE_REVIEW_QAS.md (C1–C8)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83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2-seed pilot to a preregistered benchmark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566160"/>
                <a:gridCol w="59436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July pilot (now: E0 provenance only)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bench_v2 (this benchmark)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Replication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5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seeds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paired replicates (5 for scaling), paired seeds per arm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5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= 4 proposals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= 16–24 unique candidate evaluations, exact ledgers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5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Gaussian peak only (n=3)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signal_suite T1–T4; scaling n ∈ {3,4,6,8}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scope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5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joint structure+θ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Track A (structure-only, shared trainer) + Track B (joint, verbatim θ)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5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random, evolutionary, greedy, 4 fixed reference ansätze, joint-evolutionary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Claims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5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descriptive (integration demo)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preregistered RQ1–RQ6, Holm-corrected paired tests, effect sizes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5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protected test, 2 committed seeds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resource metrics, machine-checked 17-criterion goal contract, break-tests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preserved as E0; protocol frozen before the matrix: docs/research/BENCHMARK_V2_PROTOCOL.md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DESIGN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83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controlled signal tasks, sized for amplitude encoding</a:t>
            </a:r>
            <a:endParaRPr lang="en-US" sz="3000" dirty="0"/>
          </a:p>
        </p:txBody>
      </p:sp>
      <p:pic>
        <p:nvPicPr>
          <p:cNvPr id="4" name="Image 0" descr="/Users/hatanakatomoya/Developer/Sim/llm-vqc/.claude/worktrees/github-author-config-faee6e/docs/presentation/bench_v2_weekly/figures/fig_task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11155680" cy="26060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4526280"/>
            <a:ext cx="2670048" cy="1691640"/>
          </a:xfrm>
          <a:prstGeom prst="roundRect">
            <a:avLst>
              <a:gd name="adj" fmla="val 5405"/>
            </a:avLst>
          </a:prstGeom>
          <a:solidFill>
            <a:srgbClr val="CADCFC">
              <a:alpha val="38000"/>
            </a:srgbClr>
          </a:solidFill>
          <a:ln w="9525">
            <a:solidFill>
              <a:srgbClr val="D8DD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4645152"/>
            <a:ext cx="23957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2^n features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task generates exactly 2^n-point signals — the amplitude vector of n qubits. No padding, no truncation.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346704" y="4526280"/>
            <a:ext cx="2670048" cy="1691640"/>
          </a:xfrm>
          <a:prstGeom prst="roundRect">
            <a:avLst>
              <a:gd name="adj" fmla="val 5405"/>
            </a:avLst>
          </a:prstGeom>
          <a:solidFill>
            <a:srgbClr val="CADCFC">
              <a:alpha val="38000"/>
            </a:srgbClr>
          </a:solidFill>
          <a:ln w="9525">
            <a:solidFill>
              <a:srgbClr val="D8DDE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483864" y="4645152"/>
            <a:ext cx="23957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Nuisance randomization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Amplitude, phase, baseline, widths, noise randomized so no fixed convention leaks the label.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90488" y="4526280"/>
            <a:ext cx="2670048" cy="1691640"/>
          </a:xfrm>
          <a:prstGeom prst="roundRect">
            <a:avLst>
              <a:gd name="adj" fmla="val 5405"/>
            </a:avLst>
          </a:prstGeom>
          <a:solidFill>
            <a:srgbClr val="CADCFC">
              <a:alpha val="38000"/>
            </a:srgbClr>
          </a:solidFill>
          <a:ln w="9525">
            <a:solidFill>
              <a:srgbClr val="D8DDE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327648" y="4645152"/>
            <a:ext cx="23957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profiles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T1/T2 frozen for n ∈ {3,4,6,8} (E3, running); T3/T4 at n=5. Frequency cap N/4 keeps T2 below Nyquist.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034272" y="4526280"/>
            <a:ext cx="2670048" cy="1691640"/>
          </a:xfrm>
          <a:prstGeom prst="roundRect">
            <a:avLst>
              <a:gd name="adj" fmla="val 5405"/>
            </a:avLst>
          </a:prstGeom>
          <a:solidFill>
            <a:srgbClr val="CADCFC">
              <a:alpha val="38000"/>
            </a:srgbClr>
          </a:solidFill>
          <a:ln w="9525">
            <a:solidFill>
              <a:srgbClr val="D8DDE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171432" y="4645152"/>
            <a:ext cx="23957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Splits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 train / 256 val / 2048 protected test per replicate; deterministic hashes; disjointness enforced.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data/fig_tasks.csv (generated from frozen signal_suite_v1, data seed 1000)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83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tracks separate architecture quality from angle luck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554480"/>
            <a:ext cx="5440680" cy="3108960"/>
          </a:xfrm>
          <a:prstGeom prst="roundRect">
            <a:avLst>
              <a:gd name="adj" fmla="val 3529"/>
            </a:avLst>
          </a:prstGeom>
          <a:solidFill>
            <a:srgbClr val="1E2761">
              <a:alpha val="12000"/>
            </a:srgbClr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69164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A — architecture search (primary)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914400" y="2194560"/>
            <a:ext cx="4892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Arms propose structure only, in one shared layered grammar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 AdamW inner loop trains θ (40 epochs, frozen for every arm)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θ-seed = f(task, data seed, search seed, structural hash) — same circuit ⇒ same result in every arm (global cache)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to searchers: validation metric only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172200" y="1554480"/>
            <a:ext cx="5440680" cy="3108960"/>
          </a:xfrm>
          <a:prstGeom prst="roundRect">
            <a:avLst>
              <a:gd name="adj" fmla="val 3529"/>
            </a:avLst>
          </a:prstGeom>
          <a:solidFill>
            <a:srgbClr val="7A4E9E">
              <a:alpha val="12000"/>
            </a:srgbClr>
          </a:solidFill>
          <a:ln w="19050">
            <a:solidFill>
              <a:srgbClr val="7A4E9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69164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7A4E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B — direct joint proposal (ablation)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6492240" y="2194560"/>
            <a:ext cx="4892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Candidates carry gates, wires, AND numeric angles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 evaluated verbatim — structurally NO optimizer on this path (AST-enforced)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identity includes θ: same structure + new angles = new candidate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Mandatory classical rival: mixed discrete/continuous evolutionary search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4892040"/>
            <a:ext cx="11018520" cy="1051560"/>
          </a:xfrm>
          <a:prstGeom prst="roundRect">
            <a:avLst>
              <a:gd name="adj" fmla="val 8696"/>
            </a:avLst>
          </a:prstGeom>
          <a:solidFill>
            <a:srgbClr val="FFF6E8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5047488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joint proposer can look good by guessing lucky angles rather than good architectures. Only the split design attributes credit correctly — E5 additionally re-optimizes θ on frozen LLM architectures at exactly matched objective-call budgets.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§5 (frozen): docs/research/BENCHMARK_V2_PROTOCOL.md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83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 hygiene is enforced by construction, then attacked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64592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✓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155448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Validation-only feedback</a:t>
            </a:r>
            <a:endParaRPr lang="en-US" sz="1350" dirty="0"/>
          </a:p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SearchFeedback has no field that could hold a test value; arms never see test data.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63640" y="164592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6263640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✓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66560" y="155448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 test, once</a:t>
            </a:r>
            <a:endParaRPr lang="en-US" sz="1350" dirty="0"/>
          </a:p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“Protected-test RMSE” = test metric of the validation-selected candidate, evaluated once after selection freeze — never feedback.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94360" y="3127248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3127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✓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7280" y="3035808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Paired isolation</a:t>
            </a:r>
            <a:endParaRPr lang="en-US" sz="1350" dirty="0"/>
          </a:p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seed 1000+r, search seed 2000+r shared across arms; θ-seeds derived, never global.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63640" y="3127248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6263640" y="3127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✓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766560" y="3035808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Crash-resumable stores</a:t>
            </a:r>
            <a:endParaRPr lang="en-US" sz="1350" dirty="0"/>
          </a:p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Per-cell SQLite + budget ledger; interrupt-and-resume proven equal to an uninterrupted run.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94360" y="4608576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594360" y="4608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✓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97280" y="4517136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Machine-checked completion</a:t>
            </a:r>
            <a:endParaRPr lang="en-US" sz="1350" dirty="0"/>
          </a:p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17-criterion goal contract; checker currently fails honestly (matrix incomplete) and rejects removed or interrupted cells.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263640" y="4608576"/>
            <a:ext cx="365760" cy="365760"/>
          </a:xfrm>
          <a:prstGeom prst="ellipse">
            <a:avLst/>
          </a:prstGeom>
          <a:solidFill>
            <a:srgbClr val="C44E52"/>
          </a:solidFill>
          <a:ln/>
        </p:spPr>
      </p:sp>
      <p:sp>
        <p:nvSpPr>
          <p:cNvPr id="20" name="Text 18"/>
          <p:cNvSpPr/>
          <p:nvPr/>
        </p:nvSpPr>
        <p:spPr>
          <a:xfrm>
            <a:off x="6263640" y="4608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✓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766560" y="4517136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Break-tests</a:t>
            </a:r>
            <a:endParaRPr lang="en-US" sz="1350" dirty="0"/>
          </a:p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broke 3 safeguards: 2 exposed real blind spots (now closed with stronger tests). No secrets or raw transcripts in artifacts.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docs/research/BREAK_TESTS.md · GOAL_CONTRACT.yaml · scripts/check_goal_completion.py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COMPLETE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83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Completed: E0 provenance replay and E1 classical joint search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3291840" cy="4297680"/>
          </a:xfrm>
          <a:prstGeom prst="roundRect">
            <a:avLst>
              <a:gd name="adj" fmla="val 2778"/>
            </a:avLst>
          </a:prstGeom>
          <a:solidFill>
            <a:srgbClr val="CADCFC">
              <a:alpha val="38000"/>
            </a:srgbClr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45920"/>
            <a:ext cx="28346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E0 — pilot replay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21 committed real-LLM pilot candidates re-evaluated offline from stored operations + θ.</a:t>
            </a:r>
            <a:endParaRPr lang="en-US" sz="15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match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test values, all 3 arms, both seeds</a:t>
            </a:r>
            <a:endParaRPr lang="en-US" sz="15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new API calls</a:t>
            </a: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July numbers are provenance-verified — and remain a 2-seed integration demo, not evidence.</a:t>
            </a:r>
            <a:endParaRPr lang="en-US" sz="1500" dirty="0"/>
          </a:p>
        </p:txBody>
      </p:sp>
      <p:pic>
        <p:nvPicPr>
          <p:cNvPr id="6" name="Image 0" descr="/Users/hatanakatomoya/Developer/Sim/llm-vqc/.claude/worktrees/github-author-config-faee6e/docs/presentation/bench_v2_weekly/figures/fig_e1_per_se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9080" y="1600200"/>
            <a:ext cx="7635240" cy="3200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160520" y="4892040"/>
            <a:ext cx="7406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 (B=16, verbatim θ, 10 paired replicates): </a:t>
            </a:r>
            <a:pPr indent="0" marL="0">
              <a:buNone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random_joint and evolutionary_joint are statistically close — no Holm-corrected difference (all p ≥ 0.28). T2 at n=5 appears difficult for both: test RMSE ≈ 0.29 for every replicate, near the target-scale spread — verbatim-θ proposals rarely beat it at this budget. LLM joint arms: pending budget authorization.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data/e0_replication_summary.csv · data/fig_e1_per_seed.csv · data/E1_stats_paired_tests.csv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MAIN MATRIX (COMPLETE)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83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Classical matrix complete: E2 at n=5, E3 scaling to 8 qubits</a:t>
            </a:r>
            <a:endParaRPr lang="en-US" sz="3000" dirty="0"/>
          </a:p>
        </p:txBody>
      </p:sp>
      <p:pic>
        <p:nvPicPr>
          <p:cNvPr id="4" name="Image 0" descr="/Users/hatanakatomoya/Developer/Sim/llm-vqc/.claude/worktrees/github-author-config-faee6e/docs/presentation/bench_v2_weekly/figures/fig_e2_per_se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7178040" cy="1792224"/>
          </a:xfrm>
          <a:prstGeom prst="rect">
            <a:avLst/>
          </a:prstGeom>
        </p:spPr>
      </p:pic>
      <p:pic>
        <p:nvPicPr>
          <p:cNvPr id="5" name="Image 1" descr="/Users/hatanakatomoya/Developer/Sim/llm-vqc/.claude/worktrees/github-author-config-faee6e/docs/presentation/bench_v2_weekly/figures/fig_e2_anyt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46120"/>
            <a:ext cx="7178040" cy="1563624"/>
          </a:xfrm>
          <a:prstGeom prst="rect">
            <a:avLst/>
          </a:prstGeom>
        </p:spPr>
      </p:pic>
      <p:pic>
        <p:nvPicPr>
          <p:cNvPr id="6" name="Image 2" descr="/Users/hatanakatomoya/Developer/Sim/llm-vqc/.claude/worktrees/github-author-config-faee6e/docs/presentation/bench_v2_weekly/figures/fig_e3_scal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1325880"/>
            <a:ext cx="3931920" cy="1609344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457200" y="4983480"/>
            <a:ext cx="7178040" cy="566928"/>
          </a:xfrm>
          <a:prstGeom prst="roundRect">
            <a:avLst>
              <a:gd name="adj" fmla="val 12903"/>
            </a:avLst>
          </a:prstGeom>
          <a:solidFill>
            <a:srgbClr val="CADCFC">
              <a:alpha val="45000"/>
            </a:srgbClr>
          </a:solidFill>
          <a:ln w="9525">
            <a:solidFill>
              <a:srgbClr val="D8DDE8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640080" y="5029200"/>
            <a:ext cx="6858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460 / 460 classical cells complete, 0 failures</a:t>
            </a:r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(E1 60 · E2 280 · E3 120)   |   </a:t>
            </a:r>
            <a:pPr indent="0" marL="0">
              <a:buNone/>
            </a:pPr>
            <a:r>
              <a:rPr lang="en-US" sz="1050" b="1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0 / 220 blocked</a:t>
            </a:r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E4 / E5 pending</a:t>
            </a:r>
            <a:endParaRPr lang="en-US" sz="1050" dirty="0"/>
          </a:p>
        </p:txBody>
      </p:sp>
      <p:sp>
        <p:nvSpPr>
          <p:cNvPr id="9" name="Text 4"/>
          <p:cNvSpPr/>
          <p:nvPr/>
        </p:nvSpPr>
        <p:spPr>
          <a:xfrm>
            <a:off x="7863840" y="3108960"/>
            <a:ext cx="39776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n=5, 10 paired reps: searched circuits beat the shallow reference on regression tasks (T1 random vs StrongEnt-d2, p_Holm = 0.032).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/ evolutionary / greedy stay statistically indistinguishable from each other on every task.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(descriptive): on T2 the reference degrades with n (median RMSE 0.070 → 0.295 from n=3 to n=8) while searched arms improve (0.102 → 0.050). All 5/5 paired replicates favour search at n=8, but with 5 reps the smallest attainable paired p is 0.0625, so no Holm-corrected significance is claimed.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bar any LLM arm must beat.</a:t>
            </a:r>
            <a:endParaRPr lang="en-US" sz="1100" dirty="0"/>
          </a:p>
        </p:txBody>
      </p:sp>
      <p:sp>
        <p:nvSpPr>
          <p:cNvPr id="10" name="Text 5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cells await LLM_API_BUDGET_USD (slide 10). Sources: data/fig_e2_per_seed.csv · data/fig_e2_anytime.csv · data/fig_e3_scaling.csv · data/matrix_status.csv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83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Selected circuits: resources measured, diagnostics descriptive</a:t>
            </a:r>
            <a:endParaRPr lang="en-US" sz="3000" dirty="0"/>
          </a:p>
        </p:txBody>
      </p:sp>
      <p:pic>
        <p:nvPicPr>
          <p:cNvPr id="4" name="Image 0" descr="/Users/hatanakatomoya/Developer/Sim/llm-vqc/.claude/worktrees/github-author-config-faee6e/docs/presentation/bench_v2_weekly/figures/fig_e2_resourc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08760"/>
            <a:ext cx="7406640" cy="2788920"/>
          </a:xfrm>
          <a:prstGeom prst="rect">
            <a:avLst/>
          </a:prstGeom>
        </p:spPr>
      </p:pic>
      <p:pic>
        <p:nvPicPr>
          <p:cNvPr id="5" name="Image 1" descr="/Users/hatanakatomoya/Developer/Sim/llm-vqc/.claude/worktrees/github-author-config-faee6e/docs/presentation/bench_v2_weekly/figures/fig_e2_diagnostic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508760"/>
            <a:ext cx="3794760" cy="27889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4572000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CADCFC">
              <a:alpha val="38000"/>
            </a:srgbClr>
          </a:solidFill>
          <a:ln w="9525">
            <a:solidFill>
              <a:srgbClr val="D8DDE8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822960" y="4736592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is bought with hardware cost: </a:t>
            </a:r>
            <a:pPr indent="0" marL="0">
              <a:buNone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searched circuits use ~3–10× the transpiled 2-qubit gates of the fixed references (line coupling, fixed seed) — the Pareto view is part of the final analysis. </a:t>
            </a:r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Diagnostics characterize circuits; they are not assumed to predict task performance</a:t>
            </a:r>
            <a:pPr indent="0" marL="0">
              <a:buNone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(Sim et al. framing; RQ5 tests the association empirically, with circuit-size controls). Expressibility KL + Meyer–Wallach Q computed for the 28 best-validation selected circuits. Shot-noise and noisy-simulator robustness (E4): pending — runs after the full matrix.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data/fig_e2_resources.csv · data/fig_e2_diagnostics.csv (KL/Q per circuit)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1371600"/>
            <a:ext cx="10332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matrix is done: 460 / 460 cells, 0 failures, n=8 actually simulated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real-LLM matrix (220 cells, both tracks) once budget is authorized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dependent analyses: E5 θ-isolation, E4 shot/noise robustness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Regenerate final paper-style figures + statistical report from stores (goal checker must exit 0)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mentor update: full budget-matched LLM-vs-classical comparison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3977640"/>
            <a:ext cx="1051560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9050">
            <a:solidFill>
              <a:srgbClr val="C44E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4160520"/>
            <a:ext cx="99669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needed — API budget authorization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LLM_API_BUDGET_USD is not set, so all real-LLM cells are blocked by policy: an API key alone is not spending authorization, and a Claude Max subscription does not authorize experiment API spending.</a:t>
            </a:r>
            <a:endParaRPr lang="en-US" sz="1600" dirty="0"/>
          </a:p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Suggested cap 120 (conservative $0.05/call reservation, hard 40-call/cell cap); expected actual cost ≈ $5–20 on a mini-class model. One-line resume command in docs/research/BLOCKED.md.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63550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All slide numbers trace to durable stores · sources in docs/presentation/bench_v2_weekly/data/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2026-07-30T15:52:08Z</dcterms:created>
  <dcterms:modified xsi:type="dcterms:W3CDTF">2026-07-30T15:52:08Z</dcterms:modified>
</cp:coreProperties>
</file>