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framing: this is an interim update. The classical half of the benchmark is finished, the LLM half has not run yet because it needs API spending approval. VQC = variational quantum circuit; QAS = quantum architecture search. Everything shown is generated from durable stores at commit da6ef34.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question compares search strategies at equal budget. The secondary question asks whether searching is worth it at all versus a textbook fixed ansatz. Be careful with the literature claim: I am not asserting that prior papers lack replication in general. The verified gap is narrower — nobody isolates the proposal strategy against budget-matched classical search with paired seeds and a protected test. That is the hole this benchmark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A 32-point signal is L2-normalised once, inside PennyLane's AmplitudeEmbedding, and loaded into 5 qubits. The searched body is the only thing that differs between methods. We measure Pauli-Z on qubit 0 and map it to a prediction in [0,1]. Crucially there are zero classical trainable parameters — no dense head can compensate for a bad circuit. Amplitude encoding removes global scale, which is why every task target is a shape parameter, never an absolute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tasks, all synthetic so I control difficulty and leakage. T1 regress the Gaussian peak position, T2 the sinusoid frequency below the Nyquist limit, T3 a change-point location, T4 one peak versus two peaks. Every signal has exactly 2^n points. Nuisance parameters are randomised so the label cannot be read off a fixed amplitude convention. No image datasets are used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split is the methodological core. In Track A every arm proposes only a structure and one shared trainer fits the angles, so a win means the architecture is better. In Track B the proposer also supplies the angles and they are used verbatim, which tests a different skill. Without the split, a lucky set of angles would look like a good architecture. Note what is not matched: wall-clock, FLOPs and tokens differ, and fixed references do not consume a search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E0 replays the February pilot offline and reproduces it exactly with zero API calls. E1 is the joint track, E2 the main n=5 architecture search, E3 the qubit-scaling study. All 460 classical cells finished with no failures. The 220 LLM cells are blocked by spending policy, and E4 and E5 depend on them, so they are pending too. The completion checker still reports 9 of 17 criteria — it fails correctly and I did not weaken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each line joins one replicate's searched circuit to the fixed reference on the same data and search seed. Right: the paired contrasts with Holm-adjusted p-values and Cliff's delta. Two messages. First, the three search strategies are not separated by this experiment — smallest adjusted p is 0.071. I say no difference was detected, not that they are equivalent; with ten replicates I cannot rule out small effects. Second, versus a shallow reference searching does pay, but versus the strongest reference the advantage is task 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panels: 5 paired replicates per point, faint dots are individual replicates, the line is the median. On T2 the fixed reference is actually better at 3 qubits and then degrades steadily, while the searched arms improve — a crossover, not a uniform win. Be explicit about the statistics: five replicates cap the smallest achievable p-value at 0.0625, so Holm correction makes significance unreachable by construction. I therefore call this descriptive. And say clearly: this is exact statevector simulation, not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predictive error against compiled two-qubit gate count for T1. The references sit far left — cheap but mostly worse. Searched circuits cluster low and right: better error, three to twenty times more entangling gates. Call it a resource proxy, not hardware cost: it excludes state preparation, which is common to all arms, and it is a transpiler estimate under a fixed line coupling, not a device measurement. Right: the 28 diagnostic circuits are the best-validation replicate for each of 4 tasks times 7 arms. Expressibility and entangling capability are descriptors — I am not claiming they predict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honest answer: the headline question is not answered yet. What I can defend is the classical baseline and the machinery around it. The ask is approval of a hard cap, because the cap is what the code actually enforces. 1,480 expected calls at the conservative five-cent reservation is $74; the per-cell 40-call guard bounds the absolute worst case at $440, so a $120 cap covers the expected run with headroom and still stops a runaway. The model is not pinned yet, so I show per-model estimates in the appendix rather than quoting one number. If the cap binds mid-run, cells resume from their stores — no work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822960" y="1417320"/>
            <a:ext cx="1060704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LLM-Guided VQC Design</a:t>
            </a:r>
            <a:endParaRPr lang="en-US" sz="4400" dirty="0"/>
          </a:p>
        </p:txBody>
      </p:sp>
      <p:sp>
        <p:nvSpPr>
          <p:cNvPr id="3" name="Text 1"/>
          <p:cNvSpPr/>
          <p:nvPr/>
        </p:nvSpPr>
        <p:spPr>
          <a:xfrm>
            <a:off x="822960" y="2240280"/>
            <a:ext cx="10607040" cy="640080"/>
          </a:xfrm>
          <a:prstGeom prst="rect">
            <a:avLst/>
          </a:prstGeom>
          <a:noFill/>
          <a:ln/>
        </p:spPr>
        <p:txBody>
          <a:bodyPr wrap="square" lIns="0" tIns="0" rIns="0" bIns="0" rtlCol="0" anchor="ctr"/>
          <a:lstStyle/>
          <a:p>
            <a:pPr indent="0" marL="0">
              <a:buNone/>
            </a:pPr>
            <a:r>
              <a:rPr lang="en-US" sz="3000" dirty="0">
                <a:solidFill>
                  <a:srgbClr val="C9D6E8"/>
                </a:solidFill>
                <a:latin typeface="Arial" pitchFamily="34" charset="0"/>
                <a:ea typeface="Arial" pitchFamily="34" charset="-122"/>
                <a:cs typeface="Arial" pitchFamily="34" charset="-120"/>
              </a:rPr>
              <a:t>Building a Rigorous, Budget-Matched Benchmark</a:t>
            </a:r>
            <a:endParaRPr lang="en-US" sz="3000" dirty="0"/>
          </a:p>
        </p:txBody>
      </p:sp>
      <p:sp>
        <p:nvSpPr>
          <p:cNvPr id="4" name="Shape 2"/>
          <p:cNvSpPr/>
          <p:nvPr/>
        </p:nvSpPr>
        <p:spPr>
          <a:xfrm>
            <a:off x="822960" y="3246120"/>
            <a:ext cx="10561320" cy="777240"/>
          </a:xfrm>
          <a:prstGeom prst="roundRect">
            <a:avLst>
              <a:gd name="adj" fmla="val 11765"/>
            </a:avLst>
          </a:prstGeom>
          <a:solidFill>
            <a:srgbClr val="FFFFFF">
              <a:alpha val="12000"/>
            </a:srgbClr>
          </a:solidFill>
          <a:ln w="12700">
            <a:solidFill>
              <a:srgbClr val="8FA6C4"/>
            </a:solidFill>
            <a:prstDash val="solid"/>
          </a:ln>
        </p:spPr>
      </p:sp>
      <p:sp>
        <p:nvSpPr>
          <p:cNvPr id="5" name="Text 3"/>
          <p:cNvSpPr/>
          <p:nvPr/>
        </p:nvSpPr>
        <p:spPr>
          <a:xfrm>
            <a:off x="1051560" y="3310128"/>
            <a:ext cx="10058400" cy="6400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Interim update — </a:t>
            </a:r>
            <a:pPr indent="0" marL="0">
              <a:buNone/>
            </a:pPr>
            <a:r>
              <a:rPr lang="en-US" sz="2000" dirty="0">
                <a:solidFill>
                  <a:srgbClr val="FFFFFF"/>
                </a:solidFill>
                <a:latin typeface="Arial" pitchFamily="34" charset="0"/>
                <a:ea typeface="Arial" pitchFamily="34" charset="-122"/>
                <a:cs typeface="Arial" pitchFamily="34" charset="-120"/>
              </a:rPr>
              <a:t>classical baselines complete; real-LLM evaluation pending budget approval</a:t>
            </a:r>
            <a:endParaRPr lang="en-US" sz="2000" dirty="0"/>
          </a:p>
        </p:txBody>
      </p:sp>
      <p:sp>
        <p:nvSpPr>
          <p:cNvPr id="6" name="Text 4"/>
          <p:cNvSpPr/>
          <p:nvPr/>
        </p:nvSpPr>
        <p:spPr>
          <a:xfrm>
            <a:off x="822960" y="4617720"/>
            <a:ext cx="10607040" cy="1371600"/>
          </a:xfrm>
          <a:prstGeom prst="rect">
            <a:avLst/>
          </a:prstGeom>
          <a:noFill/>
          <a:ln/>
        </p:spPr>
        <p:txBody>
          <a:bodyPr wrap="square" lIns="0" tIns="0" rIns="0" bIns="0" rtlCol="0" anchor="ctr"/>
          <a:lstStyle/>
          <a:p>
            <a:pPr indent="0" marL="0">
              <a:buNone/>
            </a:pPr>
            <a:r>
              <a:rPr lang="en-US" sz="2000" b="1" dirty="0">
                <a:solidFill>
                  <a:srgbClr val="C9D6E8"/>
                </a:solidFill>
                <a:latin typeface="Arial" pitchFamily="34" charset="0"/>
                <a:ea typeface="Arial" pitchFamily="34" charset="-122"/>
                <a:cs typeface="Arial" pitchFamily="34" charset="-120"/>
              </a:rPr>
              <a:t>Tomoya Hatanaka</a:t>
            </a:r>
            <a:endParaRPr lang="en-US" sz="2000" dirty="0"/>
          </a:p>
          <a:p>
            <a:pPr indent="0" marL="0">
              <a:buNone/>
            </a:pPr>
            <a:r>
              <a:rPr lang="en-US" sz="2000" dirty="0">
                <a:solidFill>
                  <a:srgbClr val="C9D6E8"/>
                </a:solidFill>
                <a:latin typeface="Arial" pitchFamily="34" charset="0"/>
                <a:ea typeface="Arial" pitchFamily="34" charset="-122"/>
                <a:cs typeface="Arial" pitchFamily="34" charset="-120"/>
              </a:rPr>
              <a:t>ML4SCI / Google Summer of Code 2026</a:t>
            </a:r>
            <a:endParaRPr lang="en-US" sz="2000" dirty="0"/>
          </a:p>
          <a:p>
            <a:pPr indent="0" marL="0">
              <a:buNone/>
            </a:pPr>
            <a:r>
              <a:rPr lang="en-US" sz="1600" dirty="0">
                <a:solidFill>
                  <a:srgbClr val="C9D6E8"/>
                </a:solidFill>
                <a:latin typeface="Arial" pitchFamily="34" charset="0"/>
                <a:ea typeface="Arial" pitchFamily="34" charset="-122"/>
                <a:cs typeface="Arial" pitchFamily="34" charset="-120"/>
              </a:rPr>
              <a:t>July 31, 2026  ·  base commit da6ef34  ·  presentation/rebuild-gsoc-benchmark-v2</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QUESTION</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Does LLM guidance actually help — compared with what?</a:t>
            </a:r>
            <a:endParaRPr lang="en-US" sz="3000" dirty="0"/>
          </a:p>
        </p:txBody>
      </p:sp>
      <p:sp>
        <p:nvSpPr>
          <p:cNvPr id="4" name="Shape 2"/>
          <p:cNvSpPr/>
          <p:nvPr/>
        </p:nvSpPr>
        <p:spPr>
          <a:xfrm>
            <a:off x="548640" y="1417320"/>
            <a:ext cx="5486400" cy="1691640"/>
          </a:xfrm>
          <a:prstGeom prst="roundRect">
            <a:avLst>
              <a:gd name="adj" fmla="val 5405"/>
            </a:avLst>
          </a:prstGeom>
          <a:solidFill>
            <a:srgbClr val="EFF3F9"/>
          </a:solidFill>
          <a:ln w="15240">
            <a:solidFill>
              <a:srgbClr val="1E3A5F"/>
            </a:solidFill>
            <a:prstDash val="solid"/>
          </a:ln>
        </p:spPr>
      </p:sp>
      <p:sp>
        <p:nvSpPr>
          <p:cNvPr id="5" name="Text 3"/>
          <p:cNvSpPr/>
          <p:nvPr/>
        </p:nvSpPr>
        <p:spPr>
          <a:xfrm>
            <a:off x="777240" y="1572768"/>
            <a:ext cx="5029200" cy="1371600"/>
          </a:xfrm>
          <a:prstGeom prst="rect">
            <a:avLst/>
          </a:prstGeom>
          <a:noFill/>
          <a:ln/>
        </p:spPr>
        <p:txBody>
          <a:bodyPr wrap="square" lIns="0" tIns="0" rIns="0" bIns="0" rtlCol="0" anchor="t"/>
          <a:lstStyle/>
          <a:p>
            <a:pPr indent="0" marL="0">
              <a:buNone/>
            </a:pPr>
            <a:r>
              <a:rPr lang="en-US" sz="1800" b="1" dirty="0">
                <a:solidFill>
                  <a:srgbClr val="B3261E"/>
                </a:solidFill>
                <a:latin typeface="Arial" pitchFamily="34" charset="0"/>
                <a:ea typeface="Arial" pitchFamily="34" charset="-122"/>
                <a:cs typeface="Arial" pitchFamily="34" charset="-120"/>
              </a:rPr>
              <a:t>Primary
</a:t>
            </a:r>
            <a:pPr indent="0" marL="0">
              <a:buNone/>
            </a:pPr>
            <a:r>
              <a:rPr lang="en-US" sz="2000" dirty="0">
                <a:solidFill>
                  <a:srgbClr val="1A1A2E"/>
                </a:solidFill>
                <a:latin typeface="Arial" pitchFamily="34" charset="0"/>
                <a:ea typeface="Arial" pitchFamily="34" charset="-122"/>
                <a:cs typeface="Arial" pitchFamily="34" charset="-120"/>
              </a:rPr>
              <a:t>At the same unique-candidate evaluation budget, does LLM-guided search beat random, evolutionary and greedy search?</a:t>
            </a:r>
            <a:endParaRPr lang="en-US" sz="1800" dirty="0"/>
          </a:p>
        </p:txBody>
      </p:sp>
      <p:sp>
        <p:nvSpPr>
          <p:cNvPr id="6" name="Shape 4"/>
          <p:cNvSpPr/>
          <p:nvPr/>
        </p:nvSpPr>
        <p:spPr>
          <a:xfrm>
            <a:off x="6172200" y="1417320"/>
            <a:ext cx="5486400" cy="1691640"/>
          </a:xfrm>
          <a:prstGeom prst="roundRect">
            <a:avLst>
              <a:gd name="adj" fmla="val 5405"/>
            </a:avLst>
          </a:prstGeom>
          <a:solidFill>
            <a:srgbClr val="F5F6F8"/>
          </a:solidFill>
          <a:ln w="15240">
            <a:solidFill>
              <a:srgbClr val="51566B"/>
            </a:solidFill>
            <a:prstDash val="solid"/>
          </a:ln>
        </p:spPr>
      </p:sp>
      <p:sp>
        <p:nvSpPr>
          <p:cNvPr id="7" name="Text 5"/>
          <p:cNvSpPr/>
          <p:nvPr/>
        </p:nvSpPr>
        <p:spPr>
          <a:xfrm>
            <a:off x="6400800" y="1572768"/>
            <a:ext cx="5029200" cy="1371600"/>
          </a:xfrm>
          <a:prstGeom prst="rect">
            <a:avLst/>
          </a:prstGeom>
          <a:noFill/>
          <a:ln/>
        </p:spPr>
        <p:txBody>
          <a:bodyPr wrap="square" lIns="0" tIns="0" rIns="0" bIns="0" rtlCol="0" anchor="t"/>
          <a:lstStyle/>
          <a:p>
            <a:pPr indent="0" marL="0">
              <a:buNone/>
            </a:pPr>
            <a:r>
              <a:rPr lang="en-US" sz="1800" b="1" dirty="0">
                <a:solidFill>
                  <a:srgbClr val="51566B"/>
                </a:solidFill>
                <a:latin typeface="Arial" pitchFamily="34" charset="0"/>
                <a:ea typeface="Arial" pitchFamily="34" charset="-122"/>
                <a:cs typeface="Arial" pitchFamily="34" charset="-120"/>
              </a:rPr>
              <a:t>Secondary
</a:t>
            </a:r>
            <a:pPr indent="0" marL="0">
              <a:buNone/>
            </a:pPr>
            <a:r>
              <a:rPr lang="en-US" sz="2000" dirty="0">
                <a:solidFill>
                  <a:srgbClr val="1A1A2E"/>
                </a:solidFill>
                <a:latin typeface="Arial" pitchFamily="34" charset="0"/>
                <a:ea typeface="Arial" pitchFamily="34" charset="-122"/>
                <a:cs typeface="Arial" pitchFamily="34" charset="-120"/>
              </a:rPr>
              <a:t>How do the selected circuits compare with fixed reference ansätze in predictive error and compiled resource cost?</a:t>
            </a:r>
            <a:endParaRPr lang="en-US" sz="1800" dirty="0"/>
          </a:p>
        </p:txBody>
      </p:sp>
      <p:sp>
        <p:nvSpPr>
          <p:cNvPr id="8" name="Text 6"/>
          <p:cNvSpPr/>
          <p:nvPr/>
        </p:nvSpPr>
        <p:spPr>
          <a:xfrm>
            <a:off x="640080" y="3429000"/>
            <a:ext cx="10972800" cy="237744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1A1A2E"/>
                </a:solidFill>
                <a:latin typeface="Arial" pitchFamily="34" charset="0"/>
                <a:ea typeface="Arial" pitchFamily="34" charset="-122"/>
                <a:cs typeface="Arial" pitchFamily="34" charset="-120"/>
              </a:rPr>
              <a:t>Budget matching applies to the search arms. Fixed ansätze are anchors: they are evaluated through the identical training and test pipeline, but they do not run a search.</a:t>
            </a:r>
            <a:endParaRPr lang="en-US" sz="2000" dirty="0"/>
          </a:p>
          <a:p>
            <a:pPr marL="342900" indent="-342900">
              <a:spcAft>
                <a:spcPts val="1400"/>
              </a:spcAft>
              <a:buSzPct val="100000"/>
              <a:buChar char="•"/>
            </a:pPr>
            <a:r>
              <a:rPr lang="en-US" sz="2000" dirty="0">
                <a:solidFill>
                  <a:srgbClr val="1A1A2E"/>
                </a:solidFill>
                <a:latin typeface="Arial" pitchFamily="34" charset="0"/>
                <a:ea typeface="Arial" pitchFamily="34" charset="-122"/>
                <a:cs typeface="Arial" pitchFamily="34" charset="-120"/>
              </a:rPr>
              <a:t>Anytime improvement alone proves nothing — random search also improves with more evaluations.</a:t>
            </a:r>
            <a:endParaRPr lang="en-US" sz="2000" dirty="0"/>
          </a:p>
          <a:p>
            <a:pPr marL="342900" indent="-342900">
              <a:spcAft>
                <a:spcPts val="1400"/>
              </a:spcAft>
              <a:buSzPct val="100000"/>
              <a:buChar char="•"/>
            </a:pPr>
            <a:r>
              <a:rPr lang="en-US" sz="2000" dirty="0">
                <a:solidFill>
                  <a:srgbClr val="1A1A2E"/>
                </a:solidFill>
                <a:latin typeface="Arial" pitchFamily="34" charset="0"/>
                <a:ea typeface="Arial" pitchFamily="34" charset="-122"/>
                <a:cs typeface="Arial" pitchFamily="34" charset="-120"/>
              </a:rPr>
              <a:t>Gap addressed here: prior agentic-VQC work demonstrates feasibility, but does not isolate the value of the proposal strategy against budget-matched classical search with paired replicates and a protected final test.</a:t>
            </a:r>
            <a:endParaRPr lang="en-US" sz="2000" dirty="0"/>
          </a:p>
        </p:txBody>
      </p:sp>
      <p:sp>
        <p:nvSpPr>
          <p:cNvPr id="9" name="Text 7"/>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Literature basis: docs/research/LITERATURE_REVIEW_QAS.md · claim C8</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WHAT IS MEASURED</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One pipeline; only the searched body changes</a:t>
            </a:r>
            <a:endParaRPr lang="en-US" sz="3000" dirty="0"/>
          </a:p>
        </p:txBody>
      </p:sp>
      <p:pic>
        <p:nvPicPr>
          <p:cNvPr id="4" name="Image 0" descr="/Users/hatanakatomoya/Developer/Sim/llm-vqc/.claude/worktrees/github-author-config-faee6e/docs/presentation/bench_v2_weekly_revised/figures/fig_pipeline.png">    </p:cNvPr>
          <p:cNvPicPr>
            <a:picLocks noChangeAspect="1"/>
          </p:cNvPicPr>
          <p:nvPr/>
        </p:nvPicPr>
        <p:blipFill>
          <a:blip r:embed="rId1"/>
          <a:stretch>
            <a:fillRect/>
          </a:stretch>
        </p:blipFill>
        <p:spPr>
          <a:xfrm>
            <a:off x="502920" y="1600200"/>
            <a:ext cx="11155680" cy="2496312"/>
          </a:xfrm>
          <a:prstGeom prst="rect">
            <a:avLst/>
          </a:prstGeom>
        </p:spPr>
      </p:pic>
      <p:sp>
        <p:nvSpPr>
          <p:cNvPr id="5" name="Text 2"/>
          <p:cNvSpPr/>
          <p:nvPr/>
        </p:nvSpPr>
        <p:spPr>
          <a:xfrm>
            <a:off x="640080" y="4315968"/>
            <a:ext cx="10972800" cy="1920240"/>
          </a:xfrm>
          <a:prstGeom prst="rect">
            <a:avLst/>
          </a:prstGeom>
          <a:noFill/>
          <a:ln/>
        </p:spPr>
        <p:txBody>
          <a:bodyPr wrap="square" lIns="0" tIns="0" rIns="0" bIns="0" rtlCol="0" anchor="t"/>
          <a:lstStyle/>
          <a:p>
            <a:pPr marL="342900" indent="-342900">
              <a:spcAft>
                <a:spcPts val="1100"/>
              </a:spcAft>
              <a:buSzPct val="100000"/>
              <a:buChar char="•"/>
            </a:pPr>
            <a:r>
              <a:rPr lang="en-US" sz="1900" dirty="0">
                <a:solidFill>
                  <a:srgbClr val="1A1A2E"/>
                </a:solidFill>
                <a:latin typeface="Arial" pitchFamily="34" charset="0"/>
                <a:ea typeface="Arial" pitchFamily="34" charset="-122"/>
                <a:cs typeface="Arial" pitchFamily="34" charset="-120"/>
              </a:rPr>
              <a:t>A length-2ⁿ signal fills the amplitudes of n qubits exactly — no padding, no truncation.</a:t>
            </a:r>
            <a:endParaRPr lang="en-US" sz="1900" dirty="0"/>
          </a:p>
          <a:p>
            <a:pPr marL="342900" indent="-342900">
              <a:spcAft>
                <a:spcPts val="1100"/>
              </a:spcAft>
              <a:buSzPct val="100000"/>
              <a:buChar char="•"/>
            </a:pPr>
            <a:r>
              <a:rPr lang="en-US" sz="1900" dirty="0">
                <a:solidFill>
                  <a:srgbClr val="1A1A2E"/>
                </a:solidFill>
                <a:latin typeface="Arial" pitchFamily="34" charset="0"/>
                <a:ea typeface="Arial" pitchFamily="34" charset="-122"/>
                <a:cs typeface="Arial" pitchFamily="34" charset="-120"/>
              </a:rPr>
              <a:t>Zero classical parameters: no trainable dense layer anywhere, so a weak circuit cannot be rescued by a classical head.</a:t>
            </a:r>
            <a:endParaRPr lang="en-US" sz="1900" dirty="0"/>
          </a:p>
          <a:p>
            <a:pPr marL="342900" indent="-342900">
              <a:spcAft>
                <a:spcPts val="1100"/>
              </a:spcAft>
              <a:buSzPct val="100000"/>
              <a:buChar char="•"/>
            </a:pPr>
            <a:r>
              <a:rPr lang="en-US" sz="1900" dirty="0">
                <a:solidFill>
                  <a:srgbClr val="1A1A2E"/>
                </a:solidFill>
                <a:latin typeface="Arial" pitchFamily="34" charset="0"/>
                <a:ea typeface="Arial" pitchFamily="34" charset="-122"/>
                <a:cs typeface="Arial" pitchFamily="34" charset="-120"/>
              </a:rPr>
              <a:t>The protected test set is touched once, after selection on validation data.</a:t>
            </a:r>
            <a:endParaRPr lang="en-US" sz="1900" dirty="0"/>
          </a:p>
        </p:txBody>
      </p:sp>
      <p:sp>
        <p:nvSpPr>
          <p:cNvPr id="6"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Implementation: llm_vqc/free_amplitude/model.py · llm_vqc/ir/compiler_pennylane.py</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TASKS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Four controlled signal tasks, sized for amplitude encoding</a:t>
            </a:r>
            <a:endParaRPr lang="en-US" sz="3000" dirty="0"/>
          </a:p>
        </p:txBody>
      </p:sp>
      <p:pic>
        <p:nvPicPr>
          <p:cNvPr id="4" name="Image 0" descr="/Users/hatanakatomoya/Developer/Sim/llm-vqc/.claude/worktrees/github-author-config-faee6e/docs/presentation/bench_v2_weekly_revised/figures/fig_tasks.png">    </p:cNvPr>
          <p:cNvPicPr>
            <a:picLocks noChangeAspect="1"/>
          </p:cNvPicPr>
          <p:nvPr/>
        </p:nvPicPr>
        <p:blipFill>
          <a:blip r:embed="rId1"/>
          <a:stretch>
            <a:fillRect/>
          </a:stretch>
        </p:blipFill>
        <p:spPr>
          <a:xfrm>
            <a:off x="822960" y="1417320"/>
            <a:ext cx="7406640" cy="3246120"/>
          </a:xfrm>
          <a:prstGeom prst="rect">
            <a:avLst/>
          </a:prstGeom>
        </p:spPr>
      </p:pic>
      <p:sp>
        <p:nvSpPr>
          <p:cNvPr id="5" name="Text 2"/>
          <p:cNvSpPr/>
          <p:nvPr/>
        </p:nvSpPr>
        <p:spPr>
          <a:xfrm>
            <a:off x="8458200" y="1481328"/>
            <a:ext cx="3246120" cy="1097280"/>
          </a:xfrm>
          <a:prstGeom prst="rect">
            <a:avLst/>
          </a:prstGeom>
          <a:noFill/>
          <a:ln/>
        </p:spPr>
        <p:txBody>
          <a:bodyPr wrap="square" lIns="0" tIns="0" rIns="0" bIns="0" rtlCol="0" anchor="t"/>
          <a:lstStyle/>
          <a:p>
            <a:pPr indent="0" marL="0">
              <a:buNone/>
            </a:pPr>
            <a:r>
              <a:rPr lang="en-US" sz="1900" b="1" dirty="0">
                <a:solidFill>
                  <a:srgbClr val="1E3A5F"/>
                </a:solidFill>
                <a:latin typeface="Arial" pitchFamily="34" charset="0"/>
                <a:ea typeface="Arial" pitchFamily="34" charset="-122"/>
                <a:cs typeface="Arial" pitchFamily="34" charset="-120"/>
              </a:rPr>
              <a:t>2ⁿ points exactly
</a:t>
            </a:r>
            <a:pPr indent="0" marL="0">
              <a:buNone/>
            </a:pPr>
            <a:r>
              <a:rPr lang="en-US" sz="1700" dirty="0">
                <a:solidFill>
                  <a:srgbClr val="51566B"/>
                </a:solidFill>
                <a:latin typeface="Arial" pitchFamily="34" charset="0"/>
                <a:ea typeface="Arial" pitchFamily="34" charset="-122"/>
                <a:cs typeface="Arial" pitchFamily="34" charset="-120"/>
              </a:rPr>
              <a:t>32 values at n=5; the signal is the amplitude vector.</a:t>
            </a:r>
            <a:endParaRPr lang="en-US" sz="1900" dirty="0"/>
          </a:p>
        </p:txBody>
      </p:sp>
      <p:sp>
        <p:nvSpPr>
          <p:cNvPr id="6" name="Text 3"/>
          <p:cNvSpPr/>
          <p:nvPr/>
        </p:nvSpPr>
        <p:spPr>
          <a:xfrm>
            <a:off x="8458200" y="2651760"/>
            <a:ext cx="3246120" cy="1097280"/>
          </a:xfrm>
          <a:prstGeom prst="rect">
            <a:avLst/>
          </a:prstGeom>
          <a:noFill/>
          <a:ln/>
        </p:spPr>
        <p:txBody>
          <a:bodyPr wrap="square" lIns="0" tIns="0" rIns="0" bIns="0" rtlCol="0" anchor="t"/>
          <a:lstStyle/>
          <a:p>
            <a:pPr indent="0" marL="0">
              <a:buNone/>
            </a:pPr>
            <a:r>
              <a:rPr lang="en-US" sz="1900" b="1" dirty="0">
                <a:solidFill>
                  <a:srgbClr val="1E3A5F"/>
                </a:solidFill>
                <a:latin typeface="Arial" pitchFamily="34" charset="0"/>
                <a:ea typeface="Arial" pitchFamily="34" charset="-122"/>
                <a:cs typeface="Arial" pitchFamily="34" charset="-120"/>
              </a:rPr>
              <a:t>Nuisances randomised
</a:t>
            </a:r>
            <a:pPr indent="0" marL="0">
              <a:buNone/>
            </a:pPr>
            <a:r>
              <a:rPr lang="en-US" sz="1700" dirty="0">
                <a:solidFill>
                  <a:srgbClr val="51566B"/>
                </a:solidFill>
                <a:latin typeface="Arial" pitchFamily="34" charset="0"/>
                <a:ea typeface="Arial" pitchFamily="34" charset="-122"/>
                <a:cs typeface="Arial" pitchFamily="34" charset="-120"/>
              </a:rPr>
              <a:t>Amplitude, phase, baseline, width and noise vary, so no fixed convention leaks the label.</a:t>
            </a:r>
            <a:endParaRPr lang="en-US" sz="1900" dirty="0"/>
          </a:p>
        </p:txBody>
      </p:sp>
      <p:sp>
        <p:nvSpPr>
          <p:cNvPr id="7" name="Text 4"/>
          <p:cNvSpPr/>
          <p:nvPr/>
        </p:nvSpPr>
        <p:spPr>
          <a:xfrm>
            <a:off x="8458200" y="3822192"/>
            <a:ext cx="3246120" cy="1097280"/>
          </a:xfrm>
          <a:prstGeom prst="rect">
            <a:avLst/>
          </a:prstGeom>
          <a:noFill/>
          <a:ln/>
        </p:spPr>
        <p:txBody>
          <a:bodyPr wrap="square" lIns="0" tIns="0" rIns="0" bIns="0" rtlCol="0" anchor="t"/>
          <a:lstStyle/>
          <a:p>
            <a:pPr indent="0" marL="0">
              <a:buNone/>
            </a:pPr>
            <a:r>
              <a:rPr lang="en-US" sz="1900" b="1" dirty="0">
                <a:solidFill>
                  <a:srgbClr val="1E3A5F"/>
                </a:solidFill>
                <a:latin typeface="Arial" pitchFamily="34" charset="0"/>
                <a:ea typeface="Arial" pitchFamily="34" charset="-122"/>
                <a:cs typeface="Arial" pitchFamily="34" charset="-120"/>
              </a:rPr>
              <a:t>Scaling
</a:t>
            </a:r>
            <a:pPr indent="0" marL="0">
              <a:buNone/>
            </a:pPr>
            <a:r>
              <a:rPr lang="en-US" sz="1700" dirty="0">
                <a:solidFill>
                  <a:srgbClr val="51566B"/>
                </a:solidFill>
                <a:latin typeface="Arial" pitchFamily="34" charset="0"/>
                <a:ea typeface="Arial" pitchFamily="34" charset="-122"/>
                <a:cs typeface="Arial" pitchFamily="34" charset="-120"/>
              </a:rPr>
              <a:t>T1 and T2 also run at n = 3, 4, 6 and 8.</a:t>
            </a:r>
            <a:endParaRPr lang="en-US" sz="1900" dirty="0"/>
          </a:p>
        </p:txBody>
      </p:sp>
      <p:sp>
        <p:nvSpPr>
          <p:cNvPr id="8" name="Text 5"/>
          <p:cNvSpPr/>
          <p:nvPr/>
        </p:nvSpPr>
        <p:spPr>
          <a:xfrm>
            <a:off x="8458200" y="4992624"/>
            <a:ext cx="3246120" cy="1097280"/>
          </a:xfrm>
          <a:prstGeom prst="rect">
            <a:avLst/>
          </a:prstGeom>
          <a:noFill/>
          <a:ln/>
        </p:spPr>
        <p:txBody>
          <a:bodyPr wrap="square" lIns="0" tIns="0" rIns="0" bIns="0" rtlCol="0" anchor="t"/>
          <a:lstStyle/>
          <a:p>
            <a:pPr indent="0" marL="0">
              <a:buNone/>
            </a:pPr>
            <a:r>
              <a:rPr lang="en-US" sz="1900" b="1" dirty="0">
                <a:solidFill>
                  <a:srgbClr val="1E3A5F"/>
                </a:solidFill>
                <a:latin typeface="Arial" pitchFamily="34" charset="0"/>
                <a:ea typeface="Arial" pitchFamily="34" charset="-122"/>
                <a:cs typeface="Arial" pitchFamily="34" charset="-120"/>
              </a:rPr>
              <a:t>Splits
</a:t>
            </a:r>
            <a:pPr indent="0" marL="0">
              <a:buNone/>
            </a:pPr>
            <a:r>
              <a:rPr lang="en-US" sz="1700" dirty="0">
                <a:solidFill>
                  <a:srgbClr val="51566B"/>
                </a:solidFill>
                <a:latin typeface="Arial" pitchFamily="34" charset="0"/>
                <a:ea typeface="Arial" pitchFamily="34" charset="-122"/>
                <a:cs typeface="Arial" pitchFamily="34" charset="-120"/>
              </a:rPr>
              <a:t>256 train / 256 validation / 2048 protected test, per replicate.</a:t>
            </a:r>
            <a:endParaRPr lang="en-US" sz="1900" dirty="0"/>
          </a:p>
        </p:txBody>
      </p:sp>
      <p:sp>
        <p:nvSpPr>
          <p:cNvPr id="9" name="Text 6"/>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Generator: llm_vqc/tasks/signal_suite (frozen signal_suite_v1) · data seed 1000</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FAIRNESS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Two tracks separate architecture quality from angle luck</a:t>
            </a:r>
            <a:endParaRPr lang="en-US" sz="3000" dirty="0"/>
          </a:p>
        </p:txBody>
      </p:sp>
      <p:sp>
        <p:nvSpPr>
          <p:cNvPr id="4" name="Shape 2"/>
          <p:cNvSpPr/>
          <p:nvPr/>
        </p:nvSpPr>
        <p:spPr>
          <a:xfrm>
            <a:off x="548640" y="1417320"/>
            <a:ext cx="5486400" cy="2697480"/>
          </a:xfrm>
          <a:prstGeom prst="roundRect">
            <a:avLst>
              <a:gd name="adj" fmla="val 3390"/>
            </a:avLst>
          </a:prstGeom>
          <a:solidFill>
            <a:srgbClr val="EFF3F9"/>
          </a:solidFill>
          <a:ln w="17780">
            <a:solidFill>
              <a:srgbClr val="1E3A5F"/>
            </a:solidFill>
            <a:prstDash val="solid"/>
          </a:ln>
        </p:spPr>
      </p:sp>
      <p:sp>
        <p:nvSpPr>
          <p:cNvPr id="5" name="Text 3"/>
          <p:cNvSpPr/>
          <p:nvPr/>
        </p:nvSpPr>
        <p:spPr>
          <a:xfrm>
            <a:off x="777240" y="1536192"/>
            <a:ext cx="5029200" cy="384048"/>
          </a:xfrm>
          <a:prstGeom prst="rect">
            <a:avLst/>
          </a:prstGeom>
          <a:noFill/>
          <a:ln/>
        </p:spPr>
        <p:txBody>
          <a:bodyPr wrap="square" lIns="0" tIns="0" rIns="0" bIns="0" rtlCol="0" anchor="ctr"/>
          <a:lstStyle/>
          <a:p>
            <a:pPr indent="0" marL="0">
              <a:buNone/>
            </a:pPr>
            <a:r>
              <a:rPr lang="en-US" sz="2100" b="1" dirty="0">
                <a:solidFill>
                  <a:srgbClr val="1E3A5F"/>
                </a:solidFill>
                <a:latin typeface="Arial" pitchFamily="34" charset="0"/>
                <a:ea typeface="Arial" pitchFamily="34" charset="-122"/>
                <a:cs typeface="Arial" pitchFamily="34" charset="-120"/>
              </a:rPr>
              <a:t>Track A — structure search (primary)</a:t>
            </a:r>
            <a:endParaRPr lang="en-US" sz="2100" dirty="0"/>
          </a:p>
        </p:txBody>
      </p:sp>
      <p:sp>
        <p:nvSpPr>
          <p:cNvPr id="6" name="Text 4"/>
          <p:cNvSpPr/>
          <p:nvPr/>
        </p:nvSpPr>
        <p:spPr>
          <a:xfrm>
            <a:off x="841248" y="2103120"/>
            <a:ext cx="4937760" cy="1920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Arms propose structure only</a:t>
            </a:r>
            <a:endParaRPr lang="en-US" sz="1700" dirty="0"/>
          </a:p>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One shared AdamW loop trains θ: 40 epochs, batch 32, identical for every arm</a:t>
            </a:r>
            <a:endParaRPr lang="en-US" sz="1700" dirty="0"/>
          </a:p>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θ-seed derived from the structural hash, so the same circuit gives the same result in any arm</a:t>
            </a:r>
            <a:endParaRPr lang="en-US" sz="1700" dirty="0"/>
          </a:p>
        </p:txBody>
      </p:sp>
      <p:sp>
        <p:nvSpPr>
          <p:cNvPr id="7" name="Shape 5"/>
          <p:cNvSpPr/>
          <p:nvPr/>
        </p:nvSpPr>
        <p:spPr>
          <a:xfrm>
            <a:off x="6172200" y="1417320"/>
            <a:ext cx="5486400" cy="2697480"/>
          </a:xfrm>
          <a:prstGeom prst="roundRect">
            <a:avLst>
              <a:gd name="adj" fmla="val 3390"/>
            </a:avLst>
          </a:prstGeom>
          <a:solidFill>
            <a:srgbClr val="F4F0F8"/>
          </a:solidFill>
          <a:ln w="17780">
            <a:solidFill>
              <a:srgbClr val="7A4E9E"/>
            </a:solidFill>
            <a:prstDash val="solid"/>
          </a:ln>
        </p:spPr>
      </p:sp>
      <p:sp>
        <p:nvSpPr>
          <p:cNvPr id="8" name="Text 6"/>
          <p:cNvSpPr/>
          <p:nvPr/>
        </p:nvSpPr>
        <p:spPr>
          <a:xfrm>
            <a:off x="6400800" y="1536192"/>
            <a:ext cx="5029200" cy="384048"/>
          </a:xfrm>
          <a:prstGeom prst="rect">
            <a:avLst/>
          </a:prstGeom>
          <a:noFill/>
          <a:ln/>
        </p:spPr>
        <p:txBody>
          <a:bodyPr wrap="square" lIns="0" tIns="0" rIns="0" bIns="0" rtlCol="0" anchor="ctr"/>
          <a:lstStyle/>
          <a:p>
            <a:pPr indent="0" marL="0">
              <a:buNone/>
            </a:pPr>
            <a:r>
              <a:rPr lang="en-US" sz="2100" b="1" dirty="0">
                <a:solidFill>
                  <a:srgbClr val="7A4E9E"/>
                </a:solidFill>
                <a:latin typeface="Arial" pitchFamily="34" charset="0"/>
                <a:ea typeface="Arial" pitchFamily="34" charset="-122"/>
                <a:cs typeface="Arial" pitchFamily="34" charset="-120"/>
              </a:rPr>
              <a:t>Track B — joint proposal (ablation)</a:t>
            </a:r>
            <a:endParaRPr lang="en-US" sz="2100" dirty="0"/>
          </a:p>
        </p:txBody>
      </p:sp>
      <p:sp>
        <p:nvSpPr>
          <p:cNvPr id="9" name="Text 7"/>
          <p:cNvSpPr/>
          <p:nvPr/>
        </p:nvSpPr>
        <p:spPr>
          <a:xfrm>
            <a:off x="6464808" y="2103120"/>
            <a:ext cx="4937760" cy="1920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Candidates carry gates, wires and numeric angles</a:t>
            </a:r>
            <a:endParaRPr lang="en-US" sz="1700" dirty="0"/>
          </a:p>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θ is evaluated verbatim — no optimizer exists on this path</a:t>
            </a:r>
            <a:endParaRPr lang="en-US" sz="1700" dirty="0"/>
          </a:p>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Candidate identity includes θ, so new angles make a new candidate</a:t>
            </a:r>
            <a:endParaRPr lang="en-US" sz="1700" dirty="0"/>
          </a:p>
        </p:txBody>
      </p:sp>
      <p:sp>
        <p:nvSpPr>
          <p:cNvPr id="10" name="Shape 8"/>
          <p:cNvSpPr/>
          <p:nvPr/>
        </p:nvSpPr>
        <p:spPr>
          <a:xfrm>
            <a:off x="548640" y="4343400"/>
            <a:ext cx="11109960" cy="1600200"/>
          </a:xfrm>
          <a:prstGeom prst="roundRect">
            <a:avLst>
              <a:gd name="adj" fmla="val 5714"/>
            </a:avLst>
          </a:prstGeom>
          <a:solidFill>
            <a:srgbClr val="FDF0E4"/>
          </a:solidFill>
          <a:ln w="15240">
            <a:solidFill>
              <a:srgbClr val="B8860B"/>
            </a:solidFill>
            <a:prstDash val="solid"/>
          </a:ln>
        </p:spPr>
      </p:sp>
      <p:sp>
        <p:nvSpPr>
          <p:cNvPr id="11" name="Text 9"/>
          <p:cNvSpPr/>
          <p:nvPr/>
        </p:nvSpPr>
        <p:spPr>
          <a:xfrm>
            <a:off x="777240" y="4480560"/>
            <a:ext cx="10607040" cy="1325880"/>
          </a:xfrm>
          <a:prstGeom prst="rect">
            <a:avLst/>
          </a:prstGeom>
          <a:noFill/>
          <a:ln/>
        </p:spPr>
        <p:txBody>
          <a:bodyPr wrap="square" lIns="0" tIns="0" rIns="0" bIns="0" rtlCol="0" anchor="ctr"/>
          <a:lstStyle/>
          <a:p>
            <a:pPr indent="0" marL="0">
              <a:buNone/>
            </a:pPr>
            <a:r>
              <a:rPr lang="en-US" sz="1900" b="1" dirty="0">
                <a:solidFill>
                  <a:srgbClr val="1A1A2E"/>
                </a:solidFill>
                <a:latin typeface="Arial" pitchFamily="34" charset="0"/>
                <a:ea typeface="Arial" pitchFamily="34" charset="-122"/>
                <a:cs typeface="Arial" pitchFamily="34" charset="-120"/>
              </a:rPr>
              <a:t>Matched across arms: </a:t>
            </a:r>
            <a:pPr indent="0" marL="0">
              <a:buNone/>
            </a:pPr>
            <a:r>
              <a:rPr lang="en-US" sz="1900" dirty="0">
                <a:solidFill>
                  <a:srgbClr val="1A1A2E"/>
                </a:solidFill>
                <a:latin typeface="Arial" pitchFamily="34" charset="0"/>
                <a:ea typeface="Arial" pitchFamily="34" charset="-122"/>
                <a:cs typeface="Arial" pitchFamily="34" charset="-120"/>
              </a:rPr>
              <a:t>unique candidate evaluations, training schedule, data splits, seeds, evaluator, protected-test rule.   </a:t>
            </a:r>
            <a:pPr indent="0" marL="0">
              <a:buNone/>
            </a:pPr>
            <a:r>
              <a:rPr lang="en-US" sz="1900" b="1" dirty="0">
                <a:solidFill>
                  <a:srgbClr val="B3261E"/>
                </a:solidFill>
                <a:latin typeface="Arial" pitchFamily="34" charset="0"/>
                <a:ea typeface="Arial" pitchFamily="34" charset="-122"/>
                <a:cs typeface="Arial" pitchFamily="34" charset="-120"/>
              </a:rPr>
              <a:t>Not matched: </a:t>
            </a:r>
            <a:pPr indent="0" marL="0">
              <a:buNone/>
            </a:pPr>
            <a:r>
              <a:rPr lang="en-US" sz="1900" dirty="0">
                <a:solidFill>
                  <a:srgbClr val="1A1A2E"/>
                </a:solidFill>
                <a:latin typeface="Arial" pitchFamily="34" charset="0"/>
                <a:ea typeface="Arial" pitchFamily="34" charset="-122"/>
                <a:cs typeface="Arial" pitchFamily="34" charset="-120"/>
              </a:rPr>
              <a:t>wall-clock time, training FLOPs, generated tokens — and fixed references run no search at all.</a:t>
            </a:r>
            <a:endParaRPr lang="en-US" sz="1900" dirty="0"/>
          </a:p>
        </p:txBody>
      </p:sp>
      <p:sp>
        <p:nvSpPr>
          <p:cNvPr id="12" name="Text 10"/>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Protocol §5 · runner enforces the budget on unique evaluations only</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PROGRESS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Classical half finished; the LLM half has not started</a:t>
            </a:r>
            <a:endParaRPr lang="en-US" sz="3000" dirty="0"/>
          </a:p>
        </p:txBody>
      </p:sp>
      <p:pic>
        <p:nvPicPr>
          <p:cNvPr id="4" name="Image 0" descr="/Users/hatanakatomoya/Developer/Sim/llm-vqc/.claude/worktrees/github-author-config-faee6e/docs/presentation/bench_v2_weekly_revised/figures/fig_matrix.png">    </p:cNvPr>
          <p:cNvPicPr>
            <a:picLocks noChangeAspect="1"/>
          </p:cNvPicPr>
          <p:nvPr/>
        </p:nvPicPr>
        <p:blipFill>
          <a:blip r:embed="rId1"/>
          <a:stretch>
            <a:fillRect/>
          </a:stretch>
        </p:blipFill>
        <p:spPr>
          <a:xfrm>
            <a:off x="594360" y="1371600"/>
            <a:ext cx="10881360" cy="3703320"/>
          </a:xfrm>
          <a:prstGeom prst="rect">
            <a:avLst/>
          </a:prstGeom>
        </p:spPr>
      </p:pic>
      <p:sp>
        <p:nvSpPr>
          <p:cNvPr id="5" name="Shape 2"/>
          <p:cNvSpPr/>
          <p:nvPr/>
        </p:nvSpPr>
        <p:spPr>
          <a:xfrm>
            <a:off x="594360" y="5257800"/>
            <a:ext cx="10881360" cy="777240"/>
          </a:xfrm>
          <a:prstGeom prst="roundRect">
            <a:avLst>
              <a:gd name="adj" fmla="val 9412"/>
            </a:avLst>
          </a:prstGeom>
          <a:solidFill>
            <a:srgbClr val="EFF3F9"/>
          </a:solidFill>
          <a:ln w="12700">
            <a:solidFill>
              <a:srgbClr val="D5DAE3"/>
            </a:solidFill>
            <a:prstDash val="solid"/>
          </a:ln>
        </p:spPr>
      </p:sp>
      <p:sp>
        <p:nvSpPr>
          <p:cNvPr id="6" name="Text 3"/>
          <p:cNvSpPr/>
          <p:nvPr/>
        </p:nvSpPr>
        <p:spPr>
          <a:xfrm>
            <a:off x="822960" y="5349240"/>
            <a:ext cx="10424160" cy="594360"/>
          </a:xfrm>
          <a:prstGeom prst="rect">
            <a:avLst/>
          </a:prstGeom>
          <a:noFill/>
          <a:ln/>
        </p:spPr>
        <p:txBody>
          <a:bodyPr wrap="square" lIns="0" tIns="0" rIns="0" bIns="0" rtlCol="0" anchor="ctr"/>
          <a:lstStyle/>
          <a:p>
            <a:pPr indent="0" marL="0">
              <a:buNone/>
            </a:pPr>
            <a:r>
              <a:rPr lang="en-US" sz="2000" b="1" dirty="0">
                <a:solidFill>
                  <a:srgbClr val="009E73"/>
                </a:solidFill>
                <a:latin typeface="Arial" pitchFamily="34" charset="0"/>
                <a:ea typeface="Arial" pitchFamily="34" charset="-122"/>
                <a:cs typeface="Arial" pitchFamily="34" charset="-120"/>
              </a:rPr>
              <a:t>460 / 460 classical cells complete, 0 failures</a:t>
            </a:r>
            <a:pPr indent="0" marL="0">
              <a:buNone/>
            </a:pPr>
            <a:r>
              <a:rPr lang="en-US" sz="1900" dirty="0">
                <a:solidFill>
                  <a:srgbClr val="1A1A2E"/>
                </a:solidFill>
                <a:latin typeface="Arial" pitchFamily="34" charset="0"/>
                <a:ea typeface="Arial" pitchFamily="34" charset="-122"/>
                <a:cs typeface="Arial" pitchFamily="34" charset="-120"/>
              </a:rPr>
              <a:t>   ·   0 / 220 real-LLM cells   ·   E4 and E5 depend on them   ·   </a:t>
            </a:r>
            <a:pPr indent="0" marL="0">
              <a:buNone/>
            </a:pPr>
            <a:r>
              <a:rPr lang="en-US" sz="1900" b="1" dirty="0">
                <a:solidFill>
                  <a:srgbClr val="B3261E"/>
                </a:solidFill>
                <a:latin typeface="Arial" pitchFamily="34" charset="0"/>
                <a:ea typeface="Arial" pitchFamily="34" charset="-122"/>
                <a:cs typeface="Arial" pitchFamily="34" charset="-120"/>
              </a:rPr>
              <a:t>the benchmark as a whole is not complete</a:t>
            </a:r>
            <a:endParaRPr lang="en-US" sz="2000" dirty="0"/>
          </a:p>
        </p:txBody>
      </p:sp>
      <p:sp>
        <p:nvSpPr>
          <p:cNvPr id="7" name="Text 4"/>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Counts regenerated from runs/bench_v2/*/cells/*.json · completion checker: 9 of 17 criteria pass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RESULT — 5 QUBITS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Searching helps; which search you use does not</a:t>
            </a:r>
            <a:endParaRPr lang="en-US" sz="3000" dirty="0"/>
          </a:p>
        </p:txBody>
      </p:sp>
      <p:pic>
        <p:nvPicPr>
          <p:cNvPr id="4" name="Image 0" descr="/Users/hatanakatomoya/Developer/Sim/llm-vqc/.claude/worktrees/github-author-config-faee6e/docs/presentation/bench_v2_weekly_revised/figures/fig_e2_main.png">    </p:cNvPr>
          <p:cNvPicPr>
            <a:picLocks noChangeAspect="1"/>
          </p:cNvPicPr>
          <p:nvPr/>
        </p:nvPicPr>
        <p:blipFill>
          <a:blip r:embed="rId1"/>
          <a:stretch>
            <a:fillRect/>
          </a:stretch>
        </p:blipFill>
        <p:spPr>
          <a:xfrm>
            <a:off x="457200" y="1371600"/>
            <a:ext cx="6858000" cy="3840480"/>
          </a:xfrm>
          <a:prstGeom prst="rect">
            <a:avLst/>
          </a:prstGeom>
        </p:spPr>
      </p:pic>
      <p:pic>
        <p:nvPicPr>
          <p:cNvPr id="5" name="Image 1" descr="/Users/hatanakatomoya/Developer/Sim/llm-vqc/.claude/worktrees/github-author-config-faee6e/docs/presentation/bench_v2_weekly_revised/figures/fig_e2_forest.png">    </p:cNvPr>
          <p:cNvPicPr>
            <a:picLocks noChangeAspect="1"/>
          </p:cNvPicPr>
          <p:nvPr/>
        </p:nvPicPr>
        <p:blipFill>
          <a:blip r:embed="rId2"/>
          <a:stretch>
            <a:fillRect/>
          </a:stretch>
        </p:blipFill>
        <p:spPr>
          <a:xfrm>
            <a:off x="7452360" y="1371600"/>
            <a:ext cx="4343400" cy="2724912"/>
          </a:xfrm>
          <a:prstGeom prst="rect">
            <a:avLst/>
          </a:prstGeom>
        </p:spPr>
      </p:pic>
      <p:sp>
        <p:nvSpPr>
          <p:cNvPr id="6" name="Text 2"/>
          <p:cNvSpPr/>
          <p:nvPr/>
        </p:nvSpPr>
        <p:spPr>
          <a:xfrm>
            <a:off x="7452360" y="4297680"/>
            <a:ext cx="438912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1A2E"/>
                </a:solidFill>
                <a:latin typeface="Arial" pitchFamily="34" charset="0"/>
                <a:ea typeface="Arial" pitchFamily="34" charset="-122"/>
                <a:cs typeface="Arial" pitchFamily="34" charset="-120"/>
              </a:rPr>
              <a:t>No Holm-adjusted difference was detected among random, evolutionary and greedy on any task (smallest p = 0.071). This is not an equivalence claim.</a:t>
            </a:r>
            <a:endParaRPr lang="en-US" sz="1600" dirty="0"/>
          </a:p>
          <a:p>
            <a:pPr marL="342900" indent="-342900">
              <a:spcAft>
                <a:spcPts val="800"/>
              </a:spcAft>
              <a:buSzPct val="100000"/>
              <a:buChar char="•"/>
            </a:pPr>
            <a:r>
              <a:rPr lang="en-US" sz="1600" dirty="0">
                <a:solidFill>
                  <a:srgbClr val="1A1A2E"/>
                </a:solidFill>
                <a:latin typeface="Arial" pitchFamily="34" charset="0"/>
                <a:ea typeface="Arial" pitchFamily="34" charset="-122"/>
                <a:cs typeface="Arial" pitchFamily="34" charset="-120"/>
              </a:rPr>
              <a:t>Against the strongest reference the picture is task-dependent: on T2 random and evolutionary win (p = 0.046, δ = −0.8); on T1 only random is detected (p = 0.032) and the shift is small.</a:t>
            </a:r>
            <a:endParaRPr lang="en-US" sz="1600" dirty="0"/>
          </a:p>
        </p:txBody>
      </p:sp>
      <p:sp>
        <p:nvSpPr>
          <p:cNvPr id="7"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10 paired replicates · Hodges–Lehmann shift and paired Cliff's δ · outputs/bench_v2/E2/stats_*.csv</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RESULT — QUBIT SCALING</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The advantage over a fixed ansatz grows with qubit count</a:t>
            </a:r>
            <a:endParaRPr lang="en-US" sz="3000" dirty="0"/>
          </a:p>
        </p:txBody>
      </p:sp>
      <p:pic>
        <p:nvPicPr>
          <p:cNvPr id="4" name="Image 0" descr="/Users/hatanakatomoya/Developer/Sim/llm-vqc/.claude/worktrees/github-author-config-faee6e/docs/presentation/bench_v2_weekly_revised/figures/fig_e3_scaling.png">    </p:cNvPr>
          <p:cNvPicPr>
            <a:picLocks noChangeAspect="1"/>
          </p:cNvPicPr>
          <p:nvPr/>
        </p:nvPicPr>
        <p:blipFill>
          <a:blip r:embed="rId1"/>
          <a:stretch>
            <a:fillRect/>
          </a:stretch>
        </p:blipFill>
        <p:spPr>
          <a:xfrm>
            <a:off x="548640" y="1371600"/>
            <a:ext cx="10881360" cy="3968496"/>
          </a:xfrm>
          <a:prstGeom prst="rect">
            <a:avLst/>
          </a:prstGeom>
        </p:spPr>
      </p:pic>
      <p:sp>
        <p:nvSpPr>
          <p:cNvPr id="5" name="Shape 2"/>
          <p:cNvSpPr/>
          <p:nvPr/>
        </p:nvSpPr>
        <p:spPr>
          <a:xfrm>
            <a:off x="548640" y="5504688"/>
            <a:ext cx="10881360" cy="841248"/>
          </a:xfrm>
          <a:prstGeom prst="roundRect">
            <a:avLst>
              <a:gd name="adj" fmla="val 8696"/>
            </a:avLst>
          </a:prstGeom>
          <a:solidFill>
            <a:srgbClr val="FDF0E4"/>
          </a:solidFill>
          <a:ln w="13970">
            <a:solidFill>
              <a:srgbClr val="B8860B"/>
            </a:solidFill>
            <a:prstDash val="solid"/>
          </a:ln>
        </p:spPr>
      </p:sp>
      <p:sp>
        <p:nvSpPr>
          <p:cNvPr id="6" name="Text 3"/>
          <p:cNvSpPr/>
          <p:nvPr/>
        </p:nvSpPr>
        <p:spPr>
          <a:xfrm>
            <a:off x="777240" y="5596128"/>
            <a:ext cx="10424160" cy="685800"/>
          </a:xfrm>
          <a:prstGeom prst="rect">
            <a:avLst/>
          </a:prstGeom>
          <a:noFill/>
          <a:ln/>
        </p:spPr>
        <p:txBody>
          <a:bodyPr wrap="square" lIns="0" tIns="0" rIns="0" bIns="0" rtlCol="0" anchor="ctr"/>
          <a:lstStyle/>
          <a:p>
            <a:pPr indent="0" marL="0">
              <a:buNone/>
            </a:pPr>
            <a:r>
              <a:rPr lang="en-US" sz="1800" b="1" dirty="0">
                <a:solidFill>
                  <a:srgbClr val="1A1A2E"/>
                </a:solidFill>
                <a:latin typeface="Arial" pitchFamily="34" charset="0"/>
                <a:ea typeface="Arial" pitchFamily="34" charset="-122"/>
                <a:cs typeface="Arial" pitchFamily="34" charset="-120"/>
              </a:rPr>
              <a:t>Descriptive, not confirmatory: </a:t>
            </a:r>
            <a:pPr indent="0" marL="0">
              <a:buNone/>
            </a:pPr>
            <a:r>
              <a:rPr lang="en-US" sz="1800" dirty="0">
                <a:solidFill>
                  <a:srgbClr val="1A1A2E"/>
                </a:solidFill>
                <a:latin typeface="Arial" pitchFamily="34" charset="0"/>
                <a:ea typeface="Arial" pitchFamily="34" charset="-122"/>
                <a:cs typeface="Arial" pitchFamily="34" charset="-120"/>
              </a:rPr>
              <a:t>at n=8 on T2 all 5 paired replicates favour search (δ = −1.0, median 0.058 vs 0.295), but with 5 replicates the smallest attainable p is 0.0625, so after Holm correction across 3 contrasts no result can reach 0.05.</a:t>
            </a:r>
            <a:endParaRPr lang="en-US" sz="1800" dirty="0"/>
          </a:p>
        </p:txBody>
      </p:sp>
      <p:sp>
        <p:nvSpPr>
          <p:cNvPr id="7" name="Text 4"/>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All results are noiseless statevector simulation — no shots, no noise model, no quantum hardware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COST</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Lower error comes with substantially larger compiled circuits</a:t>
            </a:r>
            <a:endParaRPr lang="en-US" sz="3000" dirty="0"/>
          </a:p>
        </p:txBody>
      </p:sp>
      <p:pic>
        <p:nvPicPr>
          <p:cNvPr id="4" name="Image 0" descr="/Users/hatanakatomoya/Developer/Sim/llm-vqc/.claude/worktrees/github-author-config-faee6e/docs/presentation/bench_v2_weekly_revised/figures/fig_pareto.png">    </p:cNvPr>
          <p:cNvPicPr>
            <a:picLocks noChangeAspect="1"/>
          </p:cNvPicPr>
          <p:nvPr/>
        </p:nvPicPr>
        <p:blipFill>
          <a:blip r:embed="rId1"/>
          <a:stretch>
            <a:fillRect/>
          </a:stretch>
        </p:blipFill>
        <p:spPr>
          <a:xfrm>
            <a:off x="457200" y="1371600"/>
            <a:ext cx="6766560" cy="3886200"/>
          </a:xfrm>
          <a:prstGeom prst="rect">
            <a:avLst/>
          </a:prstGeom>
        </p:spPr>
      </p:pic>
      <p:pic>
        <p:nvPicPr>
          <p:cNvPr id="5" name="Image 1" descr="/Users/hatanakatomoya/Developer/Sim/llm-vqc/.claude/worktrees/github-author-config-faee6e/docs/presentation/bench_v2_weekly_revised/figures/fig_diagnostics.png">    </p:cNvPr>
          <p:cNvPicPr>
            <a:picLocks noChangeAspect="1"/>
          </p:cNvPicPr>
          <p:nvPr/>
        </p:nvPicPr>
        <p:blipFill>
          <a:blip r:embed="rId2"/>
          <a:stretch>
            <a:fillRect/>
          </a:stretch>
        </p:blipFill>
        <p:spPr>
          <a:xfrm>
            <a:off x="7452360" y="1371600"/>
            <a:ext cx="3977640" cy="3072384"/>
          </a:xfrm>
          <a:prstGeom prst="rect">
            <a:avLst/>
          </a:prstGeom>
        </p:spPr>
      </p:pic>
      <p:sp>
        <p:nvSpPr>
          <p:cNvPr id="6" name="Text 2"/>
          <p:cNvSpPr/>
          <p:nvPr/>
        </p:nvSpPr>
        <p:spPr>
          <a:xfrm>
            <a:off x="7452360" y="4553712"/>
            <a:ext cx="4343400" cy="1691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A1A2E"/>
                </a:solidFill>
                <a:latin typeface="Arial" pitchFamily="34" charset="0"/>
                <a:ea typeface="Arial" pitchFamily="34" charset="-122"/>
                <a:cs typeface="Arial" pitchFamily="34" charset="-120"/>
              </a:rPr>
              <a:t>Median compiled 2-qubit gates: 58–85 for searched circuits vs 4–29 for the references.</a:t>
            </a:r>
            <a:endParaRPr lang="en-US" sz="1500" dirty="0"/>
          </a:p>
          <a:p>
            <a:pPr marL="342900" indent="-342900">
              <a:spcAft>
                <a:spcPts val="800"/>
              </a:spcAft>
              <a:buSzPct val="100000"/>
              <a:buChar char="•"/>
            </a:pPr>
            <a:r>
              <a:rPr lang="en-US" sz="1500" dirty="0">
                <a:solidFill>
                  <a:srgbClr val="1A1A2E"/>
                </a:solidFill>
                <a:latin typeface="Arial" pitchFamily="34" charset="0"/>
                <a:ea typeface="Arial" pitchFamily="34" charset="-122"/>
                <a:cs typeface="Arial" pitchFamily="34" charset="-120"/>
              </a:rPr>
              <a:t>A hardware-relevant proxy: state preparation is excluded (identical for every arm).</a:t>
            </a:r>
            <a:endParaRPr lang="en-US" sz="1500" dirty="0"/>
          </a:p>
          <a:p>
            <a:pPr marL="342900" indent="-342900">
              <a:spcAft>
                <a:spcPts val="800"/>
              </a:spcAft>
              <a:buSzPct val="100000"/>
              <a:buChar char="•"/>
            </a:pPr>
            <a:r>
              <a:rPr lang="en-US" sz="1500" dirty="0">
                <a:solidFill>
                  <a:srgbClr val="1A1A2E"/>
                </a:solidFill>
                <a:latin typeface="Arial" pitchFamily="34" charset="0"/>
                <a:ea typeface="Arial" pitchFamily="34" charset="-122"/>
                <a:cs typeface="Arial" pitchFamily="34" charset="-120"/>
              </a:rPr>
              <a:t>KL and Meyer–Wallach Q are descriptors; their link to accuracy is untested here.</a:t>
            </a:r>
            <a:endParaRPr lang="en-US" sz="1500" dirty="0"/>
          </a:p>
        </p:txBody>
      </p:sp>
      <p:sp>
        <p:nvSpPr>
          <p:cNvPr id="7"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Qiskit, basis [rz,sx,x,cx], line coupling, opt_level 1, seed 7 · 28 circuits = best-validation replicate per (task, arm)</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Interim answer, and the decision I need</a:t>
            </a:r>
            <a:endParaRPr lang="en-US" sz="3000" dirty="0"/>
          </a:p>
        </p:txBody>
      </p:sp>
      <p:sp>
        <p:nvSpPr>
          <p:cNvPr id="3" name="Shape 1"/>
          <p:cNvSpPr/>
          <p:nvPr/>
        </p:nvSpPr>
        <p:spPr>
          <a:xfrm>
            <a:off x="640080" y="1188720"/>
            <a:ext cx="10972800" cy="1298448"/>
          </a:xfrm>
          <a:prstGeom prst="roundRect">
            <a:avLst>
              <a:gd name="adj" fmla="val 7042"/>
            </a:avLst>
          </a:prstGeom>
          <a:solidFill>
            <a:srgbClr val="FFFFFF"/>
          </a:solidFill>
          <a:ln w="22860">
            <a:solidFill>
              <a:srgbClr val="B3261E"/>
            </a:solidFill>
            <a:prstDash val="solid"/>
          </a:ln>
        </p:spPr>
      </p:sp>
      <p:sp>
        <p:nvSpPr>
          <p:cNvPr id="4" name="Text 2"/>
          <p:cNvSpPr/>
          <p:nvPr/>
        </p:nvSpPr>
        <p:spPr>
          <a:xfrm>
            <a:off x="914400" y="1298448"/>
            <a:ext cx="10424160" cy="1097280"/>
          </a:xfrm>
          <a:prstGeom prst="rect">
            <a:avLst/>
          </a:prstGeom>
          <a:noFill/>
          <a:ln/>
        </p:spPr>
        <p:txBody>
          <a:bodyPr wrap="square" lIns="0" tIns="0" rIns="0" bIns="0" rtlCol="0" anchor="ctr"/>
          <a:lstStyle/>
          <a:p>
            <a:pPr indent="0" marL="0">
              <a:buNone/>
            </a:pPr>
            <a:r>
              <a:rPr lang="en-US" sz="2600" b="1" dirty="0">
                <a:solidFill>
                  <a:srgbClr val="B3261E"/>
                </a:solidFill>
                <a:latin typeface="Arial" pitchFamily="34" charset="0"/>
                <a:ea typeface="Arial" pitchFamily="34" charset="-122"/>
                <a:cs typeface="Arial" pitchFamily="34" charset="-120"/>
              </a:rPr>
              <a:t>Not yet. </a:t>
            </a:r>
            <a:pPr indent="0" marL="0">
              <a:buNone/>
            </a:pPr>
            <a:r>
              <a:rPr lang="en-US" sz="2100" dirty="0">
                <a:solidFill>
                  <a:srgbClr val="1A1A2E"/>
                </a:solidFill>
                <a:latin typeface="Arial" pitchFamily="34" charset="0"/>
                <a:ea typeface="Arial" pitchFamily="34" charset="-122"/>
                <a:cs typeface="Arial" pitchFamily="34" charset="-120"/>
              </a:rPr>
              <a:t>The LLM hypothesis is still untested. What exists today is a reproducible classical benchmark that defines the bar the LLM has to beat.</a:t>
            </a:r>
            <a:endParaRPr lang="en-US" sz="2600" dirty="0"/>
          </a:p>
        </p:txBody>
      </p:sp>
      <p:sp>
        <p:nvSpPr>
          <p:cNvPr id="5" name="Shape 3"/>
          <p:cNvSpPr/>
          <p:nvPr/>
        </p:nvSpPr>
        <p:spPr>
          <a:xfrm>
            <a:off x="640080" y="2743200"/>
            <a:ext cx="5349240" cy="2788920"/>
          </a:xfrm>
          <a:prstGeom prst="roundRect">
            <a:avLst>
              <a:gd name="adj" fmla="val 3279"/>
            </a:avLst>
          </a:prstGeom>
          <a:solidFill>
            <a:srgbClr val="FFFFFF">
              <a:alpha val="10000"/>
            </a:srgbClr>
          </a:solidFill>
          <a:ln w="12700">
            <a:solidFill>
              <a:srgbClr val="8FA6C4"/>
            </a:solidFill>
            <a:prstDash val="solid"/>
          </a:ln>
        </p:spPr>
      </p:sp>
      <p:sp>
        <p:nvSpPr>
          <p:cNvPr id="6" name="Text 4"/>
          <p:cNvSpPr/>
          <p:nvPr/>
        </p:nvSpPr>
        <p:spPr>
          <a:xfrm>
            <a:off x="868680" y="2852928"/>
            <a:ext cx="4937760" cy="50292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Decision requested — approve a hard global API cap</a:t>
            </a:r>
            <a:endParaRPr lang="en-US" sz="1900" dirty="0"/>
          </a:p>
        </p:txBody>
      </p:sp>
      <p:sp>
        <p:nvSpPr>
          <p:cNvPr id="7" name="Text 5"/>
          <p:cNvSpPr/>
          <p:nvPr/>
        </p:nvSpPr>
        <p:spPr>
          <a:xfrm>
            <a:off x="960120" y="3401568"/>
            <a:ext cx="480060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8EEF7"/>
                </a:solidFill>
                <a:latin typeface="Arial" pitchFamily="34" charset="0"/>
                <a:ea typeface="Arial" pitchFamily="34" charset="-122"/>
                <a:cs typeface="Arial" pitchFamily="34" charset="-120"/>
              </a:rPr>
              <a:t>220 cells, ≈1,480 calls at 3 candidates per call</a:t>
            </a:r>
            <a:endParaRPr lang="en-US" sz="1600" dirty="0"/>
          </a:p>
          <a:p>
            <a:pPr marL="342900" indent="-342900">
              <a:spcAft>
                <a:spcPts val="800"/>
              </a:spcAft>
              <a:buSzPct val="100000"/>
              <a:buChar char="•"/>
            </a:pPr>
            <a:r>
              <a:rPr lang="en-US" sz="1600" dirty="0">
                <a:solidFill>
                  <a:srgbClr val="E8EEF7"/>
                </a:solidFill>
                <a:latin typeface="Arial" pitchFamily="34" charset="0"/>
                <a:ea typeface="Arial" pitchFamily="34" charset="-122"/>
                <a:cs typeface="Arial" pitchFamily="34" charset="-120"/>
              </a:rPr>
              <a:t>Reserved at $0.05/call ⇒ $74; the 40-call/cell guard bounds the worst case at $440</a:t>
            </a:r>
            <a:endParaRPr lang="en-US" sz="1600" dirty="0"/>
          </a:p>
          <a:p>
            <a:pPr marL="342900" indent="-342900">
              <a:spcAft>
                <a:spcPts val="800"/>
              </a:spcAft>
              <a:buSzPct val="100000"/>
              <a:buChar char="•"/>
            </a:pPr>
            <a:r>
              <a:rPr lang="en-US" sz="1600" dirty="0">
                <a:solidFill>
                  <a:srgbClr val="E8EEF7"/>
                </a:solidFill>
                <a:latin typeface="Arial" pitchFamily="34" charset="0"/>
                <a:ea typeface="Arial" pitchFamily="34" charset="-122"/>
                <a:cs typeface="Arial" pitchFamily="34" charset="-120"/>
              </a:rPr>
              <a:t>Model not yet pinned — per-model estimates in the appendix</a:t>
            </a:r>
            <a:endParaRPr lang="en-US" sz="1600" dirty="0"/>
          </a:p>
          <a:p>
            <a:pPr marL="342900" indent="-342900">
              <a:spcAft>
                <a:spcPts val="800"/>
              </a:spcAft>
              <a:buSzPct val="100000"/>
              <a:buChar char="•"/>
            </a:pPr>
            <a:r>
              <a:rPr lang="en-US" sz="1600" dirty="0">
                <a:solidFill>
                  <a:srgbClr val="E8EEF7"/>
                </a:solidFill>
                <a:latin typeface="Arial" pitchFamily="34" charset="0"/>
                <a:ea typeface="Arial" pitchFamily="34" charset="-122"/>
                <a:cs typeface="Arial" pitchFamily="34" charset="-120"/>
              </a:rPr>
              <a:t>Enforced in code: no positive LLM_API_BUDGET_USD, no calls</a:t>
            </a:r>
            <a:endParaRPr lang="en-US" sz="1600" dirty="0"/>
          </a:p>
        </p:txBody>
      </p:sp>
      <p:sp>
        <p:nvSpPr>
          <p:cNvPr id="8" name="Shape 6"/>
          <p:cNvSpPr/>
          <p:nvPr/>
        </p:nvSpPr>
        <p:spPr>
          <a:xfrm>
            <a:off x="6263640" y="2743200"/>
            <a:ext cx="5349240" cy="2788920"/>
          </a:xfrm>
          <a:prstGeom prst="roundRect">
            <a:avLst>
              <a:gd name="adj" fmla="val 3279"/>
            </a:avLst>
          </a:prstGeom>
          <a:solidFill>
            <a:srgbClr val="FFFFFF">
              <a:alpha val="10000"/>
            </a:srgbClr>
          </a:solidFill>
          <a:ln w="12700">
            <a:solidFill>
              <a:srgbClr val="8FA6C4"/>
            </a:solidFill>
            <a:prstDash val="solid"/>
          </a:ln>
        </p:spPr>
      </p:sp>
      <p:sp>
        <p:nvSpPr>
          <p:cNvPr id="9" name="Text 7"/>
          <p:cNvSpPr/>
          <p:nvPr/>
        </p:nvSpPr>
        <p:spPr>
          <a:xfrm>
            <a:off x="6492240" y="2852928"/>
            <a:ext cx="4937760" cy="36576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Then, in order</a:t>
            </a:r>
            <a:endParaRPr lang="en-US" sz="1900" dirty="0"/>
          </a:p>
        </p:txBody>
      </p:sp>
      <p:sp>
        <p:nvSpPr>
          <p:cNvPr id="10" name="Text 8"/>
          <p:cNvSpPr/>
          <p:nvPr/>
        </p:nvSpPr>
        <p:spPr>
          <a:xfrm>
            <a:off x="6583680" y="3291840"/>
            <a:ext cx="484632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8EEF7"/>
                </a:solidFill>
                <a:latin typeface="Arial" pitchFamily="34" charset="0"/>
                <a:ea typeface="Arial" pitchFamily="34" charset="-122"/>
                <a:cs typeface="Arial" pitchFamily="34" charset="-120"/>
              </a:rPr>
              <a:t>Run the 220 real-LLM cells (both tracks)</a:t>
            </a:r>
            <a:endParaRPr lang="en-US" sz="1600" dirty="0"/>
          </a:p>
          <a:p>
            <a:pPr marL="342900" indent="-342900">
              <a:spcAft>
                <a:spcPts val="800"/>
              </a:spcAft>
              <a:buSzPct val="100000"/>
              <a:buChar char="•"/>
            </a:pPr>
            <a:r>
              <a:rPr lang="en-US" sz="1600" dirty="0">
                <a:solidFill>
                  <a:srgbClr val="E8EEF7"/>
                </a:solidFill>
                <a:latin typeface="Arial" pitchFamily="34" charset="0"/>
                <a:ea typeface="Arial" pitchFamily="34" charset="-122"/>
                <a:cs typeface="Arial" pitchFamily="34" charset="-120"/>
              </a:rPr>
              <a:t>E5 θ-isolation: is it the architecture or the angles?</a:t>
            </a:r>
            <a:endParaRPr lang="en-US" sz="1600" dirty="0"/>
          </a:p>
          <a:p>
            <a:pPr marL="342900" indent="-342900">
              <a:spcAft>
                <a:spcPts val="800"/>
              </a:spcAft>
              <a:buSzPct val="100000"/>
              <a:buChar char="•"/>
            </a:pPr>
            <a:r>
              <a:rPr lang="en-US" sz="1600" dirty="0">
                <a:solidFill>
                  <a:srgbClr val="E8EEF7"/>
                </a:solidFill>
                <a:latin typeface="Arial" pitchFamily="34" charset="0"/>
                <a:ea typeface="Arial" pitchFamily="34" charset="-122"/>
                <a:cs typeface="Arial" pitchFamily="34" charset="-120"/>
              </a:rPr>
              <a:t>E4 shot-noise and noisy-simulator robustness</a:t>
            </a:r>
            <a:endParaRPr lang="en-US" sz="1600" dirty="0"/>
          </a:p>
          <a:p>
            <a:pPr marL="342900" indent="-342900">
              <a:spcAft>
                <a:spcPts val="800"/>
              </a:spcAft>
              <a:buSzPct val="100000"/>
              <a:buChar char="•"/>
            </a:pPr>
            <a:r>
              <a:rPr lang="en-US" sz="1600" dirty="0">
                <a:solidFill>
                  <a:srgbClr val="E8EEF7"/>
                </a:solidFill>
                <a:latin typeface="Arial" pitchFamily="34" charset="0"/>
                <a:ea typeface="Arial" pitchFamily="34" charset="-122"/>
                <a:cs typeface="Arial" pitchFamily="34" charset="-120"/>
              </a:rPr>
              <a:t>Regenerate the statistical report; completion checker must pass unweakened</a:t>
            </a:r>
            <a:endParaRPr lang="en-US" sz="1600" dirty="0"/>
          </a:p>
        </p:txBody>
      </p:sp>
      <p:sp>
        <p:nvSpPr>
          <p:cNvPr id="11" name="Text 9"/>
          <p:cNvSpPr/>
          <p:nvPr/>
        </p:nvSpPr>
        <p:spPr>
          <a:xfrm>
            <a:off x="640080" y="5806440"/>
            <a:ext cx="10972800" cy="502920"/>
          </a:xfrm>
          <a:prstGeom prst="rect">
            <a:avLst/>
          </a:prstGeom>
          <a:noFill/>
          <a:ln/>
        </p:spPr>
        <p:txBody>
          <a:bodyPr wrap="square" lIns="0" tIns="0" rIns="0" bIns="0" rtlCol="0" anchor="ctr"/>
          <a:lstStyle/>
          <a:p>
            <a:pPr algn="ctr" indent="0" marL="0">
              <a:buNone/>
            </a:pPr>
            <a:r>
              <a:rPr lang="en-US" sz="2400" b="1" dirty="0">
                <a:solidFill>
                  <a:srgbClr val="FFD9A0"/>
                </a:solidFill>
                <a:latin typeface="Arial" pitchFamily="34" charset="0"/>
                <a:ea typeface="Arial" pitchFamily="34" charset="-122"/>
                <a:cs typeface="Arial" pitchFamily="34" charset="-120"/>
              </a:rPr>
              <a:t>Can I proceed with a hard global cap of $120?</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A1–A2  Pilot replay (E0) and joint search (E1)</a:t>
            </a:r>
            <a:endParaRPr lang="en-US" sz="2600" dirty="0"/>
          </a:p>
        </p:txBody>
      </p:sp>
      <p:pic>
        <p:nvPicPr>
          <p:cNvPr id="4" name="Image 0" descr="/Users/hatanakatomoya/Developer/Sim/llm-vqc/.claude/worktrees/github-author-config-faee6e/docs/presentation/bench_v2_weekly_revised/figures/fig_ap_e1.png">    </p:cNvPr>
          <p:cNvPicPr>
            <a:picLocks noChangeAspect="1"/>
          </p:cNvPicPr>
          <p:nvPr/>
        </p:nvPicPr>
        <p:blipFill>
          <a:blip r:embed="rId1"/>
          <a:stretch>
            <a:fillRect/>
          </a:stretch>
        </p:blipFill>
        <p:spPr>
          <a:xfrm>
            <a:off x="640080" y="1600200"/>
            <a:ext cx="10058400" cy="3264408"/>
          </a:xfrm>
          <a:prstGeom prst="rect">
            <a:avLst/>
          </a:prstGeom>
        </p:spPr>
      </p:pic>
      <p:sp>
        <p:nvSpPr>
          <p:cNvPr id="5" name="Text 2"/>
          <p:cNvSpPr/>
          <p:nvPr/>
        </p:nvSpPr>
        <p:spPr>
          <a:xfrm>
            <a:off x="640080" y="5029200"/>
            <a:ext cx="1097280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1A2E"/>
                </a:solidFill>
                <a:latin typeface="Arial" pitchFamily="34" charset="0"/>
                <a:ea typeface="Arial" pitchFamily="34" charset="-122"/>
                <a:cs typeface="Arial" pitchFamily="34" charset="-120"/>
              </a:rPr>
              <a:t>E0: all 21 candidates of the committed 2-seed real-LLM pilot were re-evaluated offline from stored operations and angles — validation and test values matched exactly, with zero API calls.</a:t>
            </a:r>
            <a:endParaRPr lang="en-US" sz="1600" dirty="0"/>
          </a:p>
          <a:p>
            <a:pPr marL="342900" indent="-342900">
              <a:spcAft>
                <a:spcPts val="800"/>
              </a:spcAft>
              <a:buSzPct val="100000"/>
              <a:buChar char="•"/>
            </a:pPr>
            <a:r>
              <a:rPr lang="en-US" sz="1600" dirty="0">
                <a:solidFill>
                  <a:srgbClr val="1A1A2E"/>
                </a:solidFill>
                <a:latin typeface="Arial" pitchFamily="34" charset="0"/>
                <a:ea typeface="Arial" pitchFamily="34" charset="-122"/>
                <a:cs typeface="Arial" pitchFamily="34" charset="-120"/>
              </a:rPr>
              <a:t>E1 (Track B, verbatim θ, B=16): no Holm-adjusted difference between random and evolutionary joint search on any of the three task/qubit cells (all p ≥ 0.28). T2 at n=5 sits near 0.29 RMSE for both.</a:t>
            </a:r>
            <a:endParaRPr lang="en-US" sz="1600" dirty="0"/>
          </a:p>
        </p:txBody>
      </p:sp>
      <p:sp>
        <p:nvSpPr>
          <p:cNvPr id="6"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outputs/bench_v2/E0/replication_report.json · outputs/bench_v2/E1/stats_paired_tests.csv</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A3  Full E2 results, all four tasks</a:t>
            </a:r>
            <a:endParaRPr lang="en-US" sz="2600" dirty="0"/>
          </a:p>
        </p:txBody>
      </p:sp>
      <p:pic>
        <p:nvPicPr>
          <p:cNvPr id="4" name="Image 0" descr="/Users/hatanakatomoya/Developer/Sim/llm-vqc/.claude/worktrees/github-author-config-faee6e/docs/presentation/bench_v2_weekly_revised/figures/fig_ap_e2_grid.png">    </p:cNvPr>
          <p:cNvPicPr>
            <a:picLocks noChangeAspect="1"/>
          </p:cNvPicPr>
          <p:nvPr/>
        </p:nvPicPr>
        <p:blipFill>
          <a:blip r:embed="rId1"/>
          <a:stretch>
            <a:fillRect/>
          </a:stretch>
        </p:blipFill>
        <p:spPr>
          <a:xfrm>
            <a:off x="457200" y="1600200"/>
            <a:ext cx="11247120" cy="2999232"/>
          </a:xfrm>
          <a:prstGeom prst="rect">
            <a:avLst/>
          </a:prstGeom>
        </p:spPr>
      </p:pic>
      <p:sp>
        <p:nvSpPr>
          <p:cNvPr id="5" name="Text 2"/>
          <p:cNvSpPr/>
          <p:nvPr/>
        </p:nvSpPr>
        <p:spPr>
          <a:xfrm>
            <a:off x="548640" y="4846320"/>
            <a:ext cx="10972800"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T3 (change point) is saturated: every arm lands at RMSE ≈ 0.10 and all adjusted p-values are 1.00.</a:t>
            </a:r>
            <a:endParaRPr lang="en-US" sz="1700" dirty="0"/>
          </a:p>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T4 (peak classification) shows no arm separation either: AUROC ≈ 0.73–0.75 across all arms.</a:t>
            </a:r>
            <a:endParaRPr lang="en-US" sz="1700" dirty="0"/>
          </a:p>
        </p:txBody>
      </p:sp>
      <p:sp>
        <p:nvSpPr>
          <p:cNvPr id="6"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outputs/bench_v2/E2/per_seed_E2.csv · 10 paired replicates per arm</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A4  Anytime search behaviour (E2)</a:t>
            </a:r>
            <a:endParaRPr lang="en-US" sz="2600" dirty="0"/>
          </a:p>
        </p:txBody>
      </p:sp>
      <p:pic>
        <p:nvPicPr>
          <p:cNvPr id="4" name="Image 0" descr="/Users/hatanakatomoya/Developer/Sim/llm-vqc/.claude/worktrees/github-author-config-faee6e/docs/presentation/bench_v2_weekly_revised/figures/fig_ap_anytime.png">    </p:cNvPr>
          <p:cNvPicPr>
            <a:picLocks noChangeAspect="1"/>
          </p:cNvPicPr>
          <p:nvPr/>
        </p:nvPicPr>
        <p:blipFill>
          <a:blip r:embed="rId1"/>
          <a:stretch>
            <a:fillRect/>
          </a:stretch>
        </p:blipFill>
        <p:spPr>
          <a:xfrm>
            <a:off x="457200" y="1645920"/>
            <a:ext cx="11247120" cy="2697480"/>
          </a:xfrm>
          <a:prstGeom prst="rect">
            <a:avLst/>
          </a:prstGeom>
        </p:spPr>
      </p:pic>
      <p:sp>
        <p:nvSpPr>
          <p:cNvPr id="5" name="Text 2"/>
          <p:cNvSpPr/>
          <p:nvPr/>
        </p:nvSpPr>
        <p:spPr>
          <a:xfrm>
            <a:off x="548640" y="4617720"/>
            <a:ext cx="10972800"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Median and interquartile band of the best-so-far validation metric against unique candidate evaluations.</a:t>
            </a:r>
            <a:endParaRPr lang="en-US" sz="1700" dirty="0"/>
          </a:p>
          <a:p>
            <a:pPr marL="342900" indent="-342900">
              <a:spcAft>
                <a:spcPts val="800"/>
              </a:spcAft>
              <a:buSzPct val="100000"/>
              <a:buChar char="•"/>
            </a:pPr>
            <a:r>
              <a:rPr lang="en-US" sz="1700" dirty="0">
                <a:solidFill>
                  <a:srgbClr val="1A1A2E"/>
                </a:solidFill>
                <a:latin typeface="Arial" pitchFamily="34" charset="0"/>
                <a:ea typeface="Arial" pitchFamily="34" charset="-122"/>
                <a:cs typeface="Arial" pitchFamily="34" charset="-120"/>
              </a:rPr>
              <a:t>Greedy growth is the slowest starter on T2 but converges to the same region by the 24-evaluation budget.</a:t>
            </a:r>
            <a:endParaRPr lang="en-US" sz="1700" dirty="0"/>
          </a:p>
        </p:txBody>
      </p:sp>
      <p:sp>
        <p:nvSpPr>
          <p:cNvPr id="6"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Budget axis is unique candidate evaluations; duplicates and invalid proposals never consume it</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A6, A8  Statistics, seeds and the protected test</a:t>
            </a:r>
            <a:endParaRPr lang="en-US" sz="2600" dirty="0"/>
          </a:p>
        </p:txBody>
      </p:sp>
      <p:sp>
        <p:nvSpPr>
          <p:cNvPr id="4" name="Text 2"/>
          <p:cNvSpPr/>
          <p:nvPr/>
        </p:nvSpPr>
        <p:spPr>
          <a:xfrm>
            <a:off x="640080" y="1554480"/>
            <a:ext cx="10972800" cy="45720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Paired tests within each (task, n) family: exact Wilcoxon signed-rank plus a paired sign-flip permutation test on the mean difference (10,000 resamples, seed 20260729).</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Multiplicity: Holm step-down applied to the permutation p-values inside each family.</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Effect sizes: Hodges–Lehmann shift (median of Walsh averages, RMSE units) and paired Cliff's δ.</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Verified p-value floor: 5 replicates ⇒ smallest two-sided p = 0.0625 ⇒ smallest Holm-adjusted value ≈ 0.19 across 3 contrasts. 10 replicates ⇒ 0.00195.</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Seeds: data seed 1000+r, search seed 2000+r, shared by every arm in a comparison; θ-seed derived from (task, data seed, search seed, structural hash).</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Protected test: evaluated once per cell, after selection is frozen; search modules cannot import the test gate (enforced by AST tests).</a:t>
            </a:r>
            <a:endParaRPr lang="en-US" sz="1700" dirty="0"/>
          </a:p>
        </p:txBody>
      </p:sp>
      <p:sp>
        <p:nvSpPr>
          <p:cNvPr id="5"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scripts/bench_v2/analyze_experiment.py · llm_vqc/bench_v2/test_gate.py</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A7, A10  Search space, candidate identity, diagnostic selection</a:t>
            </a:r>
            <a:endParaRPr lang="en-US" sz="2600" dirty="0"/>
          </a:p>
        </p:txBody>
      </p:sp>
      <p:sp>
        <p:nvSpPr>
          <p:cNvPr id="4" name="Text 2"/>
          <p:cNvSpPr/>
          <p:nvPr/>
        </p:nvSpPr>
        <p:spPr>
          <a:xfrm>
            <a:off x="640080" y="1554480"/>
            <a:ext cx="10972800" cy="45720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Grammar scalable_layered_v1: ordered list of at most min(2n, 16) operations — rotation layers (RX/RY/RZ/H) and entangling layers (CNOT/CZ/CRX/CRY/CRZ) over line, ring, star, pairs or all-to-all patterns.</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Encoding and readout are fixed by the profile, never proposed. Every structure must contain at least one trainable rotation.</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Track A identity = structural hash of the canonical IR; Track B identity additionally includes θ, so re-proposing the same shape with new angles is a new candidate.</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Diagnostic circuits: for each of the 4 tasks × 7 arms in E2, the replicate whose selected candidate had the best validation metric — 28 circuits, selected on validation only.</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Expressibility: KL between the sampled fidelity distribution and the Haar distribution, 200 sampled states and 2,000 fidelity pairs, θ ~ U[−π, π], seeded by architecture hash.</a:t>
            </a:r>
            <a:endParaRPr lang="en-US" sz="1700" dirty="0"/>
          </a:p>
        </p:txBody>
      </p:sp>
      <p:sp>
        <p:nvSpPr>
          <p:cNvPr id="5"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llm_vqc/bench_v2/space.py · llm_vqc/free_amplitude/expressibility.py</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A9  Resource and transpilation assumptions</a:t>
            </a:r>
            <a:endParaRPr lang="en-US" sz="2600" dirty="0"/>
          </a:p>
        </p:txBody>
      </p:sp>
      <p:sp>
        <p:nvSpPr>
          <p:cNvPr id="4" name="Text 2"/>
          <p:cNvSpPr/>
          <p:nvPr/>
        </p:nvSpPr>
        <p:spPr>
          <a:xfrm>
            <a:off x="640080" y="1554480"/>
            <a:ext cx="10972800" cy="45720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Compiler: Qiskit; basis gates [rz, sx, x, cx]; optimization_level 1; seed_transpiler 7; coupling maps line, ring and all-to-all.</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Routing SWAPs are decomposed into cx, so the reported two-qubit count already includes routing overhead.</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Amplitude state preparation is excluded: its decomposition is identical for every arm at a given n and would dominate the body signal. The number is therefore a relative proxy, not a total device cost.</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Logical counts (1-qubit, 2-qubit, controlled-rotation, parameters, depth) come from the shared IR and are recorded for every evaluated candidate.</a:t>
            </a:r>
            <a:endParaRPr lang="en-US" sz="1700" dirty="0"/>
          </a:p>
          <a:p>
            <a:pPr marL="342900" indent="-342900">
              <a:spcAft>
                <a:spcPts val="1200"/>
              </a:spcAft>
              <a:buSzPct val="100000"/>
              <a:buChar char="•"/>
            </a:pPr>
            <a:r>
              <a:rPr lang="en-US" sz="1700" dirty="0">
                <a:solidFill>
                  <a:srgbClr val="1A1A2E"/>
                </a:solidFill>
                <a:latin typeface="Arial" pitchFamily="34" charset="0"/>
                <a:ea typeface="Arial" pitchFamily="34" charset="-122"/>
                <a:cs typeface="Arial" pitchFamily="34" charset="-120"/>
              </a:rPr>
              <a:t>Shot-noise (1,024 / 4,096) and the frozen depol_ro_v1 noisy profile are implemented but belong to E4, which has not run.</a:t>
            </a:r>
            <a:endParaRPr lang="en-US" sz="1700" dirty="0"/>
          </a:p>
        </p:txBody>
      </p:sp>
      <p:sp>
        <p:nvSpPr>
          <p:cNvPr id="5"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llm_vqc/bench_v2/resources.py</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A11  API budget derivation</a:t>
            </a:r>
            <a:endParaRPr lang="en-US" sz="2600" dirty="0"/>
          </a:p>
        </p:txBody>
      </p:sp>
      <p:sp>
        <p:nvSpPr>
          <p:cNvPr id="4" name="Text 2"/>
          <p:cNvSpPr/>
          <p:nvPr/>
        </p:nvSpPr>
        <p:spPr>
          <a:xfrm>
            <a:off x="502920" y="1042416"/>
            <a:ext cx="11185855" cy="365760"/>
          </a:xfrm>
          <a:prstGeom prst="rect">
            <a:avLst/>
          </a:prstGeom>
          <a:noFill/>
          <a:ln/>
        </p:spPr>
        <p:txBody>
          <a:bodyPr wrap="square" lIns="0" tIns="0" rIns="0" bIns="0" rtlCol="0" anchor="ctr"/>
          <a:lstStyle/>
          <a:p>
            <a:pPr indent="0" marL="0">
              <a:buNone/>
            </a:pPr>
            <a:r>
              <a:rPr lang="en-US" sz="1700" dirty="0">
                <a:solidFill>
                  <a:srgbClr val="51566B"/>
                </a:solidFill>
                <a:latin typeface="Arial" pitchFamily="34" charset="0"/>
                <a:ea typeface="Arial" pitchFamily="34" charset="-122"/>
                <a:cs typeface="Arial" pitchFamily="34" charset="-120"/>
              </a:rPr>
              <a:t>Model not yet pinned — the cap, not the estimate, is what the code enforces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3017520"/>
                <a:gridCol w="4023360"/>
                <a:gridCol w="3840480"/>
              </a:tblGrid>
              <a:tr h="365760">
                <a:tc>
                  <a:txBody>
                    <a:bodyPr/>
                    <a:lstStyle/>
                    <a:p>
                      <a:pPr indent="0" marL="0">
                        <a:buNone/>
                      </a:pPr>
                      <a:r>
                        <a:rPr lang="en-US" sz="1500" b="1" dirty="0">
                          <a:solidFill>
                            <a:srgbClr val="FFFFFF"/>
                          </a:solidFill>
                          <a:latin typeface="Arial" pitchFamily="34" charset="0"/>
                          <a:ea typeface="Arial" pitchFamily="34" charset="-122"/>
                          <a:cs typeface="Arial" pitchFamily="34" charset="-120"/>
                        </a:rPr>
                        <a:t>Quantity</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E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E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Source</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E3A5F"/>
                    </a:solidFill>
                  </a:tcPr>
                </a:tc>
              </a:tr>
              <a:tr h="365760">
                <a:tc>
                  <a:txBody>
                    <a:bodyPr/>
                    <a:lstStyle/>
                    <a:p>
                      <a:pPr indent="0" marL="0">
                        <a:buNone/>
                      </a:pPr>
                      <a:r>
                        <a:rPr lang="en-US" sz="1500" dirty="0">
                          <a:solidFill>
                            <a:srgbClr val="000000"/>
                          </a:solidFill>
                          <a:latin typeface="Arial" pitchFamily="34" charset="0"/>
                          <a:ea typeface="Arial" pitchFamily="34" charset="-122"/>
                          <a:cs typeface="Arial" pitchFamily="34" charset="-120"/>
                        </a:rPr>
                        <a:t>Cells to run</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220 (E1 60, E2 80, E3 80)</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protocol_v2.yaml</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500" dirty="0">
                          <a:solidFill>
                            <a:srgbClr val="000000"/>
                          </a:solidFill>
                          <a:latin typeface="Arial" pitchFamily="34" charset="0"/>
                          <a:ea typeface="Arial" pitchFamily="34" charset="-122"/>
                          <a:cs typeface="Arial" pitchFamily="34" charset="-120"/>
                        </a:rPr>
                        <a:t>Candidates per call</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llm_arms.py BATCH_SIZE</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500" dirty="0">
                          <a:solidFill>
                            <a:srgbClr val="000000"/>
                          </a:solidFill>
                          <a:latin typeface="Arial" pitchFamily="34" charset="0"/>
                          <a:ea typeface="Arial" pitchFamily="34" charset="-122"/>
                          <a:cs typeface="Arial" pitchFamily="34" charset="-120"/>
                        </a:rPr>
                        <a:t>Expected calls per cell</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6 (B=16) / 8 (B=24)</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ceil(B/3) + duplicate allowance</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500" dirty="0">
                          <a:solidFill>
                            <a:srgbClr val="000000"/>
                          </a:solidFill>
                          <a:latin typeface="Arial" pitchFamily="34" charset="0"/>
                          <a:ea typeface="Arial" pitchFamily="34" charset="-122"/>
                          <a:cs typeface="Arial" pitchFamily="34" charset="-120"/>
                        </a:rPr>
                        <a:t>Expected total calls</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≈1,480</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derived</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500" dirty="0">
                          <a:solidFill>
                            <a:srgbClr val="000000"/>
                          </a:solidFill>
                          <a:latin typeface="Arial" pitchFamily="34" charset="0"/>
                          <a:ea typeface="Arial" pitchFamily="34" charset="-122"/>
                          <a:cs typeface="Arial" pitchFamily="34" charset="-120"/>
                        </a:rPr>
                        <a:t>Reserved per call</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$0.05</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openai_provider.py</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500" dirty="0">
                          <a:solidFill>
                            <a:srgbClr val="000000"/>
                          </a:solidFill>
                          <a:latin typeface="Arial" pitchFamily="34" charset="0"/>
                          <a:ea typeface="Arial" pitchFamily="34" charset="-122"/>
                          <a:cs typeface="Arial" pitchFamily="34" charset="-120"/>
                        </a:rPr>
                        <a:t>Expected reservation</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$74</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1,480 × $0.05</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500" dirty="0">
                          <a:solidFill>
                            <a:srgbClr val="000000"/>
                          </a:solidFill>
                          <a:latin typeface="Arial" pitchFamily="34" charset="0"/>
                          <a:ea typeface="Arial" pitchFamily="34" charset="-122"/>
                          <a:cs typeface="Arial" pitchFamily="34" charset="-120"/>
                        </a:rPr>
                        <a:t>Per-cell call guard</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40 calls (failure guard, not normal use)</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llm_providers.py</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500" dirty="0">
                          <a:solidFill>
                            <a:srgbClr val="000000"/>
                          </a:solidFill>
                          <a:latin typeface="Arial" pitchFamily="34" charset="0"/>
                          <a:ea typeface="Arial" pitchFamily="34" charset="-122"/>
                          <a:cs typeface="Arial" pitchFamily="34" charset="-120"/>
                        </a:rPr>
                        <a:t>Absolute worst case</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$440 if every cell hit the guard</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8,800 × $0.05</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500" dirty="0">
                          <a:solidFill>
                            <a:srgbClr val="000000"/>
                          </a:solidFill>
                          <a:latin typeface="Arial" pitchFamily="34" charset="0"/>
                          <a:ea typeface="Arial" pitchFamily="34" charset="-122"/>
                          <a:cs typeface="Arial" pitchFamily="34" charset="-120"/>
                        </a:rPr>
                        <a:t>Requested hard cap</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$120</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covers expected run with headroom</a:t>
                      </a:r>
                      <a:endParaRPr lang="en-US" sz="1500" dirty="0">
                        <a:latin typeface="Arial" charset="0"/>
                        <a:ea typeface="Arial" charset="0"/>
                        <a:cs typeface="Arial" charset="0"/>
                      </a:endParaRPr>
                    </a:p>
                  </a:txBody>
                  <a:tcPr marL="54864" marR="54864"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6"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Enforcement: LLMApiBudget.from_env refuses to run without a positive cap; every retry is itself budget-checked</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5486400" cy="274320"/>
          </a:xfrm>
          <a:prstGeom prst="rect">
            <a:avLst/>
          </a:prstGeom>
          <a:noFill/>
          <a:ln/>
        </p:spPr>
        <p:txBody>
          <a:bodyPr wrap="square" lIns="0" tIns="0" rIns="0" bIns="0" rtlCol="0" anchor="ctr"/>
          <a:lstStyle/>
          <a:p>
            <a:pPr indent="0" marL="0">
              <a:buNone/>
            </a:pPr>
            <a:r>
              <a:rPr lang="en-US" sz="1200" b="1" spc="150" kern="0" dirty="0">
                <a:solidFill>
                  <a:srgbClr val="51566B"/>
                </a:solidFill>
                <a:latin typeface="Arial" pitchFamily="34" charset="0"/>
                <a:ea typeface="Arial" pitchFamily="34" charset="-122"/>
                <a:cs typeface="Arial" pitchFamily="34" charset="-120"/>
              </a:rPr>
              <a:t>APPENDIX</a:t>
            </a:r>
            <a:endParaRPr lang="en-US" sz="1200" dirty="0"/>
          </a:p>
        </p:txBody>
      </p:sp>
      <p:sp>
        <p:nvSpPr>
          <p:cNvPr id="3" name="Text 1"/>
          <p:cNvSpPr/>
          <p:nvPr/>
        </p:nvSpPr>
        <p:spPr>
          <a:xfrm>
            <a:off x="502920" y="512064"/>
            <a:ext cx="11185855" cy="548640"/>
          </a:xfrm>
          <a:prstGeom prst="rect">
            <a:avLst/>
          </a:prstGeom>
          <a:noFill/>
          <a:ln/>
        </p:spPr>
        <p:txBody>
          <a:bodyPr wrap="square" lIns="0" tIns="0" rIns="0" bIns="0" rtlCol="0" anchor="ctr"/>
          <a:lstStyle/>
          <a:p>
            <a:pPr indent="0" marL="0">
              <a:buNone/>
            </a:pPr>
            <a:r>
              <a:rPr lang="en-US" sz="2600" b="1" dirty="0">
                <a:solidFill>
                  <a:srgbClr val="1E3A5F"/>
                </a:solidFill>
                <a:latin typeface="Arial" pitchFamily="34" charset="0"/>
                <a:ea typeface="Arial" pitchFamily="34" charset="-122"/>
                <a:cs typeface="Arial" pitchFamily="34" charset="-120"/>
              </a:rPr>
              <a:t>A12, A13  Integrity checks and references</a:t>
            </a:r>
            <a:endParaRPr lang="en-US" sz="2600" dirty="0"/>
          </a:p>
        </p:txBody>
      </p:sp>
      <p:sp>
        <p:nvSpPr>
          <p:cNvPr id="4" name="Text 2"/>
          <p:cNvSpPr/>
          <p:nvPr/>
        </p:nvSpPr>
        <p:spPr>
          <a:xfrm>
            <a:off x="640080" y="1554480"/>
            <a:ext cx="10972800" cy="4572000"/>
          </a:xfrm>
          <a:prstGeom prst="rect">
            <a:avLst/>
          </a:prstGeom>
          <a:noFill/>
          <a:ln/>
        </p:spPr>
        <p:txBody>
          <a:bodyPr wrap="square" lIns="0" tIns="0" rIns="0" bIns="0" rtlCol="0" anchor="t"/>
          <a:lstStyle/>
          <a:p>
            <a:pPr marL="342900" indent="-342900">
              <a:spcAft>
                <a:spcPts val="1300"/>
              </a:spcAft>
              <a:buSzPct val="100000"/>
              <a:buChar char="•"/>
            </a:pPr>
            <a:r>
              <a:rPr lang="en-US" sz="1700" dirty="0">
                <a:solidFill>
                  <a:srgbClr val="1A1A2E"/>
                </a:solidFill>
                <a:latin typeface="Arial" pitchFamily="34" charset="0"/>
                <a:ea typeface="Arial" pitchFamily="34" charset="-122"/>
                <a:cs typeface="Arial" pitchFamily="34" charset="-120"/>
              </a:rPr>
              <a:t>Break-tests: three safeguards were deliberately broken to confirm the tests catch them. Two exposed real blind spots — a plain `import torch.optim` evaded the AST check, and a self-consistent budget break evaded the ledger test — both are now closed.</a:t>
            </a:r>
            <a:endParaRPr lang="en-US" sz="1700" dirty="0"/>
          </a:p>
          <a:p>
            <a:pPr marL="342900" indent="-342900">
              <a:spcAft>
                <a:spcPts val="1300"/>
              </a:spcAft>
              <a:buSzPct val="100000"/>
              <a:buChar char="•"/>
            </a:pPr>
            <a:r>
              <a:rPr lang="en-US" sz="1700" dirty="0">
                <a:solidFill>
                  <a:srgbClr val="1A1A2E"/>
                </a:solidFill>
                <a:latin typeface="Arial" pitchFamily="34" charset="0"/>
                <a:ea typeface="Arial" pitchFamily="34" charset="-122"/>
                <a:cs typeface="Arial" pitchFamily="34" charset="-120"/>
              </a:rPr>
              <a:t>Completion contract: 17 machine-checked criteria; currently 9 pass. The failures are correct (missing LLM cells, E4, final report) and the checker was not modified.</a:t>
            </a:r>
            <a:endParaRPr lang="en-US" sz="1700" dirty="0"/>
          </a:p>
          <a:p>
            <a:pPr marL="342900" indent="-342900">
              <a:spcAft>
                <a:spcPts val="1300"/>
              </a:spcAft>
              <a:buSzPct val="100000"/>
              <a:buChar char="•"/>
            </a:pPr>
            <a:r>
              <a:rPr lang="en-US" sz="1700" dirty="0">
                <a:solidFill>
                  <a:srgbClr val="1A1A2E"/>
                </a:solidFill>
                <a:latin typeface="Arial" pitchFamily="34" charset="0"/>
                <a:ea typeface="Arial" pitchFamily="34" charset="-122"/>
                <a:cs typeface="Arial" pitchFamily="34" charset="-120"/>
              </a:rPr>
              <a:t>Protocol content is hash-pinned in outputs/bench_v2/protocol_hashes.json. There was no external preregistration; the deck therefore says protocol-frozen throughout.</a:t>
            </a:r>
            <a:endParaRPr lang="en-US" sz="1700" dirty="0"/>
          </a:p>
          <a:p>
            <a:pPr marL="342900" indent="-342900">
              <a:spcAft>
                <a:spcPts val="1300"/>
              </a:spcAft>
              <a:buSzPct val="100000"/>
              <a:buChar char="•"/>
            </a:pPr>
            <a:r>
              <a:rPr lang="en-US" sz="1700" dirty="0">
                <a:solidFill>
                  <a:srgbClr val="1A1A2E"/>
                </a:solidFill>
                <a:latin typeface="Arial" pitchFamily="34" charset="0"/>
                <a:ea typeface="Arial" pitchFamily="34" charset="-122"/>
                <a:cs typeface="Arial" pitchFamily="34" charset="-120"/>
              </a:rPr>
              <a:t>Key references: Sim et al. 2019 (expressibility, entangling capability); Knipfer et al. 2026 and Sakka et al. 2026 (LLM-driven VQC design); DQAS; QuantumNAS; EVQE and MoG-VQE; TD-QAS; PWMCTS; BenchRL-QAS.</a:t>
            </a:r>
            <a:endParaRPr lang="en-US" sz="1700" dirty="0"/>
          </a:p>
        </p:txBody>
      </p:sp>
      <p:sp>
        <p:nvSpPr>
          <p:cNvPr id="5" name="Text 3"/>
          <p:cNvSpPr/>
          <p:nvPr/>
        </p:nvSpPr>
        <p:spPr>
          <a:xfrm>
            <a:off x="502920" y="6492240"/>
            <a:ext cx="11185855" cy="256032"/>
          </a:xfrm>
          <a:prstGeom prst="rect">
            <a:avLst/>
          </a:prstGeom>
          <a:noFill/>
          <a:ln/>
        </p:spPr>
        <p:txBody>
          <a:bodyPr wrap="square" lIns="0" tIns="0" rIns="0" bIns="0" rtlCol="0" anchor="ctr"/>
          <a:lstStyle/>
          <a:p>
            <a:pPr indent="0" marL="0">
              <a:buNone/>
            </a:pPr>
            <a:r>
              <a:rPr lang="en-US" sz="1100" dirty="0">
                <a:solidFill>
                  <a:srgbClr val="51566B"/>
                </a:solidFill>
                <a:latin typeface="Arial" pitchFamily="34" charset="0"/>
                <a:ea typeface="Arial" pitchFamily="34" charset="-122"/>
                <a:cs typeface="Arial" pitchFamily="34" charset="-120"/>
              </a:rPr>
              <a:t>docs/research/BREAK_TESTS.md · GOAL_CONTRACT.yaml · docs/research/LITERATURE_REVIEW_QAS.md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2026-07-30T17:51:22Z</dcterms:created>
  <dcterms:modified xsi:type="dcterms:W3CDTF">2026-07-30T17:51:22Z</dcterms:modified>
</cp:coreProperties>
</file>