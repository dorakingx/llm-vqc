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Does the quantum-autoencoder search result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Helvetica Neue"/>
              </a:rPr>
              <a:t>hold up when one thing changes?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C8D4EC"/>
                </a:solidFill>
                <a:latin typeface="Helvetica Neue"/>
              </a:rPr>
              <a:t>A controlled robustness study of the previous result: change exactly one factor at a time — evaluation budget, qubit count, Hamiltonian, language model — and see which findings survive.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11880"/>
            <a:ext cx="10515600" cy="1325880"/>
          </a:xfrm>
          <a:prstGeom prst="roundRect">
            <a:avLst/>
          </a:prstGeom>
          <a:solidFill>
            <a:srgbClr val="2A3A5C"/>
          </a:solidFill>
          <a:ln w="15875">
            <a:solidFill>
              <a:srgbClr val="5B8D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721608"/>
            <a:ext cx="10149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9AB00"/>
                </a:solidFill>
                <a:latin typeface="Helvetica Neue"/>
              </a:rPr>
              <a:t>The question:  </a:t>
            </a:r>
            <a:r>
              <a:rPr sz="1300" b="0" i="0">
                <a:solidFill>
                  <a:srgbClr val="FFFFFF"/>
                </a:solidFill>
                <a:latin typeface="Helvetica Neue"/>
              </a:rPr>
              <a:t>last time, physics-informed language-model proposals beat random and greedy circuit search by a wide margin, and a closed feedback loop added a small extra gain — at 4 qubits, one Hamiltonian, one budget, one model. Which of those two findings is a property of the method, and which was a property of that one setting? We answer by moving exactly one declared factor per condition.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Tomoya Hatanaka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C8D4EC"/>
                </a:solidFill>
                <a:latin typeface="Helvetica Neue"/>
              </a:rPr>
              <a:t>ML4SCI / Google Summer of Code 2026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9AA8C8"/>
                </a:solidFill>
                <a:latin typeface="Helvetica Neue"/>
              </a:rPr>
              <a:t>September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1 · PREVIOUS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Where we left off: the previous baseline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Quantum autoencoder (QAE): compress ground states into fewer qubits — 4 qubits · transverse-field Ising chain · budget B = 8 · 12 paired seeds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246120" cy="841248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490472"/>
            <a:ext cx="29900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A73E8"/>
                </a:solidFill>
                <a:latin typeface="Helvetica Neue"/>
              </a:rPr>
              <a:t>Input  |ψ(h)⟩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ground state of the 4-qubit Ising chain
H = −Σ Zᵢ Zᵢ₊₁ − h Σ Xᵢ,  h ∈ [0.2, 2.0]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7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331720" cy="841248"/>
          </a:xfrm>
          <a:prstGeom prst="roundRect">
            <a:avLst/>
          </a:prstGeom>
          <a:solidFill>
            <a:srgbClr val="FEF3E0"/>
          </a:solidFill>
          <a:ln w="15875">
            <a:solidFill>
              <a:srgbClr val="E871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97096" y="1490472"/>
            <a:ext cx="2075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E8710A"/>
                </a:solidFill>
                <a:latin typeface="Helvetica Neue"/>
              </a:rPr>
              <a:t>Encoder  Uθ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the circuit we search:
16 gates, angles 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417320"/>
            <a:ext cx="2331720" cy="841248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6" y="1490472"/>
            <a:ext cx="207568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88038"/>
                </a:solidFill>
                <a:latin typeface="Helvetica Neue"/>
              </a:rPr>
              <a:t>Latent  q0, q1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the 2 qubits we KEEP
(the compressed code)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7" y="16276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F6368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417320"/>
            <a:ext cx="2514600" cy="841248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616" y="1490472"/>
            <a:ext cx="225856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D93025"/>
                </a:solidFill>
                <a:latin typeface="Helvetica Neue"/>
              </a:rPr>
              <a:t>Trash  q2, q3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02124"/>
                </a:solidFill>
                <a:latin typeface="Helvetica Neue"/>
              </a:rPr>
              <a:t>should end in the SAME state |00⟩
for every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11155680" cy="566928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32304"/>
            <a:ext cx="10927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A73E8"/>
                </a:solidFill>
                <a:latin typeface="Helvetica Neue"/>
              </a:rPr>
              <a:t>Metric — trash fidelity:  </a:t>
            </a:r>
            <a:r>
              <a:rPr sz="1050" b="0" i="0">
                <a:solidFill>
                  <a:srgbClr val="202124"/>
                </a:solidFill>
                <a:latin typeface="Helvetica Neue"/>
              </a:rPr>
              <a:t>F_trash = ⟨00| ρ_trash |00⟩ = P(q2 q3 = 00), the probability that the trash qubits end in |00⟩.  </a:t>
            </a:r>
            <a:r>
              <a:rPr sz="1050" b="1" i="0">
                <a:solidFill>
                  <a:srgbClr val="188038"/>
                </a:solidFill>
                <a:latin typeface="Helvetica Neue"/>
              </a:rPr>
              <a:t>Higher is better.  </a:t>
            </a:r>
            <a:r>
              <a:rPr sz="1050" b="0" i="0">
                <a:solidFill>
                  <a:srgbClr val="202124"/>
                </a:solidFill>
                <a:latin typeface="Helvetica Neue"/>
              </a:rPr>
              <a:t>Reported on a held-out test set (64 unseen h values never used for training, selection or feedback), read once after selection.</a:t>
            </a:r>
          </a:p>
        </p:txBody>
      </p:sp>
      <p:pic>
        <p:nvPicPr>
          <p:cNvPr id="18" name="Picture 17" descr="baseline_c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35808"/>
            <a:ext cx="5486400" cy="306183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80760" y="3035808"/>
            <a:ext cx="5577840" cy="178308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090672"/>
            <a:ext cx="5349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202124"/>
                </a:solidFill>
                <a:latin typeface="Helvetica Neue"/>
              </a:rPr>
              <a:t>The four methods — each may train and score exactly B candidate circuits per seed (B = the evaluation budget)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9AA0A6"/>
                </a:solidFill>
                <a:latin typeface="Helvetica Neue"/>
              </a:rPr>
              <a:t>Random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B independent uniform circuit draws; no physics, no feedback.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F9AB00"/>
                </a:solidFill>
                <a:latin typeface="Helvetica Neue"/>
              </a:rPr>
              <a:t>Greedy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B/2 random starts (exploration, no feedback), then B/2 single-gate refinements of the best one (refinement, uses validation feedback); a change is kept only if validation improves.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LLM-Open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open-loop: the language model writes all B physics-informed proposals BEFORE any score is seen.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LLM-Closed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closed-loop: B/2 proposals, then B/2 free redesigns of the current best circuit, each given its validation score.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910328"/>
            <a:ext cx="5577840" cy="137160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956048"/>
            <a:ext cx="53492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8710A"/>
                </a:solidFill>
                <a:latin typeface="Helvetica Neue"/>
              </a:rPr>
              <a:t>What the baseline found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1  Semantics is decisive.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LLM-Open − Random  +0.1084  [+0.0726, +0.1471]  ·  11/12 seeds  ·  p &lt; 0.001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2  The closed loop adds a little more.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LLM-Closed − LLM-Open  +0.0066  [+0.0023, +0.0112]  ·  11/12 seeds  ·  p = 0.012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950" b="1" i="0">
                <a:solidFill>
                  <a:srgbClr val="E8710A"/>
                </a:solidFill>
                <a:latin typeface="Helvetica Neue"/>
              </a:rPr>
              <a:t>3  Non-semantic refinement is flat. 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Greedy − Random  +0.0175  [-0.0249, +0.0625]  ·  6/12 seeds  ·  p = 0.519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Reading: dots = the 12 paired seeds (12 independent draws of training/validation data, shared by all methods); marker = mean; bar = bootstrap 95% confidence interval (CI). Differences are per-seed paired; p = exact paired Wilcoxon test. Model A = the reference model of the baseline (gpt-5.4-mini).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2 · CONTROLLED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One factor at a time; everything else frozen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Every condition differs from the baseline in exactly one declared factor, and an automated check refuses any condition that does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074920" cy="315468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4818888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88038"/>
                </a:solidFill>
                <a:latin typeface="Helvetica Neue"/>
              </a:rPr>
              <a:t>FROZEN for every condition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task: quantum autoencoder, trash fidelity metric, 12 paired seeds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four methods, exactly as defined on the previous slide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language-model workflow: prompt wording, output format, sampling temperature, retry policy (only stated Hamiltonian facts are substituted)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circuit trainer: same optimizer, epochs, initialisation, data splits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selection rule: lowest validation loss; test set read once afterwards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the gate set: RX, RY, RZ rotations and CNOT (controlled-NOT) gates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2124"/>
                </a:solidFill>
                <a:latin typeface="Helvetica Neue"/>
              </a:rPr>
              <a:t>•  random-number streams and all statistical conventions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463040"/>
            <a:ext cx="5852160" cy="315468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4456" y="1536192"/>
            <a:ext cx="5596128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A73E8"/>
                </a:solidFill>
                <a:latin typeface="Helvetica Neue"/>
              </a:rPr>
              <a:t>VARIED — one factor per condition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89320" y="1874519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0020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Factor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Levels tested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02124"/>
                          </a:solidFill>
                          <a:latin typeface="Helvetica Neue"/>
                        </a:rPr>
                        <a:t>All other settings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Evaluation budget B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4 · 8 · 16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Ising, Model A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Qubit count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4 · 6 · 8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B = 8, Ising, Model A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Hamiltonian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Ising · XXZ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B = 8, Model A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Language model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Model A · Model B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02124"/>
                          </a:solidFill>
                          <a:latin typeface="Helvetica Neue"/>
                        </a:rPr>
                        <a:t>4 qubits, Ising, B = 8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89320" y="363931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Model A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= the reference model of the baseline (gpt-5.4-mini, March 2026 snapshot).  </a:t>
            </a:r>
            <a:r>
              <a:rPr sz="950" b="1" i="0">
                <a:solidFill>
                  <a:srgbClr val="8430CE"/>
                </a:solidFill>
                <a:latin typeface="Helvetica Neue"/>
              </a:rPr>
              <a:t>Model B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= the alternative model (gpt-4.1-mini, April 2025 snapshot): same prompt bytes, temperature, retries and token limit; only the model name changes.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XXZ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= the second Hamiltonian family, an XXZ Heisenberg chain H = Σ (Xᵢ Xᵢ₊₁ + Yᵢ Yᵢ₊₁ + Δ Zᵢ Zᵢ₊₁), Δ ∈ [0.2, 2.0], declared before the run. The prompt changes only in the stated physics facts.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155680" cy="14630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09744"/>
            <a:ext cx="10927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Scaling rules, fixed before the run: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(1) circuit width = 3 trainable rotations + 1 CNOT per qubit for every method — so 4 qubits reproduces the baseline's 16-gate contract exactly; (2) half the qubits are latent, half are trash; (3) the two adaptive methods (Greedy, LLM-Closed) always split B evenly: B/2 exploration (proposals made without feedback) + B/2 refinement (proposals that use validation feedback).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Fairness check: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each condition stores a fingerprint of every frozen component above; the run refuses to start if the fingerprint differs from the baseline's or if more than one factor moves. The baseline cell is reused rather than re-run; tests prove the study code reproduces its data, prompts and trainer exactly.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Reused baseline cell: 4 qubits · Ising · B = 8 · Model A. Not part of this study, by design: any change to the prompt's physical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3 · HOW TO READ THE RESULT GRIDS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How to read the two result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One grid per Hamiltonian · one cell per (qubit count, budget) · six categories per cell — the next two slides use exactly this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2A44"/>
                </a:solidFill>
                <a:latin typeface="Helvetica Neue"/>
              </a:rPr>
              <a:t>Ising grid (next slide)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2834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85800"/>
                <a:gridCol w="731520"/>
                <a:gridCol w="68580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4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8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16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4 qubits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4 categories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(Model A only)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6 categories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4 categories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(Model A only)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6 qubits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4 categories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(Model A only)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8 qubits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4 categories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(Model A only)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0" y="148132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F2A44"/>
                </a:solidFill>
                <a:latin typeface="Helvetica Neue"/>
              </a:rPr>
              <a:t>XXZ grid (slide after)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566160" y="1783080"/>
          <a:ext cx="2834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685800"/>
                <a:gridCol w="731520"/>
                <a:gridCol w="685800"/>
              </a:tblGrid>
              <a:tr h="457200"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4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8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Helvetica Neue"/>
                        </a:rPr>
                        <a:t>B = 16</a:t>
                      </a:r>
                    </a:p>
                  </a:txBody>
                  <a:tcPr marL="64008" marR="64008" marT="9525" marB="9525">
                    <a:solidFill>
                      <a:srgbClr val="E8E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4 qubits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4 categories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188038"/>
                          </a:solidFill>
                          <a:latin typeface="Helvetica Neue"/>
                        </a:rPr>
                        <a:t>(Model A only)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6 qubits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02124"/>
                          </a:solidFill>
                          <a:latin typeface="Helvetica Neue"/>
                        </a:rPr>
                        <a:t>8 qubits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A0A6"/>
                          </a:solidFill>
                          <a:latin typeface="Helvetica Neue"/>
                        </a:rPr>
                        <a:t>not run</a:t>
                      </a:r>
                    </a:p>
                  </a:txBody>
                  <a:tcPr marL="64008" marR="64008" marT="9525" marB="95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033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202124"/>
                </a:solidFill>
                <a:latin typeface="Helvetica Neue"/>
              </a:rPr>
              <a:t>Rows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= qubit count (4, 6, 8; half latent, half trash).  </a:t>
            </a:r>
            <a:r>
              <a:rPr sz="950" b="1" i="0">
                <a:solidFill>
                  <a:srgbClr val="202124"/>
                </a:solidFill>
                <a:latin typeface="Helvetica Neue"/>
              </a:rPr>
              <a:t>Columns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= evaluation budget B (4, 8, 16).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C5221F"/>
                </a:solidFill>
                <a:latin typeface="Helvetica Neue"/>
              </a:rPr>
              <a:t>Why cells are missing: 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the study was designed one factor at a time from the baseline cell, so the off-axis cells were not run. They are shown grey, never estimated. Model B was run only in the baseline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63040"/>
            <a:ext cx="5212080" cy="320040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1790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F2A44"/>
                </a:solidFill>
                <a:latin typeface="Helvetica Neue"/>
              </a:rPr>
              <a:t>The six categories in every cell, left to right</a:t>
            </a:r>
          </a:p>
        </p:txBody>
      </p:sp>
      <p:sp>
        <p:nvSpPr>
          <p:cNvPr id="12" name="Oval 11"/>
          <p:cNvSpPr/>
          <p:nvPr/>
        </p:nvSpPr>
        <p:spPr>
          <a:xfrm>
            <a:off x="6656832" y="1920239"/>
            <a:ext cx="146304" cy="146304"/>
          </a:xfrm>
          <a:prstGeom prst="ellipse">
            <a:avLst/>
          </a:prstGeom>
          <a:solidFill>
            <a:srgbClr val="9AA0A6"/>
          </a:solidFill>
          <a:ln w="952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874519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9AA0A6"/>
                </a:solidFill>
                <a:latin typeface="Helvetica Neue"/>
              </a:rPr>
              <a:t>1  Random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no physics, no feedback</a:t>
            </a:r>
          </a:p>
        </p:txBody>
      </p:sp>
      <p:sp>
        <p:nvSpPr>
          <p:cNvPr id="14" name="Oval 13"/>
          <p:cNvSpPr/>
          <p:nvPr/>
        </p:nvSpPr>
        <p:spPr>
          <a:xfrm>
            <a:off x="6656832" y="2368296"/>
            <a:ext cx="146304" cy="146304"/>
          </a:xfrm>
          <a:prstGeom prst="ellipse">
            <a:avLst/>
          </a:prstGeom>
          <a:solidFill>
            <a:srgbClr val="F9AB00"/>
          </a:solidFill>
          <a:ln w="952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322576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F9AB00"/>
                </a:solidFill>
                <a:latin typeface="Helvetica Neue"/>
              </a:rPr>
              <a:t>2  Greedy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no physics; single-gate refinement of the best start</a:t>
            </a:r>
          </a:p>
        </p:txBody>
      </p:sp>
      <p:sp>
        <p:nvSpPr>
          <p:cNvPr id="16" name="Oval 15"/>
          <p:cNvSpPr/>
          <p:nvPr/>
        </p:nvSpPr>
        <p:spPr>
          <a:xfrm>
            <a:off x="6656832" y="2816352"/>
            <a:ext cx="146304" cy="146304"/>
          </a:xfrm>
          <a:prstGeom prst="ellipse">
            <a:avLst/>
          </a:prstGeom>
          <a:solidFill>
            <a:srgbClr val="1A73E8"/>
          </a:solidFill>
          <a:ln w="952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2770632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3  LLM-Open · Model A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open-loop proposals, gpt-5.4-mini</a:t>
            </a:r>
          </a:p>
        </p:txBody>
      </p:sp>
      <p:sp>
        <p:nvSpPr>
          <p:cNvPr id="18" name="Oval 17"/>
          <p:cNvSpPr/>
          <p:nvPr/>
        </p:nvSpPr>
        <p:spPr>
          <a:xfrm>
            <a:off x="6656832" y="3264407"/>
            <a:ext cx="146304" cy="146304"/>
          </a:xfrm>
          <a:prstGeom prst="ellipse">
            <a:avLst/>
          </a:prstGeom>
          <a:solidFill>
            <a:srgbClr val="D93025"/>
          </a:solidFill>
          <a:ln w="952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3218687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4  LLM-Closed · Model A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closed-loop redesigns, gpt-5.4-mini</a:t>
            </a:r>
          </a:p>
        </p:txBody>
      </p:sp>
      <p:sp>
        <p:nvSpPr>
          <p:cNvPr id="20" name="Oval 19"/>
          <p:cNvSpPr/>
          <p:nvPr/>
        </p:nvSpPr>
        <p:spPr>
          <a:xfrm>
            <a:off x="6656832" y="3712464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3666744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73E8"/>
                </a:solidFill>
                <a:latin typeface="Helvetica Neue"/>
              </a:rPr>
              <a:t>5  LLM-Open · Model B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open-loop proposals, gpt-4.1-mini</a:t>
            </a:r>
          </a:p>
        </p:txBody>
      </p:sp>
      <p:sp>
        <p:nvSpPr>
          <p:cNvPr id="22" name="Oval 21"/>
          <p:cNvSpPr/>
          <p:nvPr/>
        </p:nvSpPr>
        <p:spPr>
          <a:xfrm>
            <a:off x="6656832" y="4160520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4114800"/>
            <a:ext cx="4663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93025"/>
                </a:solidFill>
                <a:latin typeface="Helvetica Neue"/>
              </a:rPr>
              <a:t>6  LLM-Closed · Model B</a:t>
            </a:r>
            <a:r>
              <a:rPr sz="950" b="0" i="0">
                <a:solidFill>
                  <a:srgbClr val="202124"/>
                </a:solidFill>
                <a:latin typeface="Helvetica Neue"/>
              </a:rPr>
              <a:t>  —  closed-loop redesigns, gpt-4.1-mini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54880"/>
            <a:ext cx="11155680" cy="14630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09744"/>
            <a:ext cx="10927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Encoding in every cell: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small dots = the 12 paired seeds; large marker = mean; vertical bar = bootstrap 95% CI; the number above = mean. Model A = filled markers, Model B = hollow markers of the same colour. Thick frame = the baseline cell. All cells share the same vertical axis.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Metric: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held-out test trash fidelity F_trash, higher is better; 1.0 means the trash qubits are exactly |00⟩ for every test state.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8710A"/>
                </a:solidFill>
                <a:latin typeface="Helvetica Neue"/>
              </a:rPr>
              <a:t>Comparisons:  </a:t>
            </a:r>
            <a:r>
              <a:rPr sz="1000" b="0" i="0">
                <a:solidFill>
                  <a:srgbClr val="202124"/>
                </a:solidFill>
                <a:latin typeface="Helvetica Neue"/>
              </a:rPr>
              <a:t>all four methods in a cell share the same seeds and data, so differences are read per seed (paired), never as raw means.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Random and Greedy do not depend on the language model, so they appear once per cell; the two LLM methods are split by model, giving six categories.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4 · RESULTS — HAMILTONIAN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Ising chain: the semantic methods stay on top in every cell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H = −Σ Zᵢ Zᵢ₊₁ − h Σ Xᵢ, h ∈ [0.2, 2.0]  ·  5 of 9 cells run (one factor at a time)  ·  Model B only in the baseline cell</a:t>
            </a:r>
          </a:p>
        </p:txBody>
      </p:sp>
      <p:pic>
        <p:nvPicPr>
          <p:cNvPr id="5" name="Picture 4" descr="grid_tf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9884402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Reading: going down the middle column, Random falls from 0.852 to 0.592 while LLM-Open (Model A) falls only from 0.960 to 0.876. Every number is a mean over 12 paired seeds; grey cells were not run.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5 · RESULTS — HAMILTONIAN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XXZ chain: the same picture in the one cell that was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H = Σ (Xᵢ Xᵢ₊₁ + Yᵢ Yᵢ₊₁ + Δ Zᵢ Zᵢ₊₁), Δ ∈ [0.2, 2.0]  ·  1 of 9 cells run (the baseline's qubit count and budget)  ·  Model A only</a:t>
            </a:r>
          </a:p>
        </p:txBody>
      </p:sp>
      <p:pic>
        <p:nvPicPr>
          <p:cNvPr id="5" name="Picture 4" descr="grid_xx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9884402" cy="4983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Reading: at 4 qubits, B = 8 the ordering is LLM-Closed 0.956 &gt; LLM-Open 0.922 &gt; Random 0.809, with Random's seeds spread widely. The other eight cells were not run and are shown grey, not estimated.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6 · CROSS-GRID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What consistently helps, and what is fragile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Rows = run cells; panels = paired per-seed differences (positive = the first method wins). Filled marker = p &lt; 0.05; dashed line = the baseline's value.</a:t>
            </a:r>
          </a:p>
        </p:txBody>
      </p:sp>
      <p:pic>
        <p:nvPicPr>
          <p:cNvPr id="5" name="Picture 4" descr="forest_d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84280" cy="31265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709160"/>
            <a:ext cx="3611880" cy="155448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4782312"/>
            <a:ext cx="3355848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188038"/>
                </a:solidFill>
                <a:latin typeface="Helvetica Neue"/>
              </a:rPr>
              <a:t>ROBUST — physics-informed proposals beat non-semantic search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LLM-Open − Random keeps its sign in 6/6 varied conditions and is significant in 4/6; LLM-Closed − Random is significant in 6/6. The gap is largest at 8 qubits, where the non-semantic methods degrade fastest.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4709160"/>
            <a:ext cx="3611880" cy="155448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9975" y="4782312"/>
            <a:ext cx="3355848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D93025"/>
                </a:solidFill>
                <a:latin typeface="Helvetica Neue"/>
              </a:rPr>
              <a:t>FRAGILE — the closed loop's edge over the open batch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LLM-Closed − LLM-Open keeps the baseline's sign in only 2/6 varied conditions: significantly positive at B = 4, the XXZ chain, significantly negative at 6 qubits, 8 qubits.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4709160"/>
            <a:ext cx="3611880" cy="155448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9016" y="4782312"/>
            <a:ext cx="3355848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 i="0">
                <a:solidFill>
                  <a:srgbClr val="F9AB00"/>
                </a:solidFill>
                <a:latin typeface="Helvetica Neue"/>
              </a:rPr>
              <a:t>NEVER HELPS — single-gate greedy refinement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Greedy − Random is significantly positive in 0/6 conditions and significantly negative at B = 4: spending half of a small budget on single-gate steps costs breadth.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"Significant" = exact paired Wilcoxon p &lt; 0.05 over 12 seeds; "keeps its sign" = the mean paired difference has the same sign as in the baseline. A non-significant cell is not evidence of no effect.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What the pattern implies —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Four factors, read one at a time; the right-hand panel shows a failure mode that runs across all of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291840" cy="228600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30358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A73E8"/>
                </a:solidFill>
                <a:latin typeface="Helvetica Neue"/>
              </a:rPr>
              <a:t>Budget B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The closed loop's edge over the open batch is largest at the smallest budget (+0.0812 at B = 4), small at B = 8 (+0.0066) and gone at B = 16 (-0.0023). Free redesign is worth most when the open batch is thinnest; a wide open batch buys the same breadth without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463040"/>
            <a:ext cx="3291840" cy="228600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59936" y="1536192"/>
            <a:ext cx="30358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88038"/>
                </a:solidFill>
                <a:latin typeface="Helvetica Neue"/>
              </a:rPr>
              <a:t>Qubit count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Absolute fidelity falls for every method as the register widens, but the semantic advantage grows: LLM-Open − Random +0.1084 → +0.1968 → +0.2841. The closed loop reverses (-0.0494 at 6, -0.0752 at 8 qubits).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858768"/>
            <a:ext cx="3291840" cy="228600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3931920"/>
            <a:ext cx="30358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F9AB00"/>
                </a:solidFill>
                <a:latin typeface="Helvetica Neue"/>
              </a:rPr>
              <a:t>Hamiltonian family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On the XXZ chain the closed loop wins clearly (+0.0348, 12/12 seeds). LLM-Open − Random is +0.1121 on average but only 5/12 seeds: Random occasionally finds a very good circuit here, so the mean overstates a per-seed effect. Two families are two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858768"/>
            <a:ext cx="3291840" cy="228600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3931920"/>
            <a:ext cx="30358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D93025"/>
                </a:solidFill>
                <a:latin typeface="Helvetica Neue"/>
              </a:rPr>
              <a:t>Language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0" i="0">
                <a:solidFill>
                  <a:srgbClr val="202124"/>
                </a:solidFill>
                <a:latin typeface="Helvetica Neue"/>
              </a:rPr>
              <a:t>With Model B the semantic advantage is essentially unchanged (+0.0982 vs +0.1084), even though only 65% of its evaluated proposals satisfied the gate-count contract. The closed loop does not keep its edge (-0.0336).</a:t>
            </a:r>
          </a:p>
        </p:txBody>
      </p:sp>
      <p:pic>
        <p:nvPicPr>
          <p:cNvPr id="13" name="Picture 12" descr="compliance_by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17320"/>
            <a:ext cx="3995832" cy="3200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52360" y="4681728"/>
            <a:ext cx="4297680" cy="160020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4727448"/>
            <a:ext cx="40233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1F2A44"/>
                </a:solidFill>
                <a:latin typeface="Helvetica Neue"/>
              </a:rPr>
              <a:t>A separate failure mode: the gate-count contract  </a:t>
            </a:r>
            <a:r>
              <a:rPr sz="900" b="0" i="0">
                <a:solidFill>
                  <a:srgbClr val="202124"/>
                </a:solidFill>
                <a:latin typeface="Helvetica Neue"/>
              </a:rPr>
              <a:t>= every proposal must contain exactly 3 rotations and 1 CNOT per qubit; a proposal that does not is replaced by a flagged random circuit and costs one of the B evaluations.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00" b="1" i="0">
                <a:solidFill>
                  <a:srgbClr val="202124"/>
                </a:solidFill>
                <a:latin typeface="Helvetica Neue"/>
              </a:rPr>
              <a:t>Which call breaks depends on the condition, not the method: </a:t>
            </a:r>
            <a:r>
              <a:rPr sz="900" b="0" i="0">
                <a:solidFill>
                  <a:srgbClr val="202124"/>
                </a:solidFill>
                <a:latin typeface="Helvetica Neue"/>
              </a:rPr>
              <a:t>with Model B the open batch fell to 38% valid (closed loop 93%); at 6 qubits the closed loop fell to 70% (open batch 100%). </a:t>
            </a:r>
            <a:r>
              <a:rPr sz="900" b="1" i="0">
                <a:solidFill>
                  <a:srgbClr val="C5221F"/>
                </a:solidFill>
                <a:latin typeface="Helvetica Neue"/>
              </a:rPr>
              <a:t>So part of an apparent method effect at larger registers or with a weaker model is a proposal-validity effect.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Not claimed: that the closed loop is bad in general, or that any one ingredient causes the semantic advantage. Greedy and LLM-Closed differ in search freedom as well as physics knowledge,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8 · LIMITATIONS AND NEXT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What this study cannot say, and the concrete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F6368"/>
                </a:solidFill>
                <a:latin typeface="Helvetica Neue"/>
              </a:rPr>
              <a:t>Limitations of the evidence on the left; the next experiment, phrased as a measurable target, on the right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394960" cy="4800600"/>
          </a:xfrm>
          <a:prstGeom prst="roundRect">
            <a:avLst/>
          </a:prstGeom>
          <a:solidFill>
            <a:srgbClr val="F1F3F4"/>
          </a:solidFill>
          <a:ln w="15875">
            <a:solidFill>
              <a:srgbClr val="9AA0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5138928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Helvetica Neue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12 paired seeds per cell: enough for large effects, underpowered for small ones — a "not detected" cell is not evidence of absence.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One factor at a time: no interaction was measured (for example a large budget at 8 qubits); 4 of 9 Ising cells and 8 of 9 XXZ cells are empty.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Two Hamiltonian families and two language models are two points each, not a survey; Model B was run only in the baseline cell.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Noiseless state-vector simulation: no sampling noise, no device connectivity.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The circuit width grows with the qubit count by a fixed rule, so "more qubits" also means "more gates"; the two were not separated.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Greedy and LLM-Closed differ in search freedom as well as in physics knowledge, so that pair is not an information-matched comparison.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•  Simulation cost, not model cost, is the binding constraint: state-vector training grows exponentially with the qubit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532120" cy="4800600"/>
          </a:xfrm>
          <a:prstGeom prst="roundRect">
            <a:avLst/>
          </a:prstGeom>
          <a:solidFill>
            <a:srgbClr val="FEF7E0"/>
          </a:solidFill>
          <a:ln w="2222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536192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200" b="1" i="0">
                <a:solidFill>
                  <a:srgbClr val="E8710A"/>
                </a:solidFill>
                <a:latin typeface="Helvetica Neue"/>
              </a:rPr>
              <a:t>NEXT ACTION — target accuracy and minimum required budget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So far every comparison asks "which method is best at a fixed budget B?". The practical question is the reverse: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1  Target accuracy.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Fix, before any run, the held-out trash fidelity the compressed state must reach for its downstream use — a target F_target (candidate levels 0.95 and 0.99, to be chosen with the application in mind).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2  Minimum required budget. 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For each method and condition, measure B_min = the smallest budget at which the selected circuit reaches F_target in at least 10 of the 12 paired seeds. Sweep B ∈ {2, 4, 8, 16, 32} at 4 and 8 qubits for both Hamiltonians and both models.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1" i="0">
                <a:solidFill>
                  <a:srgbClr val="202124"/>
                </a:solidFill>
                <a:latin typeface="Helvetica Neue"/>
              </a:rPr>
              <a:t>What already exists: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Random's candidates are nested across budgets, so its B_min for B ≤ 16 can be read from the logged runs without new simulation; the LLM methods need new runs because their batches change with B.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100" b="1" i="0">
                <a:solidFill>
                  <a:srgbClr val="202124"/>
                </a:solidFill>
                <a:latin typeface="Helvetica Neue"/>
              </a:rPr>
              <a:t>Deliverable: </a:t>
            </a:r>
            <a:r>
              <a:rPr sz="1100" b="0" i="0">
                <a:solidFill>
                  <a:srgbClr val="202124"/>
                </a:solidFill>
                <a:latin typeface="Helvetica Neue"/>
              </a:rPr>
              <a:t>one table of B_min per (method, qubit count, Hamiltonian, model) at each F_target, pre-registered like this study, with the same paired-seed statistics.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Also still open, in order: a full factorial grid (interactions), more Hamiltonian families and models, sampling noise and hardware topology.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C5221F"/>
                </a:solidFill>
                <a:latin typeface="Helvetica Neue"/>
              </a:rPr>
              <a:t>9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F2A44"/>
                </a:solidFill>
                <a:latin typeface="Helvetica Neue"/>
              </a:rPr>
              <a:t>What is robust, what is fragile, what is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155680" cy="10058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1880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444752"/>
            <a:ext cx="108996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88038"/>
                </a:solidFill>
                <a:latin typeface="Helvetica Neue"/>
              </a:rPr>
              <a:t>Robust: physics-informed proposals beat non-semantic search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Same sign in 6 of 6 varied conditions (significant in 4) — a different budget, a wider register, a different Hamiltonian, a different language model. This is no longer a property of one setting.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87168"/>
            <a:ext cx="11155680" cy="1005840"/>
          </a:xfrm>
          <a:prstGeom prst="roundRect">
            <a:avLst/>
          </a:prstGeom>
          <a:solidFill>
            <a:srgbClr val="FCE8E6"/>
          </a:solidFill>
          <a:ln w="15875">
            <a:solidFill>
              <a:srgbClr val="D930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560320"/>
            <a:ext cx="108996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D93025"/>
                </a:solidFill>
                <a:latin typeface="Helvetica Neue"/>
              </a:rPr>
              <a:t>Fragile: the closed loop's edge over the open batch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Significantly positive in 2 of 6 varied conditions and significantly negative in 2: it helps at small budgets and on the XXZ chain, vanishes at a large budget, and reverses at 6 and 8 qubits. The claim must be restated as budget- and width-dependent.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02736"/>
            <a:ext cx="11155680" cy="1005840"/>
          </a:xfrm>
          <a:prstGeom prst="roundRect">
            <a:avLst/>
          </a:prstGeom>
          <a:solidFill>
            <a:srgbClr val="FEF7E0"/>
          </a:solidFill>
          <a:ln w="15875">
            <a:solidFill>
              <a:srgbClr val="F9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3675888"/>
            <a:ext cx="108996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F9AB00"/>
                </a:solidFill>
                <a:latin typeface="Helvetica Neue"/>
              </a:rPr>
              <a:t>New and measurable: proposal validity is its own bottleneck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As few as 65% of evaluated proposals met the gate-count contract in the weakest cell, and each invalid proposal is spent as a random draw. Fixing generation validity is cheaper than richer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18304"/>
            <a:ext cx="11155680" cy="100584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4791456"/>
            <a:ext cx="10899648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A73E8"/>
                </a:solidFill>
                <a:latin typeface="Helvetica Neue"/>
              </a:rPr>
              <a:t>Open: the budget the application actually needs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2124"/>
                </a:solidFill>
                <a:latin typeface="Helvetica Neue"/>
              </a:rPr>
              <a:t>Next: fix a target accuracy and measure the minimum budget each method needs to reach it — the question that decides whether any of this is worth using.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25312"/>
            <a:ext cx="11155680" cy="457200"/>
          </a:xfrm>
          <a:prstGeom prst="roundRect">
            <a:avLst/>
          </a:prstGeom>
          <a:solidFill>
            <a:srgbClr val="1F2A44"/>
          </a:solidFill>
          <a:ln w="1587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971032"/>
            <a:ext cx="10927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9AB00"/>
                </a:solidFill>
                <a:latin typeface="Helvetica Neue"/>
              </a:rPr>
              <a:t>One-line message:  </a:t>
            </a:r>
            <a:r>
              <a:rPr sz="1150" b="0" i="0">
                <a:solidFill>
                  <a:srgbClr val="FFFFFF"/>
                </a:solidFill>
                <a:latin typeface="Helvetica Neue"/>
              </a:rPr>
              <a:t>the language model's advantage is in the proposals it writes, and that advantage survived every single-factor change; the feedback loop's advantage did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F6368"/>
                </a:solidFill>
                <a:latin typeface="Helvetica Neue"/>
              </a:rPr>
              <a:t>All figures and statistics come from the committed result tables via the committed build scripts; 12 paired seeds per cell; held-out test read once after validation-only selection.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