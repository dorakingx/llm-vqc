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>
                <a:solidFill>
                  <a:srgbClr val="202124"/>
                </a:solidFill>
                <a:latin typeface="Helvetica Neue"/>
              </a:rPr>
              <a:t>Does the quantum-autoencoder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3800" b="1">
                <a:solidFill>
                  <a:srgbClr val="202124"/>
                </a:solidFill>
                <a:latin typeface="Helvetica Neue"/>
              </a:rPr>
              <a:t>search result hold 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5F6368"/>
                </a:solidFill>
                <a:latin typeface="Helvetica Neue"/>
              </a:rPr>
              <a:t>A controlled stress test of last meeting's finding: change one thing at a time and see what survives.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2487168" cy="137160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2487168" cy="822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76732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202124"/>
                </a:solidFill>
                <a:latin typeface="Helvetica Neue"/>
              </a:rPr>
              <a:t>Evaluation budget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1A73E8"/>
                </a:solidFill>
                <a:latin typeface="Helvetica Neue"/>
              </a:rPr>
              <a:t>B = 4  /  8  /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566160"/>
            <a:ext cx="2487168" cy="137160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3566160"/>
            <a:ext cx="2487168" cy="82296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4" y="376732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202124"/>
                </a:solidFill>
                <a:latin typeface="Helvetica Neue"/>
              </a:rPr>
              <a:t>Qubit count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D93025"/>
                </a:solidFill>
                <a:latin typeface="Helvetica Neue"/>
              </a:rPr>
              <a:t>4  /  6  /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66160"/>
            <a:ext cx="2487168" cy="137160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3566160"/>
            <a:ext cx="2487168" cy="82296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376732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202124"/>
                </a:solidFill>
                <a:latin typeface="Helvetica Neue"/>
              </a:rPr>
              <a:t>Hamiltonian family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F9AB00"/>
                </a:solidFill>
                <a:latin typeface="Helvetica Neue"/>
              </a:rPr>
              <a:t>Ising  /  XXZ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566160"/>
            <a:ext cx="2487168" cy="137160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3566160"/>
            <a:ext cx="2487168" cy="82296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8864" y="376732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>
                <a:solidFill>
                  <a:srgbClr val="202124"/>
                </a:solidFill>
                <a:latin typeface="Helvetica Neue"/>
              </a:rPr>
              <a:t>Language model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9AA0A6"/>
                </a:solidFill>
                <a:latin typeface="Helvetica Neue"/>
              </a:rPr>
              <a:t>two 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202124"/>
                </a:solidFill>
                <a:latin typeface="Helvetica Neue"/>
              </a:rPr>
              <a:t>Everything else is frozen: same methods, prompts, schema, trainer, optimizer, splits, selection rule and the same 12 paired seeds.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5F6368"/>
                </a:solidFill>
                <a:latin typeface="Helvetica Neue"/>
              </a:rPr>
              <a:t>Held-out test trash fidelity, read once after selection. Higher is better.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Research meeting - 4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Where we left off: the previous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4 qubits - transverse-field Ising chain - budget B = 8 - 12 paired seeds</a:t>
            </a:r>
          </a:p>
        </p:txBody>
      </p:sp>
      <p:pic>
        <p:nvPicPr>
          <p:cNvPr id="5" name="Picture 4" descr="fig01_previou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903720" cy="3753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81328"/>
            <a:ext cx="4041648" cy="44805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02124"/>
                </a:solidFill>
                <a:latin typeface="Helvetica Neue"/>
              </a:rPr>
              <a:t>The two claims to stress-test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73E8"/>
                </a:solidFill>
                <a:latin typeface="Helvetica Neue"/>
              </a:rPr>
              <a:t>1. Semantics is decisive.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Helvetica Neue"/>
              </a:rPr>
              <a:t>Open - Random +0.1084 [+0.0726, +0.1471], 11/12 seeds, p &lt; 0.001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D93025"/>
                </a:solidFill>
                <a:latin typeface="Helvetica Neue"/>
              </a:rPr>
              <a:t>2. Closed-loop redesign adds a little more.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Helvetica Neue"/>
              </a:rPr>
              <a:t>Closed - Open +0.0066 [+0.0023, +0.0112], 11/12 seeds, p = 0.012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9AB00"/>
                </a:solidFill>
                <a:latin typeface="Helvetica Neue"/>
              </a:rPr>
              <a:t>3. Non-semantic search is flat.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Helvetica Neue"/>
              </a:rPr>
              <a:t>Greedy - Random +0.0175 [-0.0249, +0.0625], 6/12 seeds, p = 0.519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02124"/>
                </a:solidFill>
                <a:latin typeface="Helvetica Neue"/>
              </a:rPr>
              <a:t>Selected-architecture means: Random 0.8520, Greedy 0.8696, Open 0.9605, Closed 0.9671.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6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Helvetica Neue"/>
              </a:rPr>
              <a:t>Claim 1 was large and consistent. Claim 2 was small and had been detected exactly once - the fragile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Reference values read from the committed result tables of the previous study, not from last meeting's slide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How the comparison is kept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One factor at a time; every other setting held at the previous condition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65836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Factor varied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Levels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Everything else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Evaluation budget B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4  -  8  -  16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4 qubits, Ising, reference model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Qubit count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4  -  6  -  8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B = 8, Ising, reference model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Hamiltonian family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Ising  -  XXZ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4 qubits, B = 8, reference model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Language model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reference  -  alternative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02124"/>
                          </a:solidFill>
                          <a:latin typeface="Helvetica Neue"/>
                        </a:rPr>
                        <a:t>4 qubits, Ising, B = 8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70332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202124"/>
                </a:solidFill>
                <a:latin typeface="Helvetica Neue"/>
              </a:rPr>
              <a:t>Held constant, and checked mechanically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Prompt template, wording and output schema; validation and retry behaviour; sampling temperature; the trainer, optimizer, epochs and initialisation; the data splits; the selection rule; the gate set; every method's logic; the random-number streams; and all analysis conventions.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5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>
                <a:solidFill>
                  <a:srgbClr val="202124"/>
                </a:solidFill>
                <a:latin typeface="Helvetica Neue"/>
              </a:rPr>
              <a:t>Each condition carries a fingerprint of all of the above. An automated check refuses to run a condition whose frozen block is not identical to the previous condition's, or that moves more than one factor.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72768"/>
            <a:ext cx="4279392" cy="44805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6096" y="1737360"/>
            <a:ext cx="3886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02124"/>
                </a:solidFill>
                <a:latin typeface="Helvetica Neue"/>
              </a:rPr>
              <a:t>The four methods (unchanged)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4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9AA0A6"/>
                </a:solidFill>
                <a:latin typeface="Helvetica Neue"/>
              </a:rPr>
              <a:t>Random - B independent uniform candidates.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9AB00"/>
                </a:solidFill>
                <a:latin typeface="Helvetica Neue"/>
              </a:rPr>
              <a:t>Greedy - B/2 random starts, then B/2 single-change refinements.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Helvetica Neue"/>
              </a:rPr>
              <a:t>Open - B semantic proposals, all written before any score is seen.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D93025"/>
                </a:solidFill>
                <a:latin typeface="Helvetica Neue"/>
              </a:rPr>
              <a:t>Closed - B/2 semantic starts, then B/2 free redesigns of the current best using validation feedback.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7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02124"/>
                </a:solidFill>
                <a:latin typeface="Helvetica Neue"/>
              </a:rPr>
              <a:t>Scaling rules fixed in advance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Circuit width is 3 trainable rotations + 1 controlled-NOT per qubit for every method, so 4 qubits reproduces the previous contract exactly.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Latent and trash registers are always half and half.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Adaptive methods always split the budget 50/50 between exploration and refinement.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5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02124"/>
                </a:solidFill>
                <a:latin typeface="Helvetica Neue"/>
              </a:rPr>
              <a:t>Selection and feedback use validation only. The held-out test set is read once, after selection.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The previous condition is reused rather than re-run; tests prove this code reproduces its data, prompts and trainer exactly.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Changing the evaluation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4 qubits, Ising chain, reference model - only B moves. B = 8 is the previous condition.</a:t>
            </a:r>
          </a:p>
        </p:txBody>
      </p:sp>
      <p:pic>
        <p:nvPicPr>
          <p:cNvPr id="5" name="Picture 4" descr="fig02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426464"/>
            <a:ext cx="10241280" cy="32429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71830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Helvetica Neue"/>
              </a:rPr>
              <a:t>Semantic proposals beat non-semantic search at every budget.  The closed loop's edge over the open batch is budget-dependent: largest at the smallest budget and gone by the largest.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321808"/>
          <a:ext cx="115214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368040"/>
                <a:gridCol w="3368040"/>
                <a:gridCol w="3368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Paired contrast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B = 4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B = 8  (previous)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B = 16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73E8"/>
                          </a:solidFill>
                          <a:latin typeface="Helvetica Neue"/>
                        </a:rPr>
                        <a:t>Open - Random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+0.0681  [+0.010, +0.141]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8/12 seeds, p = 0.064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+0.1084  [+0.073, +0.147]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+0.0789  [+0.056, +0.101]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D93025"/>
                          </a:solidFill>
                          <a:latin typeface="Helvetica Neue"/>
                        </a:rPr>
                        <a:t>Closed - Open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+0.0812  [+0.060, +0.099]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+0.0066  [+0.002, +0.011]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= 0.012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-0.0023  [-0.008, +0.002]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9/12 seeds, p = 0.677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Adaptive methods keep the 50/50 exploration/refinement split at every budget (2+2, 4+4, 8+8). All 12 seeds are shown as dots.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Changing the qubit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Ising chain, B = 8, reference model - only the register size moves. 4 qubits is the previous condition.</a:t>
            </a:r>
          </a:p>
        </p:txBody>
      </p:sp>
      <p:pic>
        <p:nvPicPr>
          <p:cNvPr id="5" name="Picture 4" descr="fig03_qu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426464"/>
            <a:ext cx="10241280" cy="3239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71830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Helvetica Neue"/>
              </a:rPr>
              <a:t>The task gets harder with width, but the semantic advantage does not go away.  The closed loop's edge does not survive the wider registers (only 85% of its candidates at 6 qubits were valid model proposals).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321808"/>
          <a:ext cx="115214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368040"/>
                <a:gridCol w="3368040"/>
                <a:gridCol w="3368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Paired contrast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4 qubits  (previous)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6 qubits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8 qubits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73E8"/>
                          </a:solidFill>
                          <a:latin typeface="Helvetica Neue"/>
                        </a:rPr>
                        <a:t>Open - Random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+0.1084  [+0.073, +0.147]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+0.1968  [+0.180, +0.214]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12/12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+0.2841  [+0.257, +0.313]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12/12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D93025"/>
                          </a:solidFill>
                          <a:latin typeface="Helvetica Neue"/>
                        </a:rPr>
                        <a:t>Closed - Open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+0.0066  [+0.002, +0.011]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= 0.012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-0.0494  [-0.078, -0.024]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0/12 seeds, p &lt; 0.001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-0.0752  [-0.132, -0.027]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1/12 seeds, p = 0.007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Width scales deterministically: 3 rotations + 1 controlled-NOT per qubit for every method, latent and trash always half and half. A declared scaling rule, not a gate-count study.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Changing the Hamiltonian family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4 qubits, B = 8, reference model - only the physics in the task description moves. The Ising chain is the previous condition.</a:t>
            </a:r>
          </a:p>
        </p:txBody>
      </p:sp>
      <p:pic>
        <p:nvPicPr>
          <p:cNvPr id="5" name="Picture 4" descr="fig04_hamilton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426464"/>
            <a:ext cx="10241280" cy="3219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71830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Helvetica Neue"/>
              </a:rPr>
              <a:t>A different, pre-declared state family - an XXZ Heisenberg chain over the same anisotropy range - with the same circuit space, trainer, seeds and prompt wording.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321808"/>
          <a:ext cx="115214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052060"/>
                <a:gridCol w="50520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Paired contrast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transverse-field Ising  (previous)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XXZ Heisenberg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73E8"/>
                          </a:solidFill>
                          <a:latin typeface="Helvetica Neue"/>
                        </a:rPr>
                        <a:t>Open - Random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+0.1084  [+0.073, +0.147]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+0.1121  [+0.015, +0.221]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5/12 seeds, p = 0.791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D93025"/>
                          </a:solidFill>
                          <a:latin typeface="Helvetica Neue"/>
                        </a:rPr>
                        <a:t>Closed - Open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+0.0066  [+0.002, +0.011]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= 0.012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+0.0348  [+0.030, +0.041]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12/12 seeds, p &lt; 0.001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Only Hamiltonian facts were substituted into the frozen prompt - name, formula, parameter range and interaction type. An automated check confirms nothing else in the prompt 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Changing the underlying language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4 qubits, Ising chain, B = 8 - only the model identifier moves (reference gpt-5.4-mini, alternative gpt-4.1-mini).</a:t>
            </a:r>
          </a:p>
        </p:txBody>
      </p:sp>
      <p:pic>
        <p:nvPicPr>
          <p:cNvPr id="5" name="Picture 4" descr="fig05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426464"/>
            <a:ext cx="10241280" cy="3219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718304"/>
            <a:ext cx="11109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02124"/>
                </a:solidFill>
                <a:latin typeface="Helvetica Neue"/>
              </a:rPr>
              <a:t>Same prompt bytes, temperature, schema, retry policy and token limit. Resource-contract compliance falls from 96% to 65% of evaluated candidates, yet the semantic advantage is essentially unchanged.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5321808"/>
          <a:ext cx="115214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052060"/>
                <a:gridCol w="50520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Paired contrast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reference model  (previous)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02124"/>
                          </a:solidFill>
                          <a:latin typeface="Helvetica Neue"/>
                        </a:rPr>
                        <a:t>alternative model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73E8"/>
                          </a:solidFill>
                          <a:latin typeface="Helvetica Neue"/>
                        </a:rPr>
                        <a:t>Open - Random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+0.1084  [+0.073, +0.147]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+0.0982  [+0.062, +0.137]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&lt; 0.001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D93025"/>
                          </a:solidFill>
                          <a:latin typeface="Helvetica Neue"/>
                        </a:rPr>
                        <a:t>Closed - Open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+0.0066  [+0.002, +0.011]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11/12 seeds, p = 0.012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-0.0336  [-0.055, -0.011]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Helvetica Neue"/>
                        </a:rPr>
                        <a:t>4/12 seeds, p = 0.052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Invalid proposals are replaced by flagged random draws under the frozen policy, so a weaker model shows up both as lower fidelity and as a lower compliance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Everything at once: what survived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Paired difference in test fidelity with bootstrap 95% CI - filled = significant at p &lt; 0.05, dashed line = the previous condition</a:t>
            </a:r>
          </a:p>
        </p:txBody>
      </p:sp>
      <p:pic>
        <p:nvPicPr>
          <p:cNvPr id="5" name="Picture 4" descr="fig06_summary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752"/>
            <a:ext cx="11247120" cy="303848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31720" y="4681728"/>
          <a:ext cx="7498080" cy="1568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</a:tblGrid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Condition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Open - Random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Closed - Open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02124"/>
                          </a:solidFill>
                          <a:latin typeface="Helvetica Neue"/>
                        </a:rPr>
                        <a:t>Greedy - Random</a:t>
                      </a:r>
                    </a:p>
                  </a:txBody>
                  <a:tcPr marL="73152" marR="54864" marT="12700" marB="12700">
                    <a:solidFill>
                      <a:srgbClr val="ECEFF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B = 4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reverses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B = 16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6 qubits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reverses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8 qubits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reverses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XXZ chain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Alt. model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holds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2124"/>
                          </a:solidFill>
                          <a:latin typeface="Helvetica Neue"/>
                        </a:rPr>
                        <a:t>not detected</a:t>
                      </a:r>
                    </a:p>
                  </a:txBody>
                  <a:tcPr marL="73152" marR="54864" marT="12700" marB="12700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Positive = the first method wins. "holds" = same sign as the previous condition and significant at p &lt; 0.05; "not detected" = not significant at 12 seeds; "reverses" = significant with the opposite 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What this means, what it costs, what it does not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5F6368"/>
                </a:solidFill>
                <a:latin typeface="Helvetica Neue"/>
              </a:rPr>
              <a:t>Reading the pattern above rather than any single cell</a:t>
            </a:r>
          </a:p>
        </p:txBody>
      </p:sp>
      <p:pic>
        <p:nvPicPr>
          <p:cNvPr id="5" name="Picture 4" descr="fig07_proposal_valid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481328"/>
            <a:ext cx="4846320" cy="2170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481328"/>
            <a:ext cx="630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202124"/>
                </a:solidFill>
                <a:latin typeface="Helvetica Neue"/>
              </a:rPr>
              <a:t>Interpretation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Helvetica Neue"/>
              </a:rPr>
              <a:t>The semantic advantage over non-semantic search is the durable part of the previous result: it keeps its sign in 6 of 6 conditions and is significant in 4; where it is not significant the effect is still positive but the per-seed win count is low.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Helvetica Neue"/>
              </a:rPr>
              <a:t>The closed-loop advantage is NOT a stable property: it keeps the previous sign in only 2 of 6 conditions, is significantly positive in 2 (B = 4, the XXZ chain) and significantly negative in 2 (6 qubits, 8 qubits).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Helvetica Neue"/>
              </a:rPr>
              <a:t>A separate failure mode is visible alongside the search results: resource-contract compliance. Which call breaks is condition-specific - in the alternative model the open batch fell to 38% while the closed loop stayed at 93%; in 6 qubits the closed loop fell to 70% while the open batch stayed at 100%. Every invalid proposal is spent as a flagged random draw under the frozen policy, so part of what looks like a method effect is a generation-validity effect.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202124"/>
                </a:solidFill>
                <a:latin typeface="Helvetica Neue"/>
              </a:rPr>
              <a:t>Non-semantic refinement never helps: 0 of 6 conditions show a gain over a plain random sweep, and at B = 4 it is significantly worse - spending half a small budget on single-gate steps costs breadth without buying quality.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600" b="0">
                <a:solidFill>
                  <a:srgbClr val="202124"/>
                </a:solidFill>
                <a:latin typeface="Helvetica Neue"/>
              </a:rPr>
              <a:t/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02124"/>
                </a:solidFill>
                <a:latin typeface="Helvetica Neue"/>
              </a:rPr>
              <a:t>Limitations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Twelve paired seeds per cell: enough for large effects, underpowered for small ones. A "not detected" cell is not evidence of absence.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One factor at a time means no interactions were estimated - for example a large budget at eight qubits.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Two Hamiltonian families and two models are two points, not a survey.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Noiseless state-vector simulation throughout; no sampling noise and no device topology constraints.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Helvetica Neue"/>
              </a:rPr>
              <a:t>The closed loop is given more search freedom than the single-change baseline, so that pair is not information-matched; capacity, gate set, parameter count, optimizer, data and budget are matched.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59168" y="4224528"/>
            <a:ext cx="4846320" cy="196596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0336" y="4352544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02124"/>
                </a:solidFill>
                <a:latin typeface="Helvetica Neue"/>
              </a:rPr>
              <a:t>Cost and scaling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F6368"/>
                </a:solidFill>
                <a:latin typeface="Helvetica Neue"/>
              </a:rPr>
              <a:t>511 model calls across the whole study (428,651 input and 225,577 output tokens), under a hard spending cap.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F6368"/>
                </a:solidFill>
                <a:latin typeface="Helvetica Neue"/>
              </a:rPr>
              <a:t>Simulation cost, not model cost, is the binding constraint: state-vector training grows exponentially with the register, while the number of model calls grows only linearly in the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63459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Out of scope by design: any ablation of the prompt's semantic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02124"/>
                </a:solidFill>
                <a:latin typeface="Helvetica Neue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9264"/>
            <a:ext cx="1371600" cy="34925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11064240" cy="102412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" cy="102412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73E8"/>
                </a:solidFill>
                <a:latin typeface="Helvetica Neue"/>
              </a:rPr>
              <a:t>The headline finding keeps its direction under every single-factor change.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Helvetica Neue"/>
              </a:rPr>
              <a:t>Semantic proposals beat non-semantic search with the same sign in 6 of 6 varied conditions - a different budget, a different register size, a different Hamiltonian and a different language model - and significantly so in 4. This is no longer a property of one setting.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11064240" cy="102412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51760"/>
            <a:ext cx="91440" cy="1024128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706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D93025"/>
                </a:solidFill>
                <a:latin typeface="Helvetica Neue"/>
              </a:rPr>
              <a:t>The closed-loop advantage does not generalise as stated.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Helvetica Neue"/>
              </a:rPr>
              <a:t>It was the fragile claim, and it broke where it was tested hardest. Across budgets it runs +0.0812 to +0.0066 to -0.0023; across register sizes it runs +0.0066 to -0.0494 to -0.0752. Both ladders move against it, so the claim has to be restated as budget- and width-dependent rather than general.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22191"/>
            <a:ext cx="11064240" cy="102412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22191"/>
            <a:ext cx="91440" cy="1024128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41063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9AB00"/>
                </a:solidFill>
                <a:latin typeface="Helvetica Neue"/>
              </a:rPr>
              <a:t>Generating a valid circuit is a separate, measurable bottleneck.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Helvetica Neue"/>
              </a:rPr>
              <a:t>Compliance with the exact resource contract fell as low as 65% of evaluated candidates, and which call breaks depends on the condition rather than on the method. Because an invalid proposal is spent as a random draw, fixing generation validity is worth more right now than richer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992624"/>
            <a:ext cx="11064240" cy="1024128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E0E3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992624"/>
            <a:ext cx="91440" cy="1024128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11496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3C4043"/>
                </a:solidFill>
                <a:latin typeface="Helvetica Neue"/>
              </a:rPr>
              <a:t>Next: interactions, more families and models, and noise.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02124"/>
                </a:solidFill>
                <a:latin typeface="Helvetica Neue"/>
              </a:rPr>
              <a:t>The single-factor grid is clean but conservative. The open questions are whether the effects compound at larger widths and budgets together, and whether they survive sampling noise and hardware topology.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F6368"/>
                </a:solidFill>
                <a:latin typeface="Helvetica Neue"/>
              </a:rPr>
              <a:t>All figures and statistics produced from the committed result tables by the committed build scripts; 12 paired seeds per cell; held-out test read once after validation-only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