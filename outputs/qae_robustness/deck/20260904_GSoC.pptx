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Helvetica Neue"/>
              </a:rPr>
              <a:t>Which parts of the previous QAE result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Helvetica Neue"/>
              </a:rPr>
              <a:t>survive one-factor changes?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C8D4EC"/>
                </a:solidFill>
                <a:latin typeface="Helvetica Neue"/>
              </a:rPr>
              <a:t>A quantum autoencoder (QAE) robustness study — a follow-up to last meeting's architecture-search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383280"/>
            <a:ext cx="10607040" cy="1783080"/>
          </a:xfrm>
          <a:prstGeom prst="roundRect">
            <a:avLst/>
          </a:prstGeom>
          <a:solidFill>
            <a:srgbClr val="2A3A5C"/>
          </a:solidFill>
          <a:ln w="15875">
            <a:solidFill>
              <a:srgbClr val="5B8D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47472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F9AB00"/>
                </a:solidFill>
                <a:latin typeface="Helvetica Neue"/>
              </a:rPr>
              <a:t>Baseline finding:  </a:t>
            </a:r>
            <a:r>
              <a:rPr sz="1350" b="0" i="0">
                <a:solidFill>
                  <a:srgbClr val="FFFFFF"/>
                </a:solidFill>
                <a:latin typeface="Helvetica Neue"/>
              </a:rPr>
              <a:t>physics-informed language-model proposals beat random and greedy circuit search by a wide margin, and a closed feedback loop added a small extra gain.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F9AB00"/>
                </a:solidFill>
                <a:latin typeface="Helvetica Neue"/>
              </a:rPr>
              <a:t>Four factors tested, one at a time:  </a:t>
            </a:r>
            <a:r>
              <a:rPr sz="1350" b="0" i="0">
                <a:solidFill>
                  <a:srgbClr val="FFFFFF"/>
                </a:solidFill>
                <a:latin typeface="Helvetica Neue"/>
              </a:rPr>
              <a:t>evaluation budget · qubit count · Hamiltonian · language model.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</a:rPr>
              <a:t>This is a tested one-factor-slice study, not a complete factorial grid.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Tomoya Hatanaka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C8D4EC"/>
                </a:solidFill>
                <a:latin typeface="Helvetica Neue"/>
              </a:rPr>
              <a:t>ML4SCI / Google Summer of Code 2026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9AA8C8"/>
                </a:solidFill>
                <a:latin typeface="Helvetica Neue"/>
              </a:rPr>
              <a:t>September 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1 · PREVIOUS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2A44"/>
                </a:solidFill>
                <a:latin typeface="Helvetica Neue"/>
              </a:rPr>
              <a:t>Where we left off: the previous baseline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Quantum autoencoder (QAE): compress ground states into fewer qubits — 4 qubits · Ising chain · B = 8 · High model tier · 12 paired seeds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246120" cy="841248"/>
          </a:xfrm>
          <a:prstGeom prst="roundRect">
            <a:avLst/>
          </a:prstGeom>
          <a:solidFill>
            <a:srgbClr val="E8F0FE"/>
          </a:solidFill>
          <a:ln w="15875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490472"/>
            <a:ext cx="29900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1A73E8"/>
                </a:solidFill>
                <a:latin typeface="Helvetica Neue"/>
              </a:rPr>
              <a:t>Input  |ψ(h)⟩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202124"/>
                </a:solidFill>
                <a:latin typeface="Helvetica Neue"/>
              </a:rPr>
              <a:t>ground state of the 4-qubit Ising chain
H = −Σ Zᵢ Zᵢ₊₁ − h Σ Xᵢ,  h ∈ [0.2, 2.0]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67327" y="16276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417320"/>
            <a:ext cx="2331720" cy="841248"/>
          </a:xfrm>
          <a:prstGeom prst="roundRect">
            <a:avLst/>
          </a:prstGeom>
          <a:solidFill>
            <a:srgbClr val="FEF3E0"/>
          </a:solidFill>
          <a:ln w="15875">
            <a:solidFill>
              <a:srgbClr val="E8710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97096" y="1490472"/>
            <a:ext cx="20756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E8710A"/>
                </a:solidFill>
                <a:latin typeface="Helvetica Neue"/>
              </a:rPr>
              <a:t>Encoder  Uθ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202124"/>
                </a:solidFill>
                <a:latin typeface="Helvetica Neue"/>
              </a:rPr>
              <a:t>the circuit we search:
16 gates, angles trained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417320"/>
            <a:ext cx="2377440" cy="841248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1880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8856" y="1490472"/>
            <a:ext cx="21214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188038"/>
                </a:solidFill>
                <a:latin typeface="Helvetica Neue"/>
              </a:rPr>
              <a:t>Latent qubits  q0, q1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202124"/>
                </a:solidFill>
                <a:latin typeface="Helvetica Neue"/>
              </a:rPr>
              <a:t>the 2 qubits we KEEP
(the compressed code)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16567" y="16276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1417320"/>
            <a:ext cx="2468880" cy="841248"/>
          </a:xfrm>
          <a:prstGeom prst="roundRect">
            <a:avLst/>
          </a:prstGeom>
          <a:solidFill>
            <a:srgbClr val="FCE8E6"/>
          </a:solidFill>
          <a:ln w="15875">
            <a:solidFill>
              <a:srgbClr val="D930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6336" y="1490472"/>
            <a:ext cx="221284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 i="0">
                <a:solidFill>
                  <a:srgbClr val="D93025"/>
                </a:solidFill>
                <a:latin typeface="Helvetica Neue"/>
              </a:rPr>
              <a:t>Trash qubits  q2, q3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202124"/>
                </a:solidFill>
                <a:latin typeface="Helvetica Neue"/>
              </a:rPr>
              <a:t>should end in the SAME state |00⟩
for every 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377440"/>
            <a:ext cx="11155680" cy="566928"/>
          </a:xfrm>
          <a:prstGeom prst="roundRect">
            <a:avLst/>
          </a:prstGeom>
          <a:solidFill>
            <a:srgbClr val="E8F0FE"/>
          </a:solidFill>
          <a:ln w="15875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32304"/>
            <a:ext cx="10927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A73E8"/>
                </a:solidFill>
                <a:latin typeface="Helvetica Neue"/>
              </a:rPr>
              <a:t>Trash fidelity:  </a:t>
            </a:r>
            <a:r>
              <a:rPr sz="1050" b="0" i="0">
                <a:solidFill>
                  <a:srgbClr val="202124"/>
                </a:solidFill>
                <a:latin typeface="Helvetica Neue"/>
              </a:rPr>
              <a:t>F_trash = ⟨00| ρ_trash |00⟩ = P(q2 q3 = 00), the probability that the trash qubits end in |00⟩.  </a:t>
            </a:r>
            <a:r>
              <a:rPr sz="1050" b="1" i="0">
                <a:solidFill>
                  <a:srgbClr val="188038"/>
                </a:solidFill>
                <a:latin typeface="Helvetica Neue"/>
              </a:rPr>
              <a:t>Higher is better.  </a:t>
            </a:r>
            <a:r>
              <a:rPr sz="1050" b="0" i="0">
                <a:solidFill>
                  <a:srgbClr val="202124"/>
                </a:solidFill>
                <a:latin typeface="Helvetica Neue"/>
              </a:rPr>
              <a:t>Reported on a held-out test set (64 unseen h values never used for training, selection or feedback), read once after selection.</a:t>
            </a:r>
          </a:p>
        </p:txBody>
      </p:sp>
      <p:pic>
        <p:nvPicPr>
          <p:cNvPr id="18" name="Picture 17" descr="baseline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017520"/>
            <a:ext cx="4911772" cy="288036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080760" y="3017520"/>
            <a:ext cx="5577840" cy="1810512"/>
          </a:xfrm>
          <a:prstGeom prst="roundRect">
            <a:avLst/>
          </a:prstGeom>
          <a:solidFill>
            <a:srgbClr val="F1F3F4"/>
          </a:solidFill>
          <a:ln w="15875">
            <a:solidFill>
              <a:srgbClr val="9AA0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072384"/>
            <a:ext cx="5349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202124"/>
                </a:solidFill>
                <a:latin typeface="Helvetica Neue"/>
              </a:rPr>
              <a:t>Four search methods; evaluation budget B = the number of candidate circuits trained and evaluated per seed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9AA0A6"/>
                </a:solidFill>
                <a:latin typeface="Helvetica Neue"/>
              </a:rPr>
              <a:t>Random  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B independent uniformly sampled circuit architectures.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F9AB00"/>
                </a:solidFill>
                <a:latin typeface="Helvetica Neue"/>
              </a:rPr>
              <a:t>Greedy  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B/2 random starts, then B/2 single-structural-change refinements of the best validation candidate.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1A73E8"/>
                </a:solidFill>
                <a:latin typeface="Helvetica Neue"/>
              </a:rPr>
              <a:t>LLM-Open  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open-loop: all semantic (physics-informed) proposals are generated BEFORE any validation result is observed.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D93025"/>
                </a:solidFill>
                <a:latin typeface="Helvetica Neue"/>
              </a:rPr>
              <a:t>LLM-Closed  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closed-loop: semantic initial proposals, then free redesigns of the current best circuit using validation feedback.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4919472"/>
            <a:ext cx="5577840" cy="1005840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965192"/>
            <a:ext cx="53492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E8710A"/>
                </a:solidFill>
                <a:latin typeface="Helvetica Neue"/>
              </a:rPr>
              <a:t>Two claims to stress-test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1A73E8"/>
                </a:solidFill>
                <a:latin typeface="Helvetica Neue"/>
              </a:rPr>
              <a:t>1  Semantic proposals outperform non-semantic search.  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LLM-Open − Random +0.108 (11/12, p &lt; 0.001)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D93025"/>
                </a:solidFill>
                <a:latin typeface="Helvetica Neue"/>
              </a:rPr>
              <a:t>2  Closed-loop redesign gives a smaller additional gain.  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LLM-Closed − LLM-Open +0.007 (11/12, p = 0.012)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016752"/>
            <a:ext cx="73152" cy="329184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99846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Next:  </a:t>
            </a:r>
            <a:r>
              <a:rPr sz="1100" b="0" i="0">
                <a:solidFill>
                  <a:srgbClr val="202124"/>
                </a:solidFill>
                <a:latin typeface="Helvetica Neue"/>
              </a:rPr>
              <a:t>do these two claims survive when exactly one condition changes?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Helvetica Neue"/>
              </a:rPr>
              <a:t>Reading: dots = the 12 paired seeds (12 independent draws of training/validation data, shared by all methods); marker = mean; bar = bootstrap 95% confidence interval (CI); differences are per-seed paired, p = exact paired Wilcoxon test. High tier = gpt-5.4-mini.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2 · CONTROLLED ROBUSTNESS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2A44"/>
                </a:solidFill>
                <a:latin typeface="Helvetica Neue"/>
              </a:rPr>
              <a:t>One factor changes; everything else remains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Four controlled changes leave the baseline; each moves exactly one declared factor and holds the other three at the 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2834640" cy="1371600"/>
          </a:xfrm>
          <a:prstGeom prst="roundRect">
            <a:avLst/>
          </a:prstGeom>
          <a:solidFill>
            <a:srgbClr val="1F2A44"/>
          </a:solidFill>
          <a:ln w="15875">
            <a:solidFill>
              <a:srgbClr val="1F2A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12848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F9AB00"/>
                </a:solidFill>
                <a:latin typeface="Helvetica Neue"/>
              </a:rPr>
              <a:t>BASELINE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4 qubits · Ising · B = 8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</a:rPr>
              <a:t>High model tier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C8D4EC"/>
                </a:solidFill>
                <a:latin typeface="Helvetica Neue"/>
              </a:rPr>
              <a:t>12 paired seeds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337560" y="1719072"/>
            <a:ext cx="640079" cy="1115568"/>
          </a:xfrm>
          <a:prstGeom prst="line">
            <a:avLst/>
          </a:prstGeom>
          <a:ln w="22225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77639" y="1463040"/>
            <a:ext cx="3246120" cy="640080"/>
          </a:xfrm>
          <a:prstGeom prst="roundRect">
            <a:avLst/>
          </a:prstGeom>
          <a:solidFill>
            <a:srgbClr val="E8F0FE"/>
          </a:solidFill>
          <a:ln w="15875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96512" y="1472184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A73E8"/>
                </a:solidFill>
                <a:latin typeface="Helvetica Neue"/>
              </a:rPr>
              <a:t>Evaluation budget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746504"/>
            <a:ext cx="65836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0">
                <a:solidFill>
                  <a:srgbClr val="202124"/>
                </a:solidFill>
                <a:latin typeface="Helvetica Neue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64608" y="1746504"/>
            <a:ext cx="658368" cy="329184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1F2A44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Helvetica Neue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14416" y="1746504"/>
            <a:ext cx="65836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0">
                <a:solidFill>
                  <a:srgbClr val="202124"/>
                </a:solidFill>
                <a:latin typeface="Helvetica Neue"/>
              </a:rPr>
              <a:t>16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337560" y="2432304"/>
            <a:ext cx="640079" cy="402336"/>
          </a:xfrm>
          <a:prstGeom prst="line">
            <a:avLst/>
          </a:prstGeom>
          <a:ln w="22225">
            <a:solidFill>
              <a:srgbClr val="1880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977639" y="2176272"/>
            <a:ext cx="3246120" cy="640080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1880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6512" y="2185416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88038"/>
                </a:solidFill>
                <a:latin typeface="Helvetica Neue"/>
              </a:rPr>
              <a:t>Qubit 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2459736"/>
            <a:ext cx="658368" cy="329184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1F2A44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4608" y="2459736"/>
            <a:ext cx="65836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8038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0">
                <a:solidFill>
                  <a:srgbClr val="202124"/>
                </a:solidFill>
                <a:latin typeface="Helvetica Neue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14416" y="2459736"/>
            <a:ext cx="65836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8038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0">
                <a:solidFill>
                  <a:srgbClr val="202124"/>
                </a:solidFill>
                <a:latin typeface="Helvetica Neue"/>
              </a:rPr>
              <a:t>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37560" y="2834640"/>
            <a:ext cx="640079" cy="310896"/>
          </a:xfrm>
          <a:prstGeom prst="line">
            <a:avLst/>
          </a:prstGeom>
          <a:ln w="22225">
            <a:solidFill>
              <a:srgbClr val="F9A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977639" y="2889504"/>
            <a:ext cx="3246120" cy="640080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96512" y="289864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9AB00"/>
                </a:solidFill>
                <a:latin typeface="Helvetica Neue"/>
              </a:rPr>
              <a:t>Hamiltonian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3172968"/>
            <a:ext cx="658368" cy="329184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1F2A44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Helvetica Neue"/>
              </a:rPr>
              <a:t>Ising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64608" y="3172968"/>
            <a:ext cx="65836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AB00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0">
                <a:solidFill>
                  <a:srgbClr val="202124"/>
                </a:solidFill>
                <a:latin typeface="Helvetica Neue"/>
              </a:rPr>
              <a:t>XXZ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37560" y="2834640"/>
            <a:ext cx="640079" cy="1024128"/>
          </a:xfrm>
          <a:prstGeom prst="line">
            <a:avLst/>
          </a:prstGeom>
          <a:ln w="22225">
            <a:solidFill>
              <a:srgbClr val="D9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977639" y="3602736"/>
            <a:ext cx="3246120" cy="640080"/>
          </a:xfrm>
          <a:prstGeom prst="roundRect">
            <a:avLst/>
          </a:prstGeom>
          <a:solidFill>
            <a:srgbClr val="FCE8E6"/>
          </a:solidFill>
          <a:ln w="15875">
            <a:solidFill>
              <a:srgbClr val="D930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96512" y="361188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93025"/>
                </a:solidFill>
                <a:latin typeface="Helvetica Neue"/>
              </a:rPr>
              <a:t>Language-model tier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3886200"/>
            <a:ext cx="65836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3025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0">
                <a:solidFill>
                  <a:srgbClr val="202124"/>
                </a:solidFill>
                <a:latin typeface="Helvetica Neue"/>
              </a:rPr>
              <a:t>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64608" y="3886200"/>
            <a:ext cx="658368" cy="329184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1F2A44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Helvetica Neue"/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437083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F2A44"/>
                </a:solidFill>
                <a:latin typeface="Helvetica Neue"/>
              </a:rPr>
              <a:t>dark chip</a:t>
            </a:r>
            <a:r>
              <a:rPr sz="900" b="0" i="0">
                <a:solidFill>
                  <a:srgbClr val="5F6368"/>
                </a:solidFill>
                <a:latin typeface="Helvetica Neue"/>
              </a:rPr>
              <a:t> = the baseline level. Low = gpt-4.1-mini, High = gpt-5.4-mini (defined on the next slide).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1463040"/>
            <a:ext cx="4160520" cy="3337560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1880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6095" y="1536192"/>
            <a:ext cx="3904488" cy="319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88038"/>
                </a:solidFill>
                <a:latin typeface="Helvetica Neue"/>
              </a:rPr>
              <a:t>FROZEN in every condition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prompt wording and output schema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method logic of all four search methods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circuit resource rule: 3 rotations + 1 CNOT (controlled-NOT) per qubit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trainer and optimizer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data splits (train / validation / held-out test)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the same 12 paired seeds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validation-only selection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held-out test evaluation, read once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statistical analysis (paired, bootstrap CI, exact Wilcoxon)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37760"/>
            <a:ext cx="11155680" cy="868680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992624"/>
            <a:ext cx="10927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E8710A"/>
                </a:solidFill>
                <a:latin typeface="Helvetica Neue"/>
              </a:rPr>
              <a:t>No interaction condition was tested. 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Each change returns to the baseline before the next factor moves, so nothing is known about, for example, a large budget at 8 qubits, or the Low tier on the XXZ chain. XXZ = the second Hamiltonian family, an XXZ Heisenberg chain H = Σ (Xᵢ Xᵢ₊₁ + Yᵢ Yᵢ₊₁ + Δ Zᵢ Zᵢ₊₁), Δ ∈ [0.2, 2.0], declared before the run; only its stated physics facts enter the prompt.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989320"/>
            <a:ext cx="73152" cy="329184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9710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Next:  </a:t>
            </a:r>
            <a:r>
              <a:rPr sz="1100" b="0" i="0">
                <a:solidFill>
                  <a:srgbClr val="202124"/>
                </a:solidFill>
                <a:latin typeface="Helvetica Neue"/>
              </a:rPr>
              <a:t>because only one factor moves at a time, the results should be read as four tested slices, not as a full grid.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Helvetica Neue"/>
              </a:rPr>
              <a:t>An automated check refuses to run a condition whose frozen components differ from the baseline's or that moves more than one factor; the baseline cell is reused, not re-run.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3 · WHAT WAS ACTUALLY TESTED, AND HOW TO READ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2A44"/>
                </a:solidFill>
                <a:latin typeface="Helvetica Neue"/>
              </a:rPr>
              <a:t>Four tested slices, one baseline, no empty panels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Every result slide shows one of these four rows; untested combinations are omitted rather than displayed as empty panels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6766560" cy="512064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554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A73E8"/>
                </a:solidFill>
                <a:latin typeface="Helvetica Neue"/>
              </a:rPr>
              <a:t>Budget slice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554480"/>
            <a:ext cx="8686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0">
                <a:solidFill>
                  <a:srgbClr val="202124"/>
                </a:solidFill>
                <a:latin typeface="Helvetica Neue"/>
              </a:rPr>
              <a:t>B =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554480"/>
            <a:ext cx="18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8688" y="1554480"/>
            <a:ext cx="868680" cy="329184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1F2A44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Helvetica Neue"/>
              </a:rPr>
              <a:t>B =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1554480"/>
            <a:ext cx="18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2816" y="1554480"/>
            <a:ext cx="8686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0">
                <a:solidFill>
                  <a:srgbClr val="202124"/>
                </a:solidFill>
                <a:latin typeface="Helvetica Neue"/>
              </a:rPr>
              <a:t>B =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572768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F6368"/>
                </a:solidFill>
                <a:latin typeface="Helvetica Neue"/>
              </a:rPr>
              <a:t>4 qubits · Ising · High fixed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066544"/>
            <a:ext cx="6766560" cy="512064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880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15798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88038"/>
                </a:solidFill>
                <a:latin typeface="Helvetica Neue"/>
              </a:rPr>
              <a:t>Qubit slice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2157984"/>
            <a:ext cx="868680" cy="329184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1F2A44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Helvetica Neue"/>
              </a:rPr>
              <a:t>4 qubits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157984"/>
            <a:ext cx="18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18688" y="2157984"/>
            <a:ext cx="8686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8038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0">
                <a:solidFill>
                  <a:srgbClr val="202124"/>
                </a:solidFill>
                <a:latin typeface="Helvetica Neue"/>
              </a:rPr>
              <a:t>6 qubits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2157984"/>
            <a:ext cx="18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2816" y="2157984"/>
            <a:ext cx="8686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8038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0">
                <a:solidFill>
                  <a:srgbClr val="202124"/>
                </a:solidFill>
                <a:latin typeface="Helvetica Neue"/>
              </a:rPr>
              <a:t>8 qubits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17627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F6368"/>
                </a:solidFill>
                <a:latin typeface="Helvetica Neue"/>
              </a:rPr>
              <a:t>B = 8 · Ising · High fixed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670048"/>
            <a:ext cx="6766560" cy="512064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7614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9AB00"/>
                </a:solidFill>
                <a:latin typeface="Helvetica Neue"/>
              </a:rPr>
              <a:t>Hamiltonian slice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2761488"/>
            <a:ext cx="868680" cy="329184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1F2A44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Helvetica Neue"/>
              </a:rPr>
              <a:t>Ising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761488"/>
            <a:ext cx="18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18688" y="2761488"/>
            <a:ext cx="8686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AB00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0">
                <a:solidFill>
                  <a:srgbClr val="202124"/>
                </a:solidFill>
                <a:latin typeface="Helvetica Neue"/>
              </a:rPr>
              <a:t>XXZ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779776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F6368"/>
                </a:solidFill>
                <a:latin typeface="Helvetica Neue"/>
              </a:rPr>
              <a:t>4 qubits · B = 8 · High fixed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273552"/>
            <a:ext cx="6766560" cy="512064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D930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36499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93025"/>
                </a:solidFill>
                <a:latin typeface="Helvetica Neue"/>
              </a:rPr>
              <a:t>Model slice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0" y="3364992"/>
            <a:ext cx="8686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3025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0">
                <a:solidFill>
                  <a:srgbClr val="202124"/>
                </a:solidFill>
                <a:latin typeface="Helvetica Neue"/>
              </a:rPr>
              <a:t>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3364992"/>
            <a:ext cx="18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18688" y="3364992"/>
            <a:ext cx="868680" cy="329184"/>
          </a:xfrm>
          <a:prstGeom prst="roundRect">
            <a:avLst/>
          </a:prstGeom>
          <a:solidFill>
            <a:srgbClr val="1F2A44"/>
          </a:solidFill>
          <a:ln w="12700">
            <a:solidFill>
              <a:srgbClr val="1F2A44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Helvetica Neue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3383280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F6368"/>
                </a:solidFill>
                <a:latin typeface="Helvetica Neue"/>
              </a:rPr>
              <a:t>4 qubits · Ising · B = 8 fixed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93192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F2A44"/>
                </a:solidFill>
                <a:latin typeface="Helvetica Neue"/>
              </a:rPr>
              <a:t>dark chip</a:t>
            </a:r>
            <a:r>
              <a:rPr sz="950" b="0" i="0">
                <a:solidFill>
                  <a:srgbClr val="5F6368"/>
                </a:solidFill>
                <a:latin typeface="Helvetica Neue"/>
              </a:rPr>
              <a:t> = the baseline level, present in every slice. Each slice's other conditions were run once, at the fixed settings shown.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1463040"/>
            <a:ext cx="4160520" cy="1097280"/>
          </a:xfrm>
          <a:prstGeom prst="roundRect">
            <a:avLst/>
          </a:prstGeom>
          <a:solidFill>
            <a:srgbClr val="FCE8E6"/>
          </a:solidFill>
          <a:ln w="15875">
            <a:solidFill>
              <a:srgbClr val="D930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1536192"/>
            <a:ext cx="3904488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D93025"/>
                </a:solidFill>
                <a:latin typeface="Helvetica Neue"/>
              </a:rPr>
              <a:t>Model tiers (fixed labels, defined here once)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1" i="0">
                <a:solidFill>
                  <a:srgbClr val="D93025"/>
                </a:solidFill>
                <a:latin typeface="Helvetica Neue"/>
              </a:rPr>
              <a:t>Low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 = gpt-4.1-mini      </a:t>
            </a:r>
            <a:r>
              <a:rPr sz="1000" b="1" i="0">
                <a:solidFill>
                  <a:srgbClr val="D93025"/>
                </a:solidFill>
                <a:latin typeface="Helvetica Neue"/>
              </a:rPr>
              <a:t>High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 = gpt-5.4-mini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5F6368"/>
                </a:solidFill>
                <a:latin typeface="Helvetica Neue"/>
              </a:rPr>
              <a:t>The label names the predeclared capability tier, not the score observed in a condition. Open and Closed name the search workflow; Low and High name the model.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79" y="2697480"/>
            <a:ext cx="4160520" cy="2103120"/>
          </a:xfrm>
          <a:prstGeom prst="roundRect">
            <a:avLst/>
          </a:prstGeom>
          <a:solidFill>
            <a:srgbClr val="F1F3F4"/>
          </a:solidFill>
          <a:ln w="15875">
            <a:solidFill>
              <a:srgbClr val="9AA0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26095" y="2770632"/>
            <a:ext cx="3904488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F2A44"/>
                </a:solidFill>
                <a:latin typeface="Helvetica Neue"/>
              </a:rPr>
              <a:t>How to read every result figure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02124"/>
                </a:solidFill>
                <a:latin typeface="Helvetica Neue"/>
              </a:rPr>
              <a:t>•  small dots = the 12 paired seeds; large marker = mean; vertical interval = bootstrap 95% CI; higher trash fidelity is better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02124"/>
                </a:solidFill>
                <a:latin typeface="Helvetica Neue"/>
              </a:rPr>
              <a:t>•  x-axis groups always in the order Random → Greedy → Low → High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02124"/>
                </a:solidFill>
                <a:latin typeface="Helvetica Neue"/>
              </a:rPr>
              <a:t>•  within a tier: LLM-Open = blue triangle, LLM-Closed = red diamond, side by side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02124"/>
                </a:solidFill>
                <a:latin typeface="Helvetica Neue"/>
              </a:rPr>
              <a:t>•  tier = marker fill: High filled, Low hollow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02124"/>
                </a:solidFill>
                <a:latin typeface="Helvetica Neue"/>
              </a:rPr>
              <a:t>•  thick frame or shaded band = the previous baseline condition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202124"/>
                </a:solidFill>
                <a:latin typeface="Helvetica Neue"/>
              </a:rPr>
              <a:t>•  the small lower panel shows the two key paired differences with 95% CI; filled = p &lt; 0.05, hollow = not detected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343400"/>
            <a:ext cx="6766560" cy="1417320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398264"/>
            <a:ext cx="6537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E8710A"/>
                </a:solidFill>
                <a:latin typeface="Helvetica Neue"/>
              </a:rPr>
              <a:t>Where the Low tier was not run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(budget, qubit and Hamiltonian slices), the figures show Random, Greedy and the High Open / Closed results only, and say so; no Low value is invented. The complete Random → Greedy → Low → High grouping appears on the model slide.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202124"/>
                </a:solidFill>
                <a:latin typeface="Helvetica Neue"/>
              </a:rPr>
              <a:t>Untested combinations are omitted rather than displayed as empty panels.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989320"/>
            <a:ext cx="73152" cy="329184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9710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Next:  </a:t>
            </a:r>
            <a:r>
              <a:rPr sz="1100" b="0" i="0">
                <a:solidFill>
                  <a:srgbClr val="202124"/>
                </a:solidFill>
                <a:latin typeface="Helvetica Neue"/>
              </a:rPr>
              <a:t>the first slice changes the amount of search: the evaluation budget B.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Helvetica Neue"/>
              </a:rPr>
              <a:t>Random and Greedy do not depend on the language model, so each is one result per condition; Low and High each hold an Open and a Closed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4 · BUDGET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2A44"/>
                </a:solidFill>
                <a:latin typeface="Helvetica Neue"/>
              </a:rPr>
              <a:t>Budget changes the value of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B = 4 → 8 → 16 with 4 qubits, Ising chain and the High model tier fixed; B = 8 (thick frame) is the previous baseline</a:t>
            </a:r>
          </a:p>
        </p:txBody>
      </p:sp>
      <p:pic>
        <p:nvPicPr>
          <p:cNvPr id="5" name="Picture 4" descr="slice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89888"/>
            <a:ext cx="6474094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5614" y="1389888"/>
            <a:ext cx="4483161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1A73E8"/>
                </a:solidFill>
                <a:latin typeface="Helvetica Neue"/>
              </a:rPr>
              <a:t>Semantic proposals stay above non-semantic search at every budget: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LLM-Open − Random +0.068 (8/12, p = 0.064) at B = 4, +0.108 (11/12, p &lt; 0.001) at B = 8, +0.079 (11/12, p &lt; 0.001) at B = 16 — positive throughout, not detected at B = 4 where the budget is too small to separate the arms reliably.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D93025"/>
                </a:solidFill>
                <a:latin typeface="Helvetica Neue"/>
              </a:rPr>
              <a:t>The Closed − Open advantage shrinks as the budget grows: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+0.081 at B = 4 → +0.007 at B = 8 → -0.002 at B = 16 (not detected). Free redesign is worth most when the open batch is thinnest; a wide open batch buys the same breadth without feedback.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E8710A"/>
                </a:solidFill>
                <a:latin typeface="Helvetica Neue"/>
              </a:rPr>
              <a:t>Greedy is not a substitute: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Greedy − Random is -0.048 (2/12, p = 0.016) at B = 4 — spending half a small budget on single-gate steps costs breadth.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989320"/>
            <a:ext cx="73152" cy="329184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9710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Next:  </a:t>
            </a:r>
            <a:r>
              <a:rPr sz="1100" b="0" i="0">
                <a:solidFill>
                  <a:srgbClr val="202124"/>
                </a:solidFill>
                <a:latin typeface="Helvetica Neue"/>
              </a:rPr>
              <a:t>budget changes the amount of search; next we ask whether register width changes the conclusion.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Helvetica Neue"/>
              </a:rPr>
              <a:t>Same trainer, prompts, seeds and selection rule at every budget; adaptive methods always split B as B/2 exploration + B/2 refinement (2+2, 4+4, 8+8).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5 · QUBIT-COUNT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2A44"/>
                </a:solidFill>
                <a:latin typeface="Helvetica Neue"/>
              </a:rPr>
              <a:t>The semantic advantage grows as the register widens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4 → 6 → 8 qubits with B = 8, Ising chain and the High model tier fixed; 4 qubits (thick frame) is the previous baseline</a:t>
            </a:r>
          </a:p>
        </p:txBody>
      </p:sp>
      <p:pic>
        <p:nvPicPr>
          <p:cNvPr id="5" name="Picture 4" descr="slice_qub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89888"/>
            <a:ext cx="6456709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88229" y="1389888"/>
            <a:ext cx="450054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1F2A44"/>
                </a:solidFill>
                <a:latin typeface="Helvetica Neue"/>
              </a:rPr>
              <a:t>Finding 1 — absolute fidelity falls as the task widens: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Random 0.852 → 0.592; LLM-Open 0.960 → 0.876. Width and circuit size grow together (3 rotations + 1 CNOT per qubit).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1A73E8"/>
                </a:solidFill>
                <a:latin typeface="Helvetica Neue"/>
              </a:rPr>
              <a:t>Finding 2 — Open stays strong relative to Random; Closed falls below Open: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LLM-Open − Random +0.108 → +0.197 → +0.284, significant at all three widths; LLM-Closed − LLM-Open +0.007 → -0.049 → -0.075, reversed at 6 and 8 qubits.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5F6368"/>
                </a:solidFill>
                <a:latin typeface="Helvetica Neue"/>
              </a:rPr>
              <a:t>Caveat — proposal validity: </a:t>
            </a:r>
            <a:r>
              <a:rPr sz="1000" b="0" i="0">
                <a:solidFill>
                  <a:srgbClr val="5F6368"/>
                </a:solidFill>
                <a:latin typeface="Helvetica Neue"/>
              </a:rPr>
              <a:t>the share of closed-loop proposals meeting the gate-count contract (the required 3 rotations + 1 CNOT per qubit) fell from 92% to 70% and 77%; an invalid proposal is spent as a random draw, so part of the reversal is a generation-validity effect.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C5221F"/>
                </a:solidFill>
                <a:latin typeface="Helvetica Neue"/>
              </a:rPr>
              <a:t>Tested only for the Ising chain and the High tier.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989320"/>
            <a:ext cx="73152" cy="329184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9710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Next:  </a:t>
            </a:r>
            <a:r>
              <a:rPr sz="1100" b="0" i="0">
                <a:solidFill>
                  <a:srgbClr val="202124"/>
                </a:solidFill>
                <a:latin typeface="Helvetica Neue"/>
              </a:rPr>
              <a:t>width changes task difficulty; next we change the physical state family while returning to the baseline width.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Helvetica Neue"/>
              </a:rPr>
              <a:t>Same B = 8, prompts (with the qubit count substituted), trainer and seeds at every width; latent and trash registers are always half and half.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6 · HAMILTONIAN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2A44"/>
                </a:solidFill>
                <a:latin typeface="Helvetica Neue"/>
              </a:rPr>
              <a:t>The broad ordering survives at the tested XXZ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Ising → XXZ with 4 qubits, B = 8 and the High model tier fixed; the Ising chain (thick frame) is the previous baseline</a:t>
            </a:r>
          </a:p>
        </p:txBody>
      </p:sp>
      <p:pic>
        <p:nvPicPr>
          <p:cNvPr id="5" name="Picture 4" descr="slice_hamilton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89888"/>
            <a:ext cx="4405305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36825" y="1389888"/>
            <a:ext cx="655195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1A73E8"/>
                </a:solidFill>
                <a:latin typeface="Helvetica Neue"/>
              </a:rPr>
              <a:t>The same broad semantic advantage: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both semantic methods have higher means than Random on the XXZ chain (LLM-Open 0.922, LLM-Closed 0.956 vs Random 0.809). Per seed, LLM-Closed − Random is +0.147 (11/12, p &lt; 0.001); LLM-Open − Random is +0.112 (5/12, p = 0.791) — Random's seeds are spread widely here, so the mean gain is not detected as a per-seed effect.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D93025"/>
                </a:solidFill>
                <a:latin typeface="Helvetica Neue"/>
              </a:rPr>
              <a:t>Closed exceeds Open at this anchor: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LLM-Closed − LLM-Open +0.035 (12/12, p &lt; 0.001), larger than at the Ising baseline.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C5221F"/>
                </a:solidFill>
                <a:latin typeface="Helvetica Neue"/>
              </a:rPr>
              <a:t>One XXZ point is not the XXZ landscape: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it says nothing about how the XXZ result moves with budget, width or model tier — none of those were run for XXZ.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989320"/>
            <a:ext cx="73152" cy="329184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9710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Next:  </a:t>
            </a:r>
            <a:r>
              <a:rPr sz="1100" b="0" i="0">
                <a:solidFill>
                  <a:srgbClr val="202124"/>
                </a:solidFill>
                <a:latin typeface="Helvetica Neue"/>
              </a:rPr>
              <a:t>the physics anchor gives one second-family result; the final controlled change is the model itself.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Helvetica Neue"/>
              </a:rPr>
              <a:t>Only the stated Hamiltonian facts change in the prompt (name, formula, parameter range, interaction type); the circuit space, trainer and seeds are identical.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7 · MODEL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2A44"/>
                </a:solidFill>
                <a:latin typeface="Helvetica Neue"/>
              </a:rPr>
              <a:t>The model tier changes reliability more than the main Open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Low → High with 4 qubits, Ising chain and B = 8 fixed; High (shaded band) is the previous baseline; groups Random → Greedy → Low → High</a:t>
            </a:r>
          </a:p>
        </p:txBody>
      </p:sp>
      <p:pic>
        <p:nvPicPr>
          <p:cNvPr id="5" name="Picture 4" descr="slice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89888"/>
            <a:ext cx="6507493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39013" y="1389888"/>
            <a:ext cx="444976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1A73E8"/>
                </a:solidFill>
                <a:latin typeface="Helvetica Neue"/>
              </a:rPr>
              <a:t>The Open semantic advantage is similar for both tiers: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LLM-Open − Random +0.098 (11/12, p &lt; 0.001) for Low and +0.108 (11/12, p &lt; 0.001) for High.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D93025"/>
                </a:solidFill>
                <a:latin typeface="Helvetica Neue"/>
              </a:rPr>
              <a:t>The Closed − Open relationship differs between tiers: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-0.034 (4/12, p = 0.052) for Low versus +0.007 (11/12, p = 0.012) for High — the small closed-loop gain seen at the baseline is not present for the Low tier.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E8710A"/>
                </a:solidFill>
                <a:latin typeface="Helvetica Neue"/>
              </a:rPr>
              <a:t>Resource-contract validity is a separate failure mode: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only 38% of the Low tier's open-batch proposals met the gate-count contract (93% for its closed loop; 100% / 92% for High). Invalid proposals are replaced by random draws, so a validity gap and an architecture-quality gap are entangled in the plotted score.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C5221F"/>
                </a:solidFill>
                <a:latin typeface="Helvetica Neue"/>
              </a:rPr>
              <a:t>Low and High are fixed tier labels; the plotted score is not what defines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989320"/>
            <a:ext cx="73152" cy="329184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9710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Next:  </a:t>
            </a:r>
            <a:r>
              <a:rPr sz="1100" b="0" i="0">
                <a:solidFill>
                  <a:srgbClr val="202124"/>
                </a:solidFill>
                <a:latin typeface="Helvetica Neue"/>
              </a:rPr>
              <a:t>the four slices can now be combined to separate robust effects from fragile 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Helvetica Neue"/>
              </a:rPr>
              <a:t>Identical prompt bytes, temperature, retry policy and token limit for both tiers; only the model name changes. Random and Greedy are the same runs in both groups.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8 · CROSS-SLICE SYNTHESIS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2A44"/>
                </a:solidFill>
                <a:latin typeface="Helvetica Neue"/>
              </a:rPr>
              <a:t>What survived across the tested slices?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One row per tested slice; wording is evidence-calibrated — robust, condition-dependent, not detected, reversed, not tested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55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063240"/>
                <a:gridCol w="3657600"/>
                <a:gridCol w="246888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124"/>
                          </a:solidFill>
                          <a:latin typeface="Helvetica Neue"/>
                        </a:rPr>
                        <a:t>Slice</a:t>
                      </a:r>
                    </a:p>
                  </a:txBody>
                  <a:tcPr marL="64008" marR="64008" marT="12700" marB="12700"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124"/>
                          </a:solidFill>
                          <a:latin typeface="Helvetica Neue"/>
                        </a:rPr>
                        <a:t>Open versus Random</a:t>
                      </a:r>
                    </a:p>
                  </a:txBody>
                  <a:tcPr marL="64008" marR="64008" marT="12700" marB="12700"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124"/>
                          </a:solidFill>
                          <a:latin typeface="Helvetica Neue"/>
                        </a:rPr>
                        <a:t>Closed versus Open</a:t>
                      </a:r>
                    </a:p>
                  </a:txBody>
                  <a:tcPr marL="64008" marR="64008" marT="12700" marB="12700"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124"/>
                          </a:solidFill>
                          <a:latin typeface="Helvetica Neue"/>
                        </a:rPr>
                        <a:t>Proposal validity</a:t>
                      </a:r>
                    </a:p>
                  </a:txBody>
                  <a:tcPr marL="64008" marR="64008" marT="12700" marB="12700">
                    <a:solidFill>
                      <a:srgbClr val="E8EAE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02124"/>
                          </a:solidFill>
                          <a:latin typeface="Helvetica Neue"/>
                        </a:rPr>
                        <a:t>Budget (B = 4, 8, 16)</a:t>
                      </a:r>
                    </a:p>
                  </a:txBody>
                  <a:tcPr marL="64008" marR="64008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710A"/>
                          </a:solidFill>
                          <a:latin typeface="Helvetica Neue"/>
                        </a:rPr>
                        <a:t>condition-dependent: not detected (B = 4) · robust (B = 8) · robust (B = 16)</a:t>
                      </a:r>
                    </a:p>
                  </a:txBody>
                  <a:tcPr marL="64008" marR="64008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710A"/>
                          </a:solidFill>
                          <a:latin typeface="Helvetica Neue"/>
                        </a:rPr>
                        <a:t>condition-dependent: robust (B = 4) · robust (B = 8) · not detected (B = 16)</a:t>
                      </a:r>
                    </a:p>
                  </a:txBody>
                  <a:tcPr marL="64008" marR="64008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710A"/>
                          </a:solidFill>
                          <a:latin typeface="Helvetica Neue"/>
                        </a:rPr>
                        <a:t>stable (≥ 92%)</a:t>
                      </a:r>
                    </a:p>
                  </a:txBody>
                  <a:tcPr marL="64008" marR="64008" marT="12700" marB="127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02124"/>
                          </a:solidFill>
                          <a:latin typeface="Helvetica Neue"/>
                        </a:rPr>
                        <a:t>Qubit count (4, 6, 8)</a:t>
                      </a:r>
                    </a:p>
                  </a:txBody>
                  <a:tcPr marL="64008" marR="64008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8038"/>
                          </a:solidFill>
                          <a:latin typeface="Helvetica Neue"/>
                        </a:rPr>
                        <a:t>robust</a:t>
                      </a:r>
                    </a:p>
                  </a:txBody>
                  <a:tcPr marL="64008" marR="64008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D93025"/>
                          </a:solidFill>
                          <a:latin typeface="Helvetica Neue"/>
                        </a:rPr>
                        <a:t>condition-dependent: robust (4) · reversed (6) · reversed (8)</a:t>
                      </a:r>
                    </a:p>
                  </a:txBody>
                  <a:tcPr marL="64008" marR="64008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710A"/>
                          </a:solidFill>
                          <a:latin typeface="Helvetica Neue"/>
                        </a:rPr>
                        <a:t>degraded: Closed at 6 qubits 70%</a:t>
                      </a:r>
                    </a:p>
                  </a:txBody>
                  <a:tcPr marL="64008" marR="64008" marT="12700" marB="12700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02124"/>
                          </a:solidFill>
                          <a:latin typeface="Helvetica Neue"/>
                        </a:rPr>
                        <a:t>Hamiltonian (Ising, XXZ)</a:t>
                      </a:r>
                    </a:p>
                  </a:txBody>
                  <a:tcPr marL="64008" marR="64008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710A"/>
                          </a:solidFill>
                          <a:latin typeface="Helvetica Neue"/>
                        </a:rPr>
                        <a:t>condition-dependent: robust (Ising) · not detected (XXZ)</a:t>
                      </a:r>
                    </a:p>
                  </a:txBody>
                  <a:tcPr marL="64008" marR="64008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8038"/>
                          </a:solidFill>
                          <a:latin typeface="Helvetica Neue"/>
                        </a:rPr>
                        <a:t>robust</a:t>
                      </a:r>
                    </a:p>
                  </a:txBody>
                  <a:tcPr marL="64008" marR="64008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710A"/>
                          </a:solidFill>
                          <a:latin typeface="Helvetica Neue"/>
                        </a:rPr>
                        <a:t>stable (≥ 92%)</a:t>
                      </a:r>
                    </a:p>
                  </a:txBody>
                  <a:tcPr marL="64008" marR="64008" marT="12700" marB="127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02124"/>
                          </a:solidFill>
                          <a:latin typeface="Helvetica Neue"/>
                        </a:rPr>
                        <a:t>Model tier (Low, High)</a:t>
                      </a:r>
                    </a:p>
                  </a:txBody>
                  <a:tcPr marL="64008" marR="64008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88038"/>
                          </a:solidFill>
                          <a:latin typeface="Helvetica Neue"/>
                        </a:rPr>
                        <a:t>robust</a:t>
                      </a:r>
                    </a:p>
                  </a:txBody>
                  <a:tcPr marL="64008" marR="64008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710A"/>
                          </a:solidFill>
                          <a:latin typeface="Helvetica Neue"/>
                        </a:rPr>
                        <a:t>condition-dependent: not detected (Low) · robust (High)</a:t>
                      </a:r>
                    </a:p>
                  </a:txBody>
                  <a:tcPr marL="64008" marR="64008" marT="12700" marB="127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710A"/>
                          </a:solidFill>
                          <a:latin typeface="Helvetica Neue"/>
                        </a:rPr>
                        <a:t>degraded: Low Open 38%</a:t>
                      </a:r>
                    </a:p>
                  </a:txBody>
                  <a:tcPr marL="64008" marR="64008" marT="12700" marB="1270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61188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F6368"/>
                </a:solidFill>
                <a:latin typeface="Helvetica Neue"/>
              </a:rPr>
              <a:t>Not tested: width and Hamiltonian changes for the Low tier; any change away from the baseline for XXZ; every two-factor combination.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77639"/>
            <a:ext cx="5989320" cy="1874519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1880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4050791"/>
            <a:ext cx="5733288" cy="172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88038"/>
                </a:solidFill>
                <a:latin typeface="Helvetica Neue"/>
              </a:rPr>
              <a:t>Across the tested one-factor slices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the semantic Open advantage is the most robust finding — same sign in every slice, significant in most conditions;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the additional closed-loop advantage is budget-, width-, Hamiltonian- and model-dependent — it is not a general result;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proposal validity can confound observed method differences: an invalid proposal is spent as a random draw.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977639"/>
            <a:ext cx="4983480" cy="1874519"/>
          </a:xfrm>
          <a:prstGeom prst="roundRect">
            <a:avLst/>
          </a:prstGeom>
          <a:solidFill>
            <a:srgbClr val="F1F3F4"/>
          </a:solidFill>
          <a:ln w="15875">
            <a:solidFill>
              <a:srgbClr val="9AA0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03136" y="4050791"/>
            <a:ext cx="4727448" cy="172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F2A44"/>
                </a:solidFill>
                <a:latin typeface="Helvetica Neue"/>
              </a:rPr>
              <a:t>Key limitations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no interactions; only one non-Ising anchor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Low tested only at the baseline physical condition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12 paired seeds: a "not detected" cell is not evidence of no effect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noiseless state-vector simulation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qubit count and circuit size scale together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989320"/>
            <a:ext cx="73152" cy="329184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9710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Next:  </a:t>
            </a:r>
            <a:r>
              <a:rPr sz="1100" b="0" i="0">
                <a:solidFill>
                  <a:srgbClr val="202124"/>
                </a:solidFill>
                <a:latin typeface="Helvetica Neue"/>
              </a:rPr>
              <a:t>ranking methods at a fixed budget answers the wrong question for practice — how much budget is actually required?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Helvetica Neue"/>
              </a:rPr>
              <a:t>"robust" = same sign as the baseline and p &lt; 0.05; "reversed" = p &lt; 0.05 with the opposite sign; "not detected" = p ≥ 0.05; "condition-dependent" = the verdict differs across the slice's levels.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9 · CONCLUSION AND NEXT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2A44"/>
                </a:solidFill>
                <a:latin typeface="Helvetica Neue"/>
              </a:rPr>
              <a:t>Next: how much budget is actually required?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Three statements from the tested slices, then a targeted boundary-finding experiment rather than a factorial sweep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4206240" cy="960120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1880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490472"/>
            <a:ext cx="3950208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88038"/>
                </a:solidFill>
                <a:latin typeface="Helvetica Neue"/>
              </a:rPr>
              <a:t>Robust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Physics-informed Open proposals remain better than non-semantic search across the tested one-factor slices.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68880"/>
            <a:ext cx="4206240" cy="960120"/>
          </a:xfrm>
          <a:prstGeom prst="roundRect">
            <a:avLst/>
          </a:prstGeom>
          <a:solidFill>
            <a:srgbClr val="FCE8E6"/>
          </a:solidFill>
          <a:ln w="15875">
            <a:solidFill>
              <a:srgbClr val="D930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2542032"/>
            <a:ext cx="3950208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D93025"/>
                </a:solidFill>
                <a:latin typeface="Helvetica Neue"/>
              </a:rPr>
              <a:t>Fragile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The closed-loop advantage is not a general result: it changes with budget, width, Hamiltonian and model tier.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520439"/>
            <a:ext cx="4206240" cy="960120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3593591"/>
            <a:ext cx="3950208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F9AB00"/>
                </a:solidFill>
                <a:latin typeface="Helvetica Neue"/>
              </a:rPr>
              <a:t>Operational bottleneck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Valid circuit generation must be separated from architecture quality — an invalid proposal is spent as a random draw.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417320"/>
            <a:ext cx="6720840" cy="4846320"/>
          </a:xfrm>
          <a:prstGeom prst="roundRect">
            <a:avLst/>
          </a:prstGeom>
          <a:solidFill>
            <a:srgbClr val="E8F0FE"/>
          </a:solidFill>
          <a:ln w="22225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2352" y="1481328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A73E8"/>
                </a:solidFill>
                <a:latin typeface="Helvetica Neue"/>
              </a:rPr>
              <a:t>Next experiment — the minimum budget for a target fidelity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202124"/>
                </a:solidFill>
                <a:latin typeface="Helvetica Neue"/>
              </a:rPr>
              <a:t>Define before running: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a target validation fidelity F_target (candidate targets 0.95 and 0.99). B_min = the smallest budget that reaches F_target in at least 10 of the 12 paired seeds. B_min is determined on validation data; the held-out test is read only after B_min is selected.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F2A44"/>
                </a:solidFill>
                <a:latin typeface="Helvetica Neue"/>
              </a:rPr>
              <a:t>API-minimising procedure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1  Reanalyse the existing logs first — no new calls.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2  Build best-so-far validation-fidelity curves versus candidate-evaluation count from those logs.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3  Estimate whether each target is already reached by B = 4, 8 or 16.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4  Identify only the conditions whose B_min remains unresolved.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5  Run new LLM calls only at the nearest bracketing budget for those unresolved conditions.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6  Preserve the same 12 paired seeds for any new confirmatory run.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7  Report an interval for B_min when the exact minimum cannot be identified without excessive API cost.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5221F"/>
                </a:solidFill>
                <a:latin typeface="Helvetica Neue"/>
              </a:rPr>
              <a:t>Not proposed: a blind full sweep over every Hamiltonian, qubit count, model, method and budget. The practical next step is targeted boundary-finding, not factorial completion.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63440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F2A44"/>
                </a:solidFill>
                <a:latin typeface="Helvetica Neue"/>
              </a:rPr>
              <a:t>Why this matters: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every comparison so far ranks methods at a fixed B. The question that decides whether any of this is worth using is the reverse — the budget each method needs to reach the accuracy the application requires.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Helvetica Neue"/>
              </a:rPr>
              <a:t>All figures and statistics come from the committed result tables via the committed build scripts; no new experiment or model call was made for this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